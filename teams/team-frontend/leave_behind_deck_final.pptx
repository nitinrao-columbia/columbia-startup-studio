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5143500" cy="9144000"/>
  <p:embeddedFontLst>
    <p:embeddedFont>
      <p:font typeface="Bebas Neue"/>
      <p:regular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hctf5b0I6M1lhMECHeL2gbNhlk3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40803FA-CDDE-4E89-86AD-2F45D8319E87}">
  <a:tblStyle styleId="{540803FA-CDDE-4E89-86AD-2F45D8319E8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BebasNeue-regular.fnt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 name="Google Shape;4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 name="Google Shape;4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15" name="Shape 15"/>
        <p:cNvGrpSpPr/>
        <p:nvPr/>
      </p:nvGrpSpPr>
      <p:grpSpPr>
        <a:xfrm>
          <a:off x="0" y="0"/>
          <a:ext cx="0" cy="0"/>
          <a:chOff x="0" y="0"/>
          <a:chExt cx="0" cy="0"/>
        </a:xfrm>
      </p:grpSpPr>
      <p:sp>
        <p:nvSpPr>
          <p:cNvPr id="16" name="Google Shape;16;p1"/>
          <p:cNvSpPr/>
          <p:nvPr/>
        </p:nvSpPr>
        <p:spPr>
          <a:xfrm>
            <a:off x="457200" y="822960"/>
            <a:ext cx="82296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6800"/>
              <a:buFont typeface="Bebas Neue"/>
              <a:buNone/>
            </a:pPr>
            <a:r>
              <a:rPr b="0" i="0" lang="en-US" sz="6800" u="none" cap="none" strike="noStrike">
                <a:solidFill>
                  <a:srgbClr val="FFFFFF"/>
                </a:solidFill>
                <a:latin typeface="Bebas Neue"/>
                <a:ea typeface="Bebas Neue"/>
                <a:cs typeface="Bebas Neue"/>
                <a:sym typeface="Bebas Neue"/>
              </a:rPr>
              <a:t>FREEWEIGHT</a:t>
            </a:r>
            <a:endParaRPr b="0" i="0" sz="6800" u="none" cap="none" strike="noStrike">
              <a:solidFill>
                <a:schemeClr val="dk1"/>
              </a:solidFill>
              <a:latin typeface="Calibri"/>
              <a:ea typeface="Calibri"/>
              <a:cs typeface="Calibri"/>
              <a:sym typeface="Calibri"/>
            </a:endParaRPr>
          </a:p>
        </p:txBody>
      </p:sp>
      <p:sp>
        <p:nvSpPr>
          <p:cNvPr id="17" name="Google Shape;17;p1"/>
          <p:cNvSpPr/>
          <p:nvPr/>
        </p:nvSpPr>
        <p:spPr>
          <a:xfrm>
            <a:off x="457200" y="2331720"/>
            <a:ext cx="8229600" cy="50292"/>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457200" y="2487168"/>
            <a:ext cx="731520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400"/>
              <a:buFont typeface="Arial"/>
              <a:buNone/>
            </a:pPr>
            <a:r>
              <a:rPr b="0" i="0" lang="en-US" sz="1400" u="none" cap="none" strike="noStrike">
                <a:solidFill>
                  <a:srgbClr val="E8EEEA"/>
                </a:solidFill>
                <a:latin typeface="Arial"/>
                <a:ea typeface="Arial"/>
                <a:cs typeface="Arial"/>
                <a:sym typeface="Arial"/>
              </a:rPr>
              <a:t>The training platform built for coaches who manage real teams.</a:t>
            </a:r>
            <a:endParaRPr b="0" i="0" sz="1400" u="none" cap="none" strike="noStrike">
              <a:solidFill>
                <a:schemeClr val="dk1"/>
              </a:solidFill>
              <a:latin typeface="Calibri"/>
              <a:ea typeface="Calibri"/>
              <a:cs typeface="Calibri"/>
              <a:sym typeface="Calibri"/>
            </a:endParaRPr>
          </a:p>
        </p:txBody>
      </p:sp>
      <p:sp>
        <p:nvSpPr>
          <p:cNvPr id="19" name="Google Shape;19;p1"/>
          <p:cNvSpPr/>
          <p:nvPr/>
        </p:nvSpPr>
        <p:spPr>
          <a:xfrm>
            <a:off x="457200" y="3977640"/>
            <a:ext cx="82296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A7E"/>
              </a:buClr>
              <a:buSzPts val="1100"/>
              <a:buFont typeface="Arial"/>
              <a:buNone/>
            </a:pPr>
            <a:r>
              <a:rPr b="0" i="0" lang="en-US" sz="1100" u="none" cap="none" strike="noStrike">
                <a:solidFill>
                  <a:srgbClr val="7A8A7E"/>
                </a:solidFill>
                <a:latin typeface="Arial"/>
                <a:ea typeface="Arial"/>
                <a:cs typeface="Arial"/>
                <a:sym typeface="Arial"/>
              </a:rPr>
              <a:t>Andrea Vergara  |  Nitin Rao  |  Arin Jaff  |  Jaclyn Zatsiorsky</a:t>
            </a:r>
            <a:endParaRPr b="0" i="0" sz="1100" u="none" cap="none" strike="noStrike">
              <a:solidFill>
                <a:schemeClr val="dk1"/>
              </a:solidFill>
              <a:latin typeface="Calibri"/>
              <a:ea typeface="Calibri"/>
              <a:cs typeface="Calibri"/>
              <a:sym typeface="Calibri"/>
            </a:endParaRPr>
          </a:p>
        </p:txBody>
      </p:sp>
      <p:sp>
        <p:nvSpPr>
          <p:cNvPr id="20" name="Google Shape;20;p1"/>
          <p:cNvSpPr/>
          <p:nvPr/>
        </p:nvSpPr>
        <p:spPr>
          <a:xfrm>
            <a:off x="457200" y="4343400"/>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A7E"/>
              </a:buClr>
              <a:buSzPts val="1000"/>
              <a:buFont typeface="Arial"/>
              <a:buNone/>
            </a:pPr>
            <a:r>
              <a:rPr b="0" i="0" lang="en-US" sz="1000" u="none" cap="none" strike="noStrike">
                <a:solidFill>
                  <a:srgbClr val="7A8A7E"/>
                </a:solidFill>
                <a:latin typeface="Arial"/>
                <a:ea typeface="Arial"/>
                <a:cs typeface="Arial"/>
                <a:sym typeface="Arial"/>
              </a:rPr>
              <a:t>Columbia University  |  2026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25" name="Shape 25"/>
        <p:cNvGrpSpPr/>
        <p:nvPr/>
      </p:nvGrpSpPr>
      <p:grpSpPr>
        <a:xfrm>
          <a:off x="0" y="0"/>
          <a:ext cx="0" cy="0"/>
          <a:chOff x="0" y="0"/>
          <a:chExt cx="0" cy="0"/>
        </a:xfrm>
      </p:grpSpPr>
      <p:sp>
        <p:nvSpPr>
          <p:cNvPr id="26" name="Google Shape;26;p2"/>
          <p:cNvSpPr/>
          <p:nvPr/>
        </p:nvSpPr>
        <p:spPr>
          <a:xfrm>
            <a:off x="457200" y="2011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THE WORLD CHANGED</a:t>
            </a:r>
            <a:endParaRPr b="0" i="0" sz="900" u="none" cap="none" strike="noStrike">
              <a:solidFill>
                <a:schemeClr val="dk1"/>
              </a:solidFill>
              <a:latin typeface="Calibri"/>
              <a:ea typeface="Calibri"/>
              <a:cs typeface="Calibri"/>
              <a:sym typeface="Calibri"/>
            </a:endParaRPr>
          </a:p>
        </p:txBody>
      </p:sp>
      <p:sp>
        <p:nvSpPr>
          <p:cNvPr id="27" name="Google Shape;27;p2"/>
          <p:cNvSpPr/>
          <p:nvPr/>
        </p:nvSpPr>
        <p:spPr>
          <a:xfrm>
            <a:off x="457200" y="502920"/>
            <a:ext cx="8229600" cy="1005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3000"/>
              <a:buFont typeface="Bebas Neue"/>
              <a:buNone/>
            </a:pPr>
            <a:r>
              <a:rPr b="0" i="0" lang="en-US" sz="3000" u="none" cap="none" strike="noStrike">
                <a:solidFill>
                  <a:srgbClr val="FFFFFF"/>
                </a:solidFill>
                <a:latin typeface="Bebas Neue"/>
                <a:ea typeface="Bebas Neue"/>
                <a:cs typeface="Bebas Neue"/>
                <a:sym typeface="Bebas Neue"/>
              </a:rPr>
              <a:t>Strength training scaled. The tools never caught up.</a:t>
            </a:r>
            <a:endParaRPr b="0" i="0" sz="3000" u="none" cap="none" strike="noStrike">
              <a:solidFill>
                <a:schemeClr val="dk1"/>
              </a:solidFill>
              <a:latin typeface="Calibri"/>
              <a:ea typeface="Calibri"/>
              <a:cs typeface="Calibri"/>
              <a:sym typeface="Calibri"/>
            </a:endParaRPr>
          </a:p>
        </p:txBody>
      </p:sp>
      <p:sp>
        <p:nvSpPr>
          <p:cNvPr id="28" name="Google Shape;28;p2"/>
          <p:cNvSpPr/>
          <p:nvPr/>
        </p:nvSpPr>
        <p:spPr>
          <a:xfrm>
            <a:off x="457200" y="1600200"/>
            <a:ext cx="8229600" cy="41148"/>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457200" y="1737360"/>
            <a:ext cx="5303520" cy="1463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300"/>
              <a:buFont typeface="Arial"/>
              <a:buNone/>
            </a:pPr>
            <a:r>
              <a:rPr b="0" i="0" lang="en-US" sz="1300" u="none" cap="none" strike="noStrike">
                <a:solidFill>
                  <a:srgbClr val="E8EEEA"/>
                </a:solidFill>
                <a:latin typeface="Arial"/>
                <a:ea typeface="Arial"/>
                <a:cs typeface="Arial"/>
                <a:sym typeface="Arial"/>
              </a:rPr>
              <a:t>A decade ago, a strength and conditioning coach managed one team, one program, and one whiteboard. Today the same coach manages five teams, 200 athletes across multiple sports, and 12 individualized programming cycles -- often simultaneously.</a:t>
            </a:r>
            <a:endParaRPr b="0" i="0" sz="1300" u="none" cap="none" strike="noStrike">
              <a:solidFill>
                <a:schemeClr val="dk1"/>
              </a:solidFill>
              <a:latin typeface="Calibri"/>
              <a:ea typeface="Calibri"/>
              <a:cs typeface="Calibri"/>
              <a:sym typeface="Calibri"/>
            </a:endParaRPr>
          </a:p>
        </p:txBody>
      </p:sp>
      <p:sp>
        <p:nvSpPr>
          <p:cNvPr id="30" name="Google Shape;30;p2"/>
          <p:cNvSpPr/>
          <p:nvPr/>
        </p:nvSpPr>
        <p:spPr>
          <a:xfrm>
            <a:off x="457200" y="3291840"/>
            <a:ext cx="5303520" cy="12801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300"/>
              <a:buFont typeface="Arial"/>
              <a:buNone/>
            </a:pPr>
            <a:r>
              <a:rPr b="0" i="0" lang="en-US" sz="1300" u="none" cap="none" strike="noStrike">
                <a:solidFill>
                  <a:srgbClr val="E8EEEA"/>
                </a:solidFill>
                <a:latin typeface="Arial"/>
                <a:ea typeface="Arial"/>
                <a:cs typeface="Arial"/>
                <a:sym typeface="Arial"/>
              </a:rPr>
              <a:t>The scale of the job changed fundamentally. The tools did not. Coaches are still building spreadsheets, texting athletes their programs, and chasing completion data manually -- while managing more athletes than ever before.</a:t>
            </a:r>
            <a:endParaRPr b="0" i="0" sz="1300" u="none" cap="none" strike="noStrike">
              <a:solidFill>
                <a:schemeClr val="dk1"/>
              </a:solidFill>
              <a:latin typeface="Calibri"/>
              <a:ea typeface="Calibri"/>
              <a:cs typeface="Calibri"/>
              <a:sym typeface="Calibri"/>
            </a:endParaRPr>
          </a:p>
        </p:txBody>
      </p:sp>
      <p:sp>
        <p:nvSpPr>
          <p:cNvPr id="31" name="Google Shape;31;p2"/>
          <p:cNvSpPr/>
          <p:nvPr/>
        </p:nvSpPr>
        <p:spPr>
          <a:xfrm>
            <a:off x="6217920" y="1737360"/>
            <a:ext cx="2468880" cy="1371600"/>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6217920" y="1801368"/>
            <a:ext cx="246888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THEN</a:t>
            </a:r>
            <a:endParaRPr b="0" i="0" sz="900" u="none" cap="none" strike="noStrike">
              <a:solidFill>
                <a:schemeClr val="dk1"/>
              </a:solidFill>
              <a:latin typeface="Calibri"/>
              <a:ea typeface="Calibri"/>
              <a:cs typeface="Calibri"/>
              <a:sym typeface="Calibri"/>
            </a:endParaRPr>
          </a:p>
        </p:txBody>
      </p:sp>
      <p:sp>
        <p:nvSpPr>
          <p:cNvPr id="33" name="Google Shape;33;p2"/>
          <p:cNvSpPr/>
          <p:nvPr/>
        </p:nvSpPr>
        <p:spPr>
          <a:xfrm>
            <a:off x="6217920" y="2084832"/>
            <a:ext cx="246888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EEEA"/>
              </a:buClr>
              <a:buSzPts val="1300"/>
              <a:buFont typeface="Arial"/>
              <a:buNone/>
            </a:pPr>
            <a:r>
              <a:rPr b="0" i="0" lang="en-US" sz="1300" u="none" cap="none" strike="noStrike">
                <a:solidFill>
                  <a:srgbClr val="E8EEEA"/>
                </a:solidFill>
                <a:latin typeface="Arial"/>
                <a:ea typeface="Arial"/>
                <a:cs typeface="Arial"/>
                <a:sym typeface="Arial"/>
              </a:rPr>
              <a:t>1 coach  |  1 team</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8EEEA"/>
              </a:buClr>
              <a:buSzPts val="1300"/>
              <a:buFont typeface="Arial"/>
              <a:buNone/>
            </a:pPr>
            <a:r>
              <a:rPr b="0" i="0" lang="en-US" sz="1300" u="none" cap="none" strike="noStrike">
                <a:solidFill>
                  <a:srgbClr val="E8EEEA"/>
                </a:solidFill>
                <a:latin typeface="Arial"/>
                <a:ea typeface="Arial"/>
                <a:cs typeface="Arial"/>
                <a:sym typeface="Arial"/>
              </a:rPr>
              <a:t>1 whiteboard</a:t>
            </a:r>
            <a:endParaRPr b="0" i="0" sz="1300" u="none" cap="none" strike="noStrike">
              <a:solidFill>
                <a:schemeClr val="dk1"/>
              </a:solidFill>
              <a:latin typeface="Calibri"/>
              <a:ea typeface="Calibri"/>
              <a:cs typeface="Calibri"/>
              <a:sym typeface="Calibri"/>
            </a:endParaRPr>
          </a:p>
        </p:txBody>
      </p:sp>
      <p:sp>
        <p:nvSpPr>
          <p:cNvPr id="34" name="Google Shape;34;p2"/>
          <p:cNvSpPr/>
          <p:nvPr/>
        </p:nvSpPr>
        <p:spPr>
          <a:xfrm>
            <a:off x="6217920" y="3246120"/>
            <a:ext cx="2468880" cy="1554480"/>
          </a:xfrm>
          <a:prstGeom prst="rect">
            <a:avLst/>
          </a:prstGeom>
          <a:solidFill>
            <a:srgbClr val="22282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6217920" y="3246120"/>
            <a:ext cx="2468880" cy="50292"/>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6217920" y="3310128"/>
            <a:ext cx="246888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NOW</a:t>
            </a:r>
            <a:endParaRPr b="0" i="0" sz="900" u="none" cap="none" strike="noStrike">
              <a:solidFill>
                <a:schemeClr val="dk1"/>
              </a:solidFill>
              <a:latin typeface="Calibri"/>
              <a:ea typeface="Calibri"/>
              <a:cs typeface="Calibri"/>
              <a:sym typeface="Calibri"/>
            </a:endParaRPr>
          </a:p>
        </p:txBody>
      </p:sp>
      <p:sp>
        <p:nvSpPr>
          <p:cNvPr id="37" name="Google Shape;37;p2"/>
          <p:cNvSpPr/>
          <p:nvPr/>
        </p:nvSpPr>
        <p:spPr>
          <a:xfrm>
            <a:off x="6217920" y="3611880"/>
            <a:ext cx="2468880" cy="10058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EEEA"/>
              </a:buClr>
              <a:buSzPts val="1200"/>
              <a:buFont typeface="Arial"/>
              <a:buNone/>
            </a:pPr>
            <a:r>
              <a:rPr b="0" i="0" lang="en-US" sz="1200" u="none" cap="none" strike="noStrike">
                <a:solidFill>
                  <a:srgbClr val="E8EEEA"/>
                </a:solidFill>
                <a:latin typeface="Arial"/>
                <a:ea typeface="Arial"/>
                <a:cs typeface="Arial"/>
                <a:sym typeface="Arial"/>
              </a:rPr>
              <a:t>1 coach  |  5 teams</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8EEEA"/>
              </a:buClr>
              <a:buSzPts val="1200"/>
              <a:buFont typeface="Arial"/>
              <a:buNone/>
            </a:pPr>
            <a:r>
              <a:rPr b="0" i="0" lang="en-US" sz="1200" u="none" cap="none" strike="noStrike">
                <a:solidFill>
                  <a:srgbClr val="E8EEEA"/>
                </a:solidFill>
                <a:latin typeface="Arial"/>
                <a:ea typeface="Arial"/>
                <a:cs typeface="Arial"/>
                <a:sym typeface="Arial"/>
              </a:rPr>
              <a:t>200 athletes</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8EEEA"/>
              </a:buClr>
              <a:buSzPts val="1200"/>
              <a:buFont typeface="Arial"/>
              <a:buNone/>
            </a:pPr>
            <a:r>
              <a:rPr b="0" i="0" lang="en-US" sz="1200" u="none" cap="none" strike="noStrike">
                <a:solidFill>
                  <a:srgbClr val="E8EEEA"/>
                </a:solidFill>
                <a:latin typeface="Arial"/>
                <a:ea typeface="Arial"/>
                <a:cs typeface="Arial"/>
                <a:sym typeface="Arial"/>
              </a:rPr>
              <a:t>12 programs</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8EEEA"/>
              </a:buClr>
              <a:buSzPts val="1200"/>
              <a:buFont typeface="Arial"/>
              <a:buNone/>
            </a:pPr>
            <a:r>
              <a:rPr b="0" i="0" lang="en-US" sz="1200" u="none" cap="none" strike="noStrike">
                <a:solidFill>
                  <a:srgbClr val="E8EEEA"/>
                </a:solidFill>
                <a:latin typeface="Arial"/>
                <a:ea typeface="Arial"/>
                <a:cs typeface="Arial"/>
                <a:sym typeface="Arial"/>
              </a:rPr>
              <a:t>Still on Google Sheets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42" name="Shape 42"/>
        <p:cNvGrpSpPr/>
        <p:nvPr/>
      </p:nvGrpSpPr>
      <p:grpSpPr>
        <a:xfrm>
          <a:off x="0" y="0"/>
          <a:ext cx="0" cy="0"/>
          <a:chOff x="0" y="0"/>
          <a:chExt cx="0" cy="0"/>
        </a:xfrm>
      </p:grpSpPr>
      <p:sp>
        <p:nvSpPr>
          <p:cNvPr id="43" name="Google Shape;43;p3"/>
          <p:cNvSpPr/>
          <p:nvPr/>
        </p:nvSpPr>
        <p:spPr>
          <a:xfrm>
            <a:off x="457200" y="2011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TEAM</a:t>
            </a:r>
            <a:endParaRPr b="0" i="0" sz="900" u="none" cap="none" strike="noStrike">
              <a:solidFill>
                <a:schemeClr val="dk1"/>
              </a:solidFill>
              <a:latin typeface="Calibri"/>
              <a:ea typeface="Calibri"/>
              <a:cs typeface="Calibri"/>
              <a:sym typeface="Calibri"/>
            </a:endParaRPr>
          </a:p>
        </p:txBody>
      </p:sp>
      <p:sp>
        <p:nvSpPr>
          <p:cNvPr id="44" name="Google Shape;44;p3"/>
          <p:cNvSpPr/>
          <p:nvPr/>
        </p:nvSpPr>
        <p:spPr>
          <a:xfrm>
            <a:off x="457200" y="502920"/>
            <a:ext cx="8229600" cy="1005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3000"/>
              <a:buFont typeface="Bebas Neue"/>
              <a:buNone/>
            </a:pPr>
            <a:r>
              <a:rPr b="0" i="0" lang="en-US" sz="3000" u="none" cap="none" strike="noStrike">
                <a:solidFill>
                  <a:srgbClr val="FFFFFF"/>
                </a:solidFill>
                <a:latin typeface="Bebas Neue"/>
                <a:ea typeface="Bebas Neue"/>
                <a:cs typeface="Bebas Neue"/>
                <a:sym typeface="Bebas Neue"/>
              </a:rPr>
              <a:t>We are rowers who built the tool we wished we had.</a:t>
            </a:r>
            <a:endParaRPr b="0" i="0" sz="3000" u="none" cap="none" strike="noStrike">
              <a:solidFill>
                <a:schemeClr val="dk1"/>
              </a:solidFill>
              <a:latin typeface="Calibri"/>
              <a:ea typeface="Calibri"/>
              <a:cs typeface="Calibri"/>
              <a:sym typeface="Calibri"/>
            </a:endParaRPr>
          </a:p>
        </p:txBody>
      </p:sp>
      <p:sp>
        <p:nvSpPr>
          <p:cNvPr id="45" name="Google Shape;45;p3"/>
          <p:cNvSpPr/>
          <p:nvPr/>
        </p:nvSpPr>
        <p:spPr>
          <a:xfrm>
            <a:off x="457200" y="1600200"/>
            <a:ext cx="8229600" cy="41148"/>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457200" y="1719072"/>
            <a:ext cx="822960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300"/>
              <a:buFont typeface="Arial"/>
              <a:buNone/>
            </a:pPr>
            <a:r>
              <a:rPr b="0" i="0" lang="en-US" sz="1300" u="none" cap="none" strike="noStrike">
                <a:solidFill>
                  <a:srgbClr val="E8EEEA"/>
                </a:solidFill>
                <a:latin typeface="Arial"/>
                <a:ea typeface="Arial"/>
                <a:cs typeface="Arial"/>
                <a:sym typeface="Arial"/>
              </a:rPr>
              <a:t>All four founders are Columbia rowers -- two women's varsity, two lightweight. We spent years training inside the exact system we are now rebuilding. We used the spreadsheets. We texted our coaches about injuries through back channels. We did the mental math between sets. We know where this breaks down because we lived it.</a:t>
            </a:r>
            <a:endParaRPr b="0" i="0" sz="1300" u="none" cap="none" strike="noStrike">
              <a:solidFill>
                <a:schemeClr val="dk1"/>
              </a:solidFill>
              <a:latin typeface="Calibri"/>
              <a:ea typeface="Calibri"/>
              <a:cs typeface="Calibri"/>
              <a:sym typeface="Calibri"/>
            </a:endParaRPr>
          </a:p>
        </p:txBody>
      </p:sp>
      <p:sp>
        <p:nvSpPr>
          <p:cNvPr id="47" name="Google Shape;47;p3"/>
          <p:cNvSpPr/>
          <p:nvPr/>
        </p:nvSpPr>
        <p:spPr>
          <a:xfrm>
            <a:off x="457200" y="3017520"/>
            <a:ext cx="1920240" cy="1828800"/>
          </a:xfrm>
          <a:prstGeom prst="rect">
            <a:avLst/>
          </a:prstGeom>
          <a:solidFill>
            <a:srgbClr val="22282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
          <p:cNvSpPr/>
          <p:nvPr/>
        </p:nvSpPr>
        <p:spPr>
          <a:xfrm>
            <a:off x="457200" y="3017520"/>
            <a:ext cx="1920240" cy="50292"/>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3"/>
          <p:cNvSpPr/>
          <p:nvPr/>
        </p:nvSpPr>
        <p:spPr>
          <a:xfrm>
            <a:off x="566928" y="3154680"/>
            <a:ext cx="1700784"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Andrea Vergara</a:t>
            </a:r>
            <a:endParaRPr b="0" i="0" sz="1300" u="none" cap="none" strike="noStrike">
              <a:solidFill>
                <a:schemeClr val="dk1"/>
              </a:solidFill>
              <a:latin typeface="Calibri"/>
              <a:ea typeface="Calibri"/>
              <a:cs typeface="Calibri"/>
              <a:sym typeface="Calibri"/>
            </a:endParaRPr>
          </a:p>
        </p:txBody>
      </p:sp>
      <p:sp>
        <p:nvSpPr>
          <p:cNvPr id="50" name="Google Shape;50;p3"/>
          <p:cNvSpPr/>
          <p:nvPr/>
        </p:nvSpPr>
        <p:spPr>
          <a:xfrm>
            <a:off x="566928" y="3703320"/>
            <a:ext cx="1700784"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7A8A7E"/>
              </a:buClr>
              <a:buSzPts val="1100"/>
              <a:buFont typeface="Arial"/>
              <a:buNone/>
            </a:pPr>
            <a:r>
              <a:rPr b="0" i="0" lang="en-US" sz="1100" u="none" cap="none" strike="noStrike">
                <a:solidFill>
                  <a:srgbClr val="7A8A7E"/>
                </a:solidFill>
                <a:latin typeface="Arial"/>
                <a:ea typeface="Arial"/>
                <a:cs typeface="Arial"/>
                <a:sym typeface="Arial"/>
              </a:rPr>
              <a:t>Columbia Rowing</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A8A7E"/>
              </a:buClr>
              <a:buSzPts val="1100"/>
              <a:buFont typeface="Arial"/>
              <a:buNone/>
            </a:pPr>
            <a:r>
              <a:rPr b="0" i="0" lang="en-US" sz="1100" u="none" cap="none" strike="noStrike">
                <a:solidFill>
                  <a:srgbClr val="7A8A7E"/>
                </a:solidFill>
                <a:latin typeface="Arial"/>
                <a:ea typeface="Arial"/>
                <a:cs typeface="Arial"/>
                <a:sym typeface="Arial"/>
              </a:rPr>
              <a:t>Women's Varsity</a:t>
            </a:r>
            <a:endParaRPr b="0" i="0" sz="1100" u="none" cap="none" strike="noStrike">
              <a:solidFill>
                <a:schemeClr val="dk1"/>
              </a:solidFill>
              <a:latin typeface="Calibri"/>
              <a:ea typeface="Calibri"/>
              <a:cs typeface="Calibri"/>
              <a:sym typeface="Calibri"/>
            </a:endParaRPr>
          </a:p>
        </p:txBody>
      </p:sp>
      <p:sp>
        <p:nvSpPr>
          <p:cNvPr id="51" name="Google Shape;51;p3"/>
          <p:cNvSpPr/>
          <p:nvPr/>
        </p:nvSpPr>
        <p:spPr>
          <a:xfrm>
            <a:off x="2560320" y="3017520"/>
            <a:ext cx="1920240" cy="1828800"/>
          </a:xfrm>
          <a:prstGeom prst="rect">
            <a:avLst/>
          </a:prstGeom>
          <a:solidFill>
            <a:srgbClr val="22282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
          <p:cNvSpPr/>
          <p:nvPr/>
        </p:nvSpPr>
        <p:spPr>
          <a:xfrm>
            <a:off x="2560320" y="3017520"/>
            <a:ext cx="1920240" cy="50292"/>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a:off x="2670048" y="3154680"/>
            <a:ext cx="1700784"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Nitin Rao</a:t>
            </a:r>
            <a:endParaRPr b="0" i="0" sz="1300" u="none" cap="none" strike="noStrike">
              <a:solidFill>
                <a:schemeClr val="dk1"/>
              </a:solidFill>
              <a:latin typeface="Calibri"/>
              <a:ea typeface="Calibri"/>
              <a:cs typeface="Calibri"/>
              <a:sym typeface="Calibri"/>
            </a:endParaRPr>
          </a:p>
        </p:txBody>
      </p:sp>
      <p:sp>
        <p:nvSpPr>
          <p:cNvPr id="54" name="Google Shape;54;p3"/>
          <p:cNvSpPr/>
          <p:nvPr/>
        </p:nvSpPr>
        <p:spPr>
          <a:xfrm>
            <a:off x="2670048" y="3703320"/>
            <a:ext cx="1700784"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7A8A7E"/>
              </a:buClr>
              <a:buSzPts val="1100"/>
              <a:buFont typeface="Arial"/>
              <a:buNone/>
            </a:pPr>
            <a:r>
              <a:rPr b="0" i="0" lang="en-US" sz="1100" u="none" cap="none" strike="noStrike">
                <a:solidFill>
                  <a:srgbClr val="7A8A7E"/>
                </a:solidFill>
                <a:latin typeface="Arial"/>
                <a:ea typeface="Arial"/>
                <a:cs typeface="Arial"/>
                <a:sym typeface="Arial"/>
              </a:rPr>
              <a:t>Columbia Rowing</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A8A7E"/>
              </a:buClr>
              <a:buSzPts val="1100"/>
              <a:buFont typeface="Arial"/>
              <a:buNone/>
            </a:pPr>
            <a:r>
              <a:rPr b="0" i="0" lang="en-US" sz="1100" u="none" cap="none" strike="noStrike">
                <a:solidFill>
                  <a:srgbClr val="7A8A7E"/>
                </a:solidFill>
                <a:latin typeface="Arial"/>
                <a:ea typeface="Arial"/>
                <a:cs typeface="Arial"/>
                <a:sym typeface="Arial"/>
              </a:rPr>
              <a:t>Lightweight</a:t>
            </a:r>
            <a:endParaRPr b="0" i="0" sz="1100" u="none" cap="none" strike="noStrike">
              <a:solidFill>
                <a:schemeClr val="dk1"/>
              </a:solidFill>
              <a:latin typeface="Calibri"/>
              <a:ea typeface="Calibri"/>
              <a:cs typeface="Calibri"/>
              <a:sym typeface="Calibri"/>
            </a:endParaRPr>
          </a:p>
        </p:txBody>
      </p:sp>
      <p:sp>
        <p:nvSpPr>
          <p:cNvPr id="55" name="Google Shape;55;p3"/>
          <p:cNvSpPr/>
          <p:nvPr/>
        </p:nvSpPr>
        <p:spPr>
          <a:xfrm>
            <a:off x="4663440" y="3017520"/>
            <a:ext cx="1920240" cy="1828800"/>
          </a:xfrm>
          <a:prstGeom prst="rect">
            <a:avLst/>
          </a:prstGeom>
          <a:solidFill>
            <a:srgbClr val="22282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a:off x="4663440" y="3017520"/>
            <a:ext cx="1920240" cy="50292"/>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4773168" y="3154680"/>
            <a:ext cx="1700784"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Arin Jaff</a:t>
            </a:r>
            <a:endParaRPr b="0" i="0" sz="1300" u="none" cap="none" strike="noStrike">
              <a:solidFill>
                <a:schemeClr val="dk1"/>
              </a:solidFill>
              <a:latin typeface="Calibri"/>
              <a:ea typeface="Calibri"/>
              <a:cs typeface="Calibri"/>
              <a:sym typeface="Calibri"/>
            </a:endParaRPr>
          </a:p>
        </p:txBody>
      </p:sp>
      <p:sp>
        <p:nvSpPr>
          <p:cNvPr id="58" name="Google Shape;58;p3"/>
          <p:cNvSpPr/>
          <p:nvPr/>
        </p:nvSpPr>
        <p:spPr>
          <a:xfrm>
            <a:off x="4773168" y="3703320"/>
            <a:ext cx="1700784"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7A8A7E"/>
              </a:buClr>
              <a:buSzPts val="1100"/>
              <a:buFont typeface="Arial"/>
              <a:buNone/>
            </a:pPr>
            <a:r>
              <a:rPr b="0" i="0" lang="en-US" sz="1100" u="none" cap="none" strike="noStrike">
                <a:solidFill>
                  <a:srgbClr val="7A8A7E"/>
                </a:solidFill>
                <a:latin typeface="Arial"/>
                <a:ea typeface="Arial"/>
                <a:cs typeface="Arial"/>
                <a:sym typeface="Arial"/>
              </a:rPr>
              <a:t>Columbia Rowing</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A8A7E"/>
              </a:buClr>
              <a:buSzPts val="1100"/>
              <a:buFont typeface="Arial"/>
              <a:buNone/>
            </a:pPr>
            <a:r>
              <a:rPr b="0" i="0" lang="en-US" sz="1100" u="none" cap="none" strike="noStrike">
                <a:solidFill>
                  <a:srgbClr val="7A8A7E"/>
                </a:solidFill>
                <a:latin typeface="Arial"/>
                <a:ea typeface="Arial"/>
                <a:cs typeface="Arial"/>
                <a:sym typeface="Arial"/>
              </a:rPr>
              <a:t>Lightweight</a:t>
            </a:r>
            <a:endParaRPr b="0" i="0" sz="1100" u="none" cap="none" strike="noStrike">
              <a:solidFill>
                <a:schemeClr val="dk1"/>
              </a:solidFill>
              <a:latin typeface="Calibri"/>
              <a:ea typeface="Calibri"/>
              <a:cs typeface="Calibri"/>
              <a:sym typeface="Calibri"/>
            </a:endParaRPr>
          </a:p>
        </p:txBody>
      </p:sp>
      <p:sp>
        <p:nvSpPr>
          <p:cNvPr id="59" name="Google Shape;59;p3"/>
          <p:cNvSpPr/>
          <p:nvPr/>
        </p:nvSpPr>
        <p:spPr>
          <a:xfrm>
            <a:off x="6766560" y="3017520"/>
            <a:ext cx="1920240" cy="1828800"/>
          </a:xfrm>
          <a:prstGeom prst="rect">
            <a:avLst/>
          </a:prstGeom>
          <a:solidFill>
            <a:srgbClr val="22282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6766560" y="3017520"/>
            <a:ext cx="1920240" cy="50292"/>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6876288" y="3154680"/>
            <a:ext cx="1700784"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Jaclyn Zatsiorsky</a:t>
            </a:r>
            <a:endParaRPr b="0" i="0" sz="1300" u="none" cap="none" strike="noStrike">
              <a:solidFill>
                <a:schemeClr val="dk1"/>
              </a:solidFill>
              <a:latin typeface="Calibri"/>
              <a:ea typeface="Calibri"/>
              <a:cs typeface="Calibri"/>
              <a:sym typeface="Calibri"/>
            </a:endParaRPr>
          </a:p>
        </p:txBody>
      </p:sp>
      <p:sp>
        <p:nvSpPr>
          <p:cNvPr id="62" name="Google Shape;62;p3"/>
          <p:cNvSpPr/>
          <p:nvPr/>
        </p:nvSpPr>
        <p:spPr>
          <a:xfrm>
            <a:off x="6876288" y="3703320"/>
            <a:ext cx="1700784"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7A8A7E"/>
              </a:buClr>
              <a:buSzPts val="1100"/>
              <a:buFont typeface="Arial"/>
              <a:buNone/>
            </a:pPr>
            <a:r>
              <a:rPr b="0" i="0" lang="en-US" sz="1100" u="none" cap="none" strike="noStrike">
                <a:solidFill>
                  <a:srgbClr val="7A8A7E"/>
                </a:solidFill>
                <a:latin typeface="Arial"/>
                <a:ea typeface="Arial"/>
                <a:cs typeface="Arial"/>
                <a:sym typeface="Arial"/>
              </a:rPr>
              <a:t>Columbia Rowing</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A8A7E"/>
              </a:buClr>
              <a:buSzPts val="1100"/>
              <a:buFont typeface="Arial"/>
              <a:buNone/>
            </a:pPr>
            <a:r>
              <a:rPr b="0" i="0" lang="en-US" sz="1100" u="none" cap="none" strike="noStrike">
                <a:solidFill>
                  <a:srgbClr val="7A8A7E"/>
                </a:solidFill>
                <a:latin typeface="Arial"/>
                <a:ea typeface="Arial"/>
                <a:cs typeface="Arial"/>
                <a:sym typeface="Arial"/>
              </a:rPr>
              <a:t>Women's Varsity</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67" name="Shape 67"/>
        <p:cNvGrpSpPr/>
        <p:nvPr/>
      </p:nvGrpSpPr>
      <p:grpSpPr>
        <a:xfrm>
          <a:off x="0" y="0"/>
          <a:ext cx="0" cy="0"/>
          <a:chOff x="0" y="0"/>
          <a:chExt cx="0" cy="0"/>
        </a:xfrm>
      </p:grpSpPr>
      <p:sp>
        <p:nvSpPr>
          <p:cNvPr id="68" name="Google Shape;68;p4"/>
          <p:cNvSpPr/>
          <p:nvPr/>
        </p:nvSpPr>
        <p:spPr>
          <a:xfrm>
            <a:off x="457200" y="2011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PROBLEM</a:t>
            </a:r>
            <a:endParaRPr b="0" i="0" sz="900" u="none" cap="none" strike="noStrike">
              <a:solidFill>
                <a:schemeClr val="dk1"/>
              </a:solidFill>
              <a:latin typeface="Calibri"/>
              <a:ea typeface="Calibri"/>
              <a:cs typeface="Calibri"/>
              <a:sym typeface="Calibri"/>
            </a:endParaRPr>
          </a:p>
        </p:txBody>
      </p:sp>
      <p:sp>
        <p:nvSpPr>
          <p:cNvPr id="69" name="Google Shape;69;p4"/>
          <p:cNvSpPr/>
          <p:nvPr/>
        </p:nvSpPr>
        <p:spPr>
          <a:xfrm>
            <a:off x="457200" y="502920"/>
            <a:ext cx="8229600" cy="1005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3000"/>
              <a:buFont typeface="Bebas Neue"/>
              <a:buNone/>
            </a:pPr>
            <a:r>
              <a:rPr b="0" i="0" lang="en-US" sz="3000" u="none" cap="none" strike="noStrike">
                <a:solidFill>
                  <a:srgbClr val="FFFFFF"/>
                </a:solidFill>
                <a:latin typeface="Bebas Neue"/>
                <a:ea typeface="Bebas Neue"/>
                <a:cs typeface="Bebas Neue"/>
                <a:sym typeface="Bebas Neue"/>
              </a:rPr>
              <a:t>Coaches are running sophisticated programs with primitive tools.</a:t>
            </a:r>
            <a:endParaRPr b="0" i="0" sz="3000" u="none" cap="none" strike="noStrike">
              <a:solidFill>
                <a:schemeClr val="dk1"/>
              </a:solidFill>
              <a:latin typeface="Calibri"/>
              <a:ea typeface="Calibri"/>
              <a:cs typeface="Calibri"/>
              <a:sym typeface="Calibri"/>
            </a:endParaRPr>
          </a:p>
        </p:txBody>
      </p:sp>
      <p:sp>
        <p:nvSpPr>
          <p:cNvPr id="70" name="Google Shape;70;p4"/>
          <p:cNvSpPr/>
          <p:nvPr/>
        </p:nvSpPr>
        <p:spPr>
          <a:xfrm>
            <a:off x="457200" y="1600200"/>
            <a:ext cx="8229600" cy="41148"/>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p:nvPr/>
        </p:nvSpPr>
        <p:spPr>
          <a:xfrm>
            <a:off x="457200" y="1719072"/>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300"/>
              <a:buFont typeface="Arial"/>
              <a:buNone/>
            </a:pPr>
            <a:r>
              <a:rPr b="0" i="0" lang="en-US" sz="1300" u="none" cap="none" strike="noStrike">
                <a:solidFill>
                  <a:srgbClr val="E8EEEA"/>
                </a:solidFill>
                <a:latin typeface="Arial"/>
                <a:ea typeface="Arial"/>
                <a:cs typeface="Arial"/>
                <a:sym typeface="Arial"/>
              </a:rPr>
              <a:t>The modern strength and conditioning coach manages multiple teams, each with individualized programming, injury modifications, and different training phases. The workflow looks like this:</a:t>
            </a:r>
            <a:endParaRPr b="0" i="0" sz="1300" u="none" cap="none" strike="noStrike">
              <a:solidFill>
                <a:schemeClr val="dk1"/>
              </a:solidFill>
              <a:latin typeface="Calibri"/>
              <a:ea typeface="Calibri"/>
              <a:cs typeface="Calibri"/>
              <a:sym typeface="Calibri"/>
            </a:endParaRPr>
          </a:p>
        </p:txBody>
      </p:sp>
      <p:sp>
        <p:nvSpPr>
          <p:cNvPr id="72" name="Google Shape;72;p4"/>
          <p:cNvSpPr/>
          <p:nvPr/>
        </p:nvSpPr>
        <p:spPr>
          <a:xfrm>
            <a:off x="457200" y="2679192"/>
            <a:ext cx="50292" cy="438912"/>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
          <p:cNvSpPr/>
          <p:nvPr/>
        </p:nvSpPr>
        <p:spPr>
          <a:xfrm>
            <a:off x="658368" y="2606040"/>
            <a:ext cx="1920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1200"/>
              <a:buFont typeface="Arial"/>
              <a:buNone/>
            </a:pPr>
            <a:r>
              <a:rPr b="1" i="0" lang="en-US" sz="1200" u="none" cap="none" strike="noStrike">
                <a:solidFill>
                  <a:srgbClr val="C9F44E"/>
                </a:solidFill>
                <a:latin typeface="Arial"/>
                <a:ea typeface="Arial"/>
                <a:cs typeface="Arial"/>
                <a:sym typeface="Arial"/>
              </a:rPr>
              <a:t>Build the program.</a:t>
            </a:r>
            <a:endParaRPr b="0" i="0" sz="1200" u="none" cap="none" strike="noStrike">
              <a:solidFill>
                <a:schemeClr val="dk1"/>
              </a:solidFill>
              <a:latin typeface="Calibri"/>
              <a:ea typeface="Calibri"/>
              <a:cs typeface="Calibri"/>
              <a:sym typeface="Calibri"/>
            </a:endParaRPr>
          </a:p>
        </p:txBody>
      </p:sp>
      <p:sp>
        <p:nvSpPr>
          <p:cNvPr id="74" name="Google Shape;74;p4"/>
          <p:cNvSpPr/>
          <p:nvPr/>
        </p:nvSpPr>
        <p:spPr>
          <a:xfrm>
            <a:off x="658368" y="2907792"/>
            <a:ext cx="79552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200"/>
              <a:buFont typeface="Arial"/>
              <a:buNone/>
            </a:pPr>
            <a:r>
              <a:rPr b="0" i="0" lang="en-US" sz="1200" u="none" cap="none" strike="noStrike">
                <a:solidFill>
                  <a:srgbClr val="E8EEEA"/>
                </a:solidFill>
                <a:latin typeface="Arial"/>
                <a:ea typeface="Arial"/>
                <a:cs typeface="Arial"/>
                <a:sym typeface="Arial"/>
              </a:rPr>
              <a:t>Weeks of work in Excel or Google Sheets, with percentage-based formulas referencing each athlete's maxes manually.</a:t>
            </a:r>
            <a:endParaRPr b="0" i="0" sz="1200" u="none" cap="none" strike="noStrike">
              <a:solidFill>
                <a:schemeClr val="dk1"/>
              </a:solidFill>
              <a:latin typeface="Calibri"/>
              <a:ea typeface="Calibri"/>
              <a:cs typeface="Calibri"/>
              <a:sym typeface="Calibri"/>
            </a:endParaRPr>
          </a:p>
        </p:txBody>
      </p:sp>
      <p:sp>
        <p:nvSpPr>
          <p:cNvPr id="75" name="Google Shape;75;p4"/>
          <p:cNvSpPr/>
          <p:nvPr/>
        </p:nvSpPr>
        <p:spPr>
          <a:xfrm>
            <a:off x="457200" y="3300984"/>
            <a:ext cx="50292" cy="438912"/>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p:nvPr/>
        </p:nvSpPr>
        <p:spPr>
          <a:xfrm>
            <a:off x="658368" y="3227832"/>
            <a:ext cx="1920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1200"/>
              <a:buFont typeface="Arial"/>
              <a:buNone/>
            </a:pPr>
            <a:r>
              <a:rPr b="1" i="0" lang="en-US" sz="1200" u="none" cap="none" strike="noStrike">
                <a:solidFill>
                  <a:srgbClr val="C9F44E"/>
                </a:solidFill>
                <a:latin typeface="Arial"/>
                <a:ea typeface="Arial"/>
                <a:cs typeface="Arial"/>
                <a:sym typeface="Arial"/>
              </a:rPr>
              <a:t>Distribute it.</a:t>
            </a:r>
            <a:endParaRPr b="0" i="0" sz="1200" u="none" cap="none" strike="noStrike">
              <a:solidFill>
                <a:schemeClr val="dk1"/>
              </a:solidFill>
              <a:latin typeface="Calibri"/>
              <a:ea typeface="Calibri"/>
              <a:cs typeface="Calibri"/>
              <a:sym typeface="Calibri"/>
            </a:endParaRPr>
          </a:p>
        </p:txBody>
      </p:sp>
      <p:sp>
        <p:nvSpPr>
          <p:cNvPr id="77" name="Google Shape;77;p4"/>
          <p:cNvSpPr/>
          <p:nvPr/>
        </p:nvSpPr>
        <p:spPr>
          <a:xfrm>
            <a:off x="658368" y="3529584"/>
            <a:ext cx="79552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200"/>
              <a:buFont typeface="Arial"/>
              <a:buNone/>
            </a:pPr>
            <a:r>
              <a:rPr b="0" i="0" lang="en-US" sz="1200" u="none" cap="none" strike="noStrike">
                <a:solidFill>
                  <a:srgbClr val="E8EEEA"/>
                </a:solidFill>
                <a:latin typeface="Arial"/>
                <a:ea typeface="Arial"/>
                <a:cs typeface="Arial"/>
                <a:sym typeface="Arial"/>
              </a:rPr>
              <a:t>Share a spreadsheet link or screenshot. Hope everyone sees it. Text it again when they don't.</a:t>
            </a:r>
            <a:endParaRPr b="0" i="0" sz="1200" u="none" cap="none" strike="noStrike">
              <a:solidFill>
                <a:schemeClr val="dk1"/>
              </a:solidFill>
              <a:latin typeface="Calibri"/>
              <a:ea typeface="Calibri"/>
              <a:cs typeface="Calibri"/>
              <a:sym typeface="Calibri"/>
            </a:endParaRPr>
          </a:p>
        </p:txBody>
      </p:sp>
      <p:sp>
        <p:nvSpPr>
          <p:cNvPr id="78" name="Google Shape;78;p4"/>
          <p:cNvSpPr/>
          <p:nvPr/>
        </p:nvSpPr>
        <p:spPr>
          <a:xfrm>
            <a:off x="457200" y="3922776"/>
            <a:ext cx="50292" cy="438912"/>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
          <p:cNvSpPr/>
          <p:nvPr/>
        </p:nvSpPr>
        <p:spPr>
          <a:xfrm>
            <a:off x="658368" y="3849624"/>
            <a:ext cx="1920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1200"/>
              <a:buFont typeface="Arial"/>
              <a:buNone/>
            </a:pPr>
            <a:r>
              <a:rPr b="1" i="0" lang="en-US" sz="1200" u="none" cap="none" strike="noStrike">
                <a:solidFill>
                  <a:srgbClr val="C9F44E"/>
                </a:solidFill>
                <a:latin typeface="Arial"/>
                <a:ea typeface="Arial"/>
                <a:cs typeface="Arial"/>
                <a:sym typeface="Arial"/>
              </a:rPr>
              <a:t>Track completion.</a:t>
            </a:r>
            <a:endParaRPr b="0" i="0" sz="1200" u="none" cap="none" strike="noStrike">
              <a:solidFill>
                <a:schemeClr val="dk1"/>
              </a:solidFill>
              <a:latin typeface="Calibri"/>
              <a:ea typeface="Calibri"/>
              <a:cs typeface="Calibri"/>
              <a:sym typeface="Calibri"/>
            </a:endParaRPr>
          </a:p>
        </p:txBody>
      </p:sp>
      <p:sp>
        <p:nvSpPr>
          <p:cNvPr id="80" name="Google Shape;80;p4"/>
          <p:cNvSpPr/>
          <p:nvPr/>
        </p:nvSpPr>
        <p:spPr>
          <a:xfrm>
            <a:off x="658368" y="4151376"/>
            <a:ext cx="79552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200"/>
              <a:buFont typeface="Arial"/>
              <a:buNone/>
            </a:pPr>
            <a:r>
              <a:rPr b="0" i="0" lang="en-US" sz="1200" u="none" cap="none" strike="noStrike">
                <a:solidFill>
                  <a:srgbClr val="E8EEEA"/>
                </a:solidFill>
                <a:latin typeface="Arial"/>
                <a:ea typeface="Arial"/>
                <a:cs typeface="Arial"/>
                <a:sym typeface="Arial"/>
              </a:rPr>
              <a:t>Chase athletes after every session. No dashboard. No notifications. No record unless someone texts back.</a:t>
            </a:r>
            <a:endParaRPr b="0" i="0" sz="1200" u="none" cap="none" strike="noStrike">
              <a:solidFill>
                <a:schemeClr val="dk1"/>
              </a:solidFill>
              <a:latin typeface="Calibri"/>
              <a:ea typeface="Calibri"/>
              <a:cs typeface="Calibri"/>
              <a:sym typeface="Calibri"/>
            </a:endParaRPr>
          </a:p>
        </p:txBody>
      </p:sp>
      <p:sp>
        <p:nvSpPr>
          <p:cNvPr id="81" name="Google Shape;81;p4"/>
          <p:cNvSpPr/>
          <p:nvPr/>
        </p:nvSpPr>
        <p:spPr>
          <a:xfrm>
            <a:off x="457200" y="4544568"/>
            <a:ext cx="50292" cy="438912"/>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4"/>
          <p:cNvSpPr/>
          <p:nvPr/>
        </p:nvSpPr>
        <p:spPr>
          <a:xfrm>
            <a:off x="658368" y="4471416"/>
            <a:ext cx="1920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1200"/>
              <a:buFont typeface="Arial"/>
              <a:buNone/>
            </a:pPr>
            <a:r>
              <a:rPr b="1" i="0" lang="en-US" sz="1200" u="none" cap="none" strike="noStrike">
                <a:solidFill>
                  <a:srgbClr val="C9F44E"/>
                </a:solidFill>
                <a:latin typeface="Arial"/>
                <a:ea typeface="Arial"/>
                <a:cs typeface="Arial"/>
                <a:sym typeface="Arial"/>
              </a:rPr>
              <a:t>Handle modifications.</a:t>
            </a:r>
            <a:endParaRPr b="0" i="0" sz="1200" u="none" cap="none" strike="noStrike">
              <a:solidFill>
                <a:schemeClr val="dk1"/>
              </a:solidFill>
              <a:latin typeface="Calibri"/>
              <a:ea typeface="Calibri"/>
              <a:cs typeface="Calibri"/>
              <a:sym typeface="Calibri"/>
            </a:endParaRPr>
          </a:p>
        </p:txBody>
      </p:sp>
      <p:sp>
        <p:nvSpPr>
          <p:cNvPr id="83" name="Google Shape;83;p4"/>
          <p:cNvSpPr/>
          <p:nvPr/>
        </p:nvSpPr>
        <p:spPr>
          <a:xfrm>
            <a:off x="658368" y="4773168"/>
            <a:ext cx="79552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200"/>
              <a:buFont typeface="Arial"/>
              <a:buNone/>
            </a:pPr>
            <a:r>
              <a:rPr b="0" i="0" lang="en-US" sz="1200" u="none" cap="none" strike="noStrike">
                <a:solidFill>
                  <a:srgbClr val="E8EEEA"/>
                </a:solidFill>
                <a:latin typeface="Arial"/>
                <a:ea typeface="Arial"/>
                <a:cs typeface="Arial"/>
                <a:sym typeface="Arial"/>
              </a:rPr>
              <a:t>An athlete hurt their shoulder. There is no formal channel. They tell a teammate, who tells the coach, maybe.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88" name="Shape 88"/>
        <p:cNvGrpSpPr/>
        <p:nvPr/>
      </p:nvGrpSpPr>
      <p:grpSpPr>
        <a:xfrm>
          <a:off x="0" y="0"/>
          <a:ext cx="0" cy="0"/>
          <a:chOff x="0" y="0"/>
          <a:chExt cx="0" cy="0"/>
        </a:xfrm>
      </p:grpSpPr>
      <p:sp>
        <p:nvSpPr>
          <p:cNvPr id="89" name="Google Shape;89;p5"/>
          <p:cNvSpPr/>
          <p:nvPr/>
        </p:nvSpPr>
        <p:spPr>
          <a:xfrm>
            <a:off x="457200" y="2011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PROBLEM</a:t>
            </a:r>
            <a:endParaRPr b="0" i="0" sz="900" u="none" cap="none" strike="noStrike">
              <a:solidFill>
                <a:schemeClr val="dk1"/>
              </a:solidFill>
              <a:latin typeface="Calibri"/>
              <a:ea typeface="Calibri"/>
              <a:cs typeface="Calibri"/>
              <a:sym typeface="Calibri"/>
            </a:endParaRPr>
          </a:p>
        </p:txBody>
      </p:sp>
      <p:sp>
        <p:nvSpPr>
          <p:cNvPr id="90" name="Google Shape;90;p5"/>
          <p:cNvSpPr/>
          <p:nvPr/>
        </p:nvSpPr>
        <p:spPr>
          <a:xfrm>
            <a:off x="457200" y="502920"/>
            <a:ext cx="8229600" cy="1005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3000"/>
              <a:buFont typeface="Bebas Neue"/>
              <a:buNone/>
            </a:pPr>
            <a:r>
              <a:rPr b="0" i="0" lang="en-US" sz="3000" u="none" cap="none" strike="noStrike">
                <a:solidFill>
                  <a:srgbClr val="FFFFFF"/>
                </a:solidFill>
                <a:latin typeface="Bebas Neue"/>
                <a:ea typeface="Bebas Neue"/>
                <a:cs typeface="Bebas Neue"/>
                <a:sym typeface="Bebas Neue"/>
              </a:rPr>
              <a:t>Athletes are left to figure it out on their own.</a:t>
            </a:r>
            <a:endParaRPr b="0" i="0" sz="3000" u="none" cap="none" strike="noStrike">
              <a:solidFill>
                <a:schemeClr val="dk1"/>
              </a:solidFill>
              <a:latin typeface="Calibri"/>
              <a:ea typeface="Calibri"/>
              <a:cs typeface="Calibri"/>
              <a:sym typeface="Calibri"/>
            </a:endParaRPr>
          </a:p>
        </p:txBody>
      </p:sp>
      <p:sp>
        <p:nvSpPr>
          <p:cNvPr id="91" name="Google Shape;91;p5"/>
          <p:cNvSpPr/>
          <p:nvPr/>
        </p:nvSpPr>
        <p:spPr>
          <a:xfrm>
            <a:off x="457200" y="1600200"/>
            <a:ext cx="8229600" cy="41148"/>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
          <p:cNvSpPr/>
          <p:nvPr/>
        </p:nvSpPr>
        <p:spPr>
          <a:xfrm>
            <a:off x="457200" y="1719072"/>
            <a:ext cx="82296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300"/>
              <a:buFont typeface="Arial"/>
              <a:buNone/>
            </a:pPr>
            <a:r>
              <a:rPr b="0" i="0" lang="en-US" sz="1300" u="none" cap="none" strike="noStrike">
                <a:solidFill>
                  <a:srgbClr val="E8EEEA"/>
                </a:solidFill>
                <a:latin typeface="Arial"/>
                <a:ea typeface="Arial"/>
                <a:cs typeface="Arial"/>
                <a:sym typeface="Arial"/>
              </a:rPr>
              <a:t>The athlete experience is the other side of the same broken system. Without a purpose-built tool, athletes are doing cognitive work between sets that no coach intended.</a:t>
            </a:r>
            <a:endParaRPr b="0" i="0" sz="1300" u="none" cap="none" strike="noStrike">
              <a:solidFill>
                <a:schemeClr val="dk1"/>
              </a:solidFill>
              <a:latin typeface="Calibri"/>
              <a:ea typeface="Calibri"/>
              <a:cs typeface="Calibri"/>
              <a:sym typeface="Calibri"/>
            </a:endParaRPr>
          </a:p>
        </p:txBody>
      </p:sp>
      <p:sp>
        <p:nvSpPr>
          <p:cNvPr id="93" name="Google Shape;93;p5"/>
          <p:cNvSpPr/>
          <p:nvPr/>
        </p:nvSpPr>
        <p:spPr>
          <a:xfrm>
            <a:off x="457200" y="2487168"/>
            <a:ext cx="8229600" cy="749808"/>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a:off x="457200" y="2487168"/>
            <a:ext cx="50292" cy="749808"/>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5"/>
          <p:cNvSpPr/>
          <p:nvPr/>
        </p:nvSpPr>
        <p:spPr>
          <a:xfrm>
            <a:off x="658368" y="2560320"/>
            <a:ext cx="2286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1100"/>
              <a:buFont typeface="Arial"/>
              <a:buNone/>
            </a:pPr>
            <a:r>
              <a:rPr b="1" i="0" lang="en-US" sz="1100" u="none" cap="none" strike="noStrike">
                <a:solidFill>
                  <a:srgbClr val="C9F44E"/>
                </a:solidFill>
                <a:latin typeface="Arial"/>
                <a:ea typeface="Arial"/>
                <a:cs typeface="Arial"/>
                <a:sym typeface="Arial"/>
              </a:rPr>
              <a:t>Mental math mid-workout.</a:t>
            </a:r>
            <a:endParaRPr b="0" i="0" sz="1100" u="none" cap="none" strike="noStrike">
              <a:solidFill>
                <a:schemeClr val="dk1"/>
              </a:solidFill>
              <a:latin typeface="Calibri"/>
              <a:ea typeface="Calibri"/>
              <a:cs typeface="Calibri"/>
              <a:sym typeface="Calibri"/>
            </a:endParaRPr>
          </a:p>
        </p:txBody>
      </p:sp>
      <p:sp>
        <p:nvSpPr>
          <p:cNvPr id="96" name="Google Shape;96;p5"/>
          <p:cNvSpPr/>
          <p:nvPr/>
        </p:nvSpPr>
        <p:spPr>
          <a:xfrm>
            <a:off x="658368" y="2834640"/>
            <a:ext cx="786384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100"/>
              <a:buFont typeface="Arial"/>
              <a:buNone/>
            </a:pPr>
            <a:r>
              <a:rPr b="0" i="0" lang="en-US" sz="1100" u="none" cap="none" strike="noStrike">
                <a:solidFill>
                  <a:srgbClr val="E8EEEA"/>
                </a:solidFill>
                <a:latin typeface="Arial"/>
                <a:ea typeface="Arial"/>
                <a:cs typeface="Arial"/>
                <a:sym typeface="Arial"/>
              </a:rPr>
              <a:t>The program says 80% of your squat max. Your max is 215 lbs. What is 80%? Athletes are calculating this between warm-up sets, often getting it wrong, often rounding to something safer and easier.</a:t>
            </a:r>
            <a:endParaRPr b="0" i="0" sz="1100" u="none" cap="none" strike="noStrike">
              <a:solidFill>
                <a:schemeClr val="dk1"/>
              </a:solidFill>
              <a:latin typeface="Calibri"/>
              <a:ea typeface="Calibri"/>
              <a:cs typeface="Calibri"/>
              <a:sym typeface="Calibri"/>
            </a:endParaRPr>
          </a:p>
        </p:txBody>
      </p:sp>
      <p:sp>
        <p:nvSpPr>
          <p:cNvPr id="97" name="Google Shape;97;p5"/>
          <p:cNvSpPr/>
          <p:nvPr/>
        </p:nvSpPr>
        <p:spPr>
          <a:xfrm>
            <a:off x="457200" y="3355848"/>
            <a:ext cx="8229600" cy="749808"/>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5"/>
          <p:cNvSpPr/>
          <p:nvPr/>
        </p:nvSpPr>
        <p:spPr>
          <a:xfrm>
            <a:off x="457200" y="3355848"/>
            <a:ext cx="50292" cy="749808"/>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5"/>
          <p:cNvSpPr/>
          <p:nvPr/>
        </p:nvSpPr>
        <p:spPr>
          <a:xfrm>
            <a:off x="658368" y="3429000"/>
            <a:ext cx="2286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1100"/>
              <a:buFont typeface="Arial"/>
              <a:buNone/>
            </a:pPr>
            <a:r>
              <a:rPr b="1" i="0" lang="en-US" sz="1100" u="none" cap="none" strike="noStrike">
                <a:solidFill>
                  <a:srgbClr val="C9F44E"/>
                </a:solidFill>
                <a:latin typeface="Arial"/>
                <a:ea typeface="Arial"/>
                <a:cs typeface="Arial"/>
                <a:sym typeface="Arial"/>
              </a:rPr>
              <a:t>No way to flag concerns.</a:t>
            </a:r>
            <a:endParaRPr b="0" i="0" sz="1100" u="none" cap="none" strike="noStrike">
              <a:solidFill>
                <a:schemeClr val="dk1"/>
              </a:solidFill>
              <a:latin typeface="Calibri"/>
              <a:ea typeface="Calibri"/>
              <a:cs typeface="Calibri"/>
              <a:sym typeface="Calibri"/>
            </a:endParaRPr>
          </a:p>
        </p:txBody>
      </p:sp>
      <p:sp>
        <p:nvSpPr>
          <p:cNvPr id="100" name="Google Shape;100;p5"/>
          <p:cNvSpPr/>
          <p:nvPr/>
        </p:nvSpPr>
        <p:spPr>
          <a:xfrm>
            <a:off x="658368" y="3703320"/>
            <a:ext cx="786384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100"/>
              <a:buFont typeface="Arial"/>
              <a:buNone/>
            </a:pPr>
            <a:r>
              <a:rPr b="0" i="0" lang="en-US" sz="1100" u="none" cap="none" strike="noStrike">
                <a:solidFill>
                  <a:srgbClr val="E8EEEA"/>
                </a:solidFill>
                <a:latin typeface="Arial"/>
                <a:ea typeface="Arial"/>
                <a:cs typeface="Arial"/>
                <a:sym typeface="Arial"/>
              </a:rPr>
              <a:t>"I want to be able to communicate my injuries without going through other sources." Athletes self-modify without telling anyone, which means coaches are programming against data that is no longer accurate.</a:t>
            </a:r>
            <a:endParaRPr b="0" i="0" sz="1100" u="none" cap="none" strike="noStrike">
              <a:solidFill>
                <a:schemeClr val="dk1"/>
              </a:solidFill>
              <a:latin typeface="Calibri"/>
              <a:ea typeface="Calibri"/>
              <a:cs typeface="Calibri"/>
              <a:sym typeface="Calibri"/>
            </a:endParaRPr>
          </a:p>
        </p:txBody>
      </p:sp>
      <p:sp>
        <p:nvSpPr>
          <p:cNvPr id="101" name="Google Shape;101;p5"/>
          <p:cNvSpPr/>
          <p:nvPr/>
        </p:nvSpPr>
        <p:spPr>
          <a:xfrm>
            <a:off x="457200" y="4224528"/>
            <a:ext cx="8229600" cy="749808"/>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
          <p:cNvSpPr/>
          <p:nvPr/>
        </p:nvSpPr>
        <p:spPr>
          <a:xfrm>
            <a:off x="457200" y="4224528"/>
            <a:ext cx="50292" cy="749808"/>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
          <p:cNvSpPr/>
          <p:nvPr/>
        </p:nvSpPr>
        <p:spPr>
          <a:xfrm>
            <a:off x="658368" y="4297680"/>
            <a:ext cx="2286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1100"/>
              <a:buFont typeface="Arial"/>
              <a:buNone/>
            </a:pPr>
            <a:r>
              <a:rPr b="1" i="0" lang="en-US" sz="1100" u="none" cap="none" strike="noStrike">
                <a:solidFill>
                  <a:srgbClr val="C9F44E"/>
                </a:solidFill>
                <a:latin typeface="Arial"/>
                <a:ea typeface="Arial"/>
                <a:cs typeface="Arial"/>
                <a:sym typeface="Arial"/>
              </a:rPr>
              <a:t>Programs that do not adapt.</a:t>
            </a:r>
            <a:endParaRPr b="0" i="0" sz="1100" u="none" cap="none" strike="noStrike">
              <a:solidFill>
                <a:schemeClr val="dk1"/>
              </a:solidFill>
              <a:latin typeface="Calibri"/>
              <a:ea typeface="Calibri"/>
              <a:cs typeface="Calibri"/>
              <a:sym typeface="Calibri"/>
            </a:endParaRPr>
          </a:p>
        </p:txBody>
      </p:sp>
      <p:sp>
        <p:nvSpPr>
          <p:cNvPr id="104" name="Google Shape;104;p5"/>
          <p:cNvSpPr/>
          <p:nvPr/>
        </p:nvSpPr>
        <p:spPr>
          <a:xfrm>
            <a:off x="658368" y="4572000"/>
            <a:ext cx="786384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100"/>
              <a:buFont typeface="Arial"/>
              <a:buNone/>
            </a:pPr>
            <a:r>
              <a:rPr b="0" i="0" lang="en-US" sz="1100" u="none" cap="none" strike="noStrike">
                <a:solidFill>
                  <a:srgbClr val="E8EEEA"/>
                </a:solidFill>
                <a:latin typeface="Arial"/>
                <a:ea typeface="Arial"/>
                <a:cs typeface="Arial"/>
                <a:sym typeface="Arial"/>
              </a:rPr>
              <a:t>A missed week, a new max, a competition cycle shift -- none of these propagate through a static spreadsheet. Athletes follow stale programs, coaches do not know, performance suffers.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109" name="Shape 109"/>
        <p:cNvGrpSpPr/>
        <p:nvPr/>
      </p:nvGrpSpPr>
      <p:grpSpPr>
        <a:xfrm>
          <a:off x="0" y="0"/>
          <a:ext cx="0" cy="0"/>
          <a:chOff x="0" y="0"/>
          <a:chExt cx="0" cy="0"/>
        </a:xfrm>
      </p:grpSpPr>
      <p:sp>
        <p:nvSpPr>
          <p:cNvPr id="110" name="Google Shape;110;p6"/>
          <p:cNvSpPr/>
          <p:nvPr/>
        </p:nvSpPr>
        <p:spPr>
          <a:xfrm>
            <a:off x="457200" y="2011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WHY NOW</a:t>
            </a:r>
            <a:endParaRPr b="0" i="0" sz="900" u="none" cap="none" strike="noStrike">
              <a:solidFill>
                <a:schemeClr val="dk1"/>
              </a:solidFill>
              <a:latin typeface="Calibri"/>
              <a:ea typeface="Calibri"/>
              <a:cs typeface="Calibri"/>
              <a:sym typeface="Calibri"/>
            </a:endParaRPr>
          </a:p>
        </p:txBody>
      </p:sp>
      <p:sp>
        <p:nvSpPr>
          <p:cNvPr id="111" name="Google Shape;111;p6"/>
          <p:cNvSpPr/>
          <p:nvPr/>
        </p:nvSpPr>
        <p:spPr>
          <a:xfrm>
            <a:off x="457200" y="502920"/>
            <a:ext cx="8229600" cy="1005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3000"/>
              <a:buFont typeface="Bebas Neue"/>
              <a:buNone/>
            </a:pPr>
            <a:r>
              <a:rPr b="0" i="0" lang="en-US" sz="3000" u="none" cap="none" strike="noStrike">
                <a:solidFill>
                  <a:srgbClr val="FFFFFF"/>
                </a:solidFill>
                <a:latin typeface="Bebas Neue"/>
                <a:ea typeface="Bebas Neue"/>
                <a:cs typeface="Bebas Neue"/>
                <a:sym typeface="Bebas Neue"/>
              </a:rPr>
              <a:t>Three forces are converging to make this moment right.</a:t>
            </a:r>
            <a:endParaRPr b="0" i="0" sz="3000" u="none" cap="none" strike="noStrike">
              <a:solidFill>
                <a:schemeClr val="dk1"/>
              </a:solidFill>
              <a:latin typeface="Calibri"/>
              <a:ea typeface="Calibri"/>
              <a:cs typeface="Calibri"/>
              <a:sym typeface="Calibri"/>
            </a:endParaRPr>
          </a:p>
        </p:txBody>
      </p:sp>
      <p:sp>
        <p:nvSpPr>
          <p:cNvPr id="112" name="Google Shape;112;p6"/>
          <p:cNvSpPr/>
          <p:nvPr/>
        </p:nvSpPr>
        <p:spPr>
          <a:xfrm>
            <a:off x="457200" y="1600200"/>
            <a:ext cx="8229600" cy="41148"/>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
          <p:cNvSpPr/>
          <p:nvPr/>
        </p:nvSpPr>
        <p:spPr>
          <a:xfrm>
            <a:off x="457200" y="1810512"/>
            <a:ext cx="50292" cy="749808"/>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
          <p:cNvSpPr/>
          <p:nvPr/>
        </p:nvSpPr>
        <p:spPr>
          <a:xfrm>
            <a:off x="658368" y="173736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1200"/>
              <a:buFont typeface="Arial"/>
              <a:buNone/>
            </a:pPr>
            <a:r>
              <a:rPr b="1" i="0" lang="en-US" sz="1200" u="none" cap="none" strike="noStrike">
                <a:solidFill>
                  <a:srgbClr val="C9F44E"/>
                </a:solidFill>
                <a:latin typeface="Arial"/>
                <a:ea typeface="Arial"/>
                <a:cs typeface="Arial"/>
                <a:sym typeface="Arial"/>
              </a:rPr>
              <a:t>The personal training market is growing fast.</a:t>
            </a:r>
            <a:endParaRPr b="0" i="0" sz="1200" u="none" cap="none" strike="noStrike">
              <a:solidFill>
                <a:schemeClr val="dk1"/>
              </a:solidFill>
              <a:latin typeface="Calibri"/>
              <a:ea typeface="Calibri"/>
              <a:cs typeface="Calibri"/>
              <a:sym typeface="Calibri"/>
            </a:endParaRPr>
          </a:p>
        </p:txBody>
      </p:sp>
      <p:sp>
        <p:nvSpPr>
          <p:cNvPr id="115" name="Google Shape;115;p6"/>
          <p:cNvSpPr/>
          <p:nvPr/>
        </p:nvSpPr>
        <p:spPr>
          <a:xfrm>
            <a:off x="658368" y="2084832"/>
            <a:ext cx="786384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200"/>
              <a:buFont typeface="Arial"/>
              <a:buNone/>
            </a:pPr>
            <a:r>
              <a:rPr b="0" i="0" lang="en-US" sz="1200" u="none" cap="none" strike="noStrike">
                <a:solidFill>
                  <a:srgbClr val="E8EEEA"/>
                </a:solidFill>
                <a:latin typeface="Arial"/>
                <a:ea typeface="Arial"/>
                <a:cs typeface="Arial"/>
                <a:sym typeface="Arial"/>
              </a:rPr>
              <a:t>There are 340,000 certified personal trainers working professionally in the United States -- a 21.5% increase since 2012. The fitness industry projects 10% job growth over the next decade. More coaches means more programs, more athletes, more complexity, and more demand for tools that scale.</a:t>
            </a:r>
            <a:endParaRPr b="0" i="0" sz="1200" u="none" cap="none" strike="noStrike">
              <a:solidFill>
                <a:schemeClr val="dk1"/>
              </a:solidFill>
              <a:latin typeface="Calibri"/>
              <a:ea typeface="Calibri"/>
              <a:cs typeface="Calibri"/>
              <a:sym typeface="Calibri"/>
            </a:endParaRPr>
          </a:p>
        </p:txBody>
      </p:sp>
      <p:sp>
        <p:nvSpPr>
          <p:cNvPr id="116" name="Google Shape;116;p6"/>
          <p:cNvSpPr/>
          <p:nvPr/>
        </p:nvSpPr>
        <p:spPr>
          <a:xfrm>
            <a:off x="457200" y="2862072"/>
            <a:ext cx="50292" cy="749808"/>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
          <p:cNvSpPr/>
          <p:nvPr/>
        </p:nvSpPr>
        <p:spPr>
          <a:xfrm>
            <a:off x="658368" y="278892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1200"/>
              <a:buFont typeface="Arial"/>
              <a:buNone/>
            </a:pPr>
            <a:r>
              <a:rPr b="1" i="0" lang="en-US" sz="1200" u="none" cap="none" strike="noStrike">
                <a:solidFill>
                  <a:srgbClr val="C9F44E"/>
                </a:solidFill>
                <a:latin typeface="Arial"/>
                <a:ea typeface="Arial"/>
                <a:cs typeface="Arial"/>
                <a:sym typeface="Arial"/>
              </a:rPr>
              <a:t>College athletics is professionalizing.</a:t>
            </a:r>
            <a:endParaRPr b="0" i="0" sz="1200" u="none" cap="none" strike="noStrike">
              <a:solidFill>
                <a:schemeClr val="dk1"/>
              </a:solidFill>
              <a:latin typeface="Calibri"/>
              <a:ea typeface="Calibri"/>
              <a:cs typeface="Calibri"/>
              <a:sym typeface="Calibri"/>
            </a:endParaRPr>
          </a:p>
        </p:txBody>
      </p:sp>
      <p:sp>
        <p:nvSpPr>
          <p:cNvPr id="118" name="Google Shape;118;p6"/>
          <p:cNvSpPr/>
          <p:nvPr/>
        </p:nvSpPr>
        <p:spPr>
          <a:xfrm>
            <a:off x="658368" y="3136392"/>
            <a:ext cx="786384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200"/>
              <a:buFont typeface="Arial"/>
              <a:buNone/>
            </a:pPr>
            <a:r>
              <a:rPr b="0" i="0" lang="en-US" sz="1200" u="none" cap="none" strike="noStrike">
                <a:solidFill>
                  <a:srgbClr val="E8EEEA"/>
                </a:solidFill>
                <a:latin typeface="Arial"/>
                <a:ea typeface="Arial"/>
                <a:cs typeface="Arial"/>
                <a:sym typeface="Arial"/>
              </a:rPr>
              <a:t>NIL has transformed the incentive structure of college sports. Performance is now a recruiting and branding asset. Athletic departments are expanding S&amp;C staffs and expecting more from them. Coaches are managing more athletes than ever -- with no modern infrastructure to support it.</a:t>
            </a:r>
            <a:endParaRPr b="0" i="0" sz="1200" u="none" cap="none" strike="noStrike">
              <a:solidFill>
                <a:schemeClr val="dk1"/>
              </a:solidFill>
              <a:latin typeface="Calibri"/>
              <a:ea typeface="Calibri"/>
              <a:cs typeface="Calibri"/>
              <a:sym typeface="Calibri"/>
            </a:endParaRPr>
          </a:p>
        </p:txBody>
      </p:sp>
      <p:sp>
        <p:nvSpPr>
          <p:cNvPr id="119" name="Google Shape;119;p6"/>
          <p:cNvSpPr/>
          <p:nvPr/>
        </p:nvSpPr>
        <p:spPr>
          <a:xfrm>
            <a:off x="457200" y="3913632"/>
            <a:ext cx="50292" cy="749808"/>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
          <p:cNvSpPr/>
          <p:nvPr/>
        </p:nvSpPr>
        <p:spPr>
          <a:xfrm>
            <a:off x="658368" y="384048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1200"/>
              <a:buFont typeface="Arial"/>
              <a:buNone/>
            </a:pPr>
            <a:r>
              <a:rPr b="1" i="0" lang="en-US" sz="1200" u="none" cap="none" strike="noStrike">
                <a:solidFill>
                  <a:srgbClr val="C9F44E"/>
                </a:solidFill>
                <a:latin typeface="Arial"/>
                <a:ea typeface="Arial"/>
                <a:cs typeface="Arial"/>
                <a:sym typeface="Arial"/>
              </a:rPr>
              <a:t>Athletes expect modern tools.</a:t>
            </a:r>
            <a:endParaRPr b="0" i="0" sz="1200" u="none" cap="none" strike="noStrike">
              <a:solidFill>
                <a:schemeClr val="dk1"/>
              </a:solidFill>
              <a:latin typeface="Calibri"/>
              <a:ea typeface="Calibri"/>
              <a:cs typeface="Calibri"/>
              <a:sym typeface="Calibri"/>
            </a:endParaRPr>
          </a:p>
        </p:txBody>
      </p:sp>
      <p:sp>
        <p:nvSpPr>
          <p:cNvPr id="121" name="Google Shape;121;p6"/>
          <p:cNvSpPr/>
          <p:nvPr/>
        </p:nvSpPr>
        <p:spPr>
          <a:xfrm>
            <a:off x="658368" y="4187952"/>
            <a:ext cx="786384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200"/>
              <a:buFont typeface="Arial"/>
              <a:buNone/>
            </a:pPr>
            <a:r>
              <a:rPr b="0" i="0" lang="en-US" sz="1200" u="none" cap="none" strike="noStrike">
                <a:solidFill>
                  <a:srgbClr val="E8EEEA"/>
                </a:solidFill>
                <a:latin typeface="Arial"/>
                <a:ea typeface="Arial"/>
                <a:cs typeface="Arial"/>
                <a:sym typeface="Arial"/>
              </a:rPr>
              <a:t>The generation of athletes now in college grew up with Strava, Whoop, and Garmin. They track everything. The gap between the tech they use everywhere else and the tech they use in the weight room has never been wider -- and the contrast is starting to matter for recruiting.</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126" name="Shape 126"/>
        <p:cNvGrpSpPr/>
        <p:nvPr/>
      </p:nvGrpSpPr>
      <p:grpSpPr>
        <a:xfrm>
          <a:off x="0" y="0"/>
          <a:ext cx="0" cy="0"/>
          <a:chOff x="0" y="0"/>
          <a:chExt cx="0" cy="0"/>
        </a:xfrm>
      </p:grpSpPr>
      <p:sp>
        <p:nvSpPr>
          <p:cNvPr id="127" name="Google Shape;127;p7"/>
          <p:cNvSpPr/>
          <p:nvPr/>
        </p:nvSpPr>
        <p:spPr>
          <a:xfrm>
            <a:off x="457200" y="2011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SOLUTION</a:t>
            </a:r>
            <a:endParaRPr b="0" i="0" sz="900" u="none" cap="none" strike="noStrike">
              <a:solidFill>
                <a:schemeClr val="dk1"/>
              </a:solidFill>
              <a:latin typeface="Calibri"/>
              <a:ea typeface="Calibri"/>
              <a:cs typeface="Calibri"/>
              <a:sym typeface="Calibri"/>
            </a:endParaRPr>
          </a:p>
        </p:txBody>
      </p:sp>
      <p:sp>
        <p:nvSpPr>
          <p:cNvPr id="128" name="Google Shape;128;p7"/>
          <p:cNvSpPr/>
          <p:nvPr/>
        </p:nvSpPr>
        <p:spPr>
          <a:xfrm>
            <a:off x="457200" y="502920"/>
            <a:ext cx="8229600" cy="1005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3000"/>
              <a:buFont typeface="Bebas Neue"/>
              <a:buNone/>
            </a:pPr>
            <a:r>
              <a:rPr b="0" i="0" lang="en-US" sz="3000" u="none" cap="none" strike="noStrike">
                <a:solidFill>
                  <a:srgbClr val="FFFFFF"/>
                </a:solidFill>
                <a:latin typeface="Bebas Neue"/>
                <a:ea typeface="Bebas Neue"/>
                <a:cs typeface="Bebas Neue"/>
                <a:sym typeface="Bebas Neue"/>
              </a:rPr>
              <a:t>Freeweight eliminates the spreadsheet on both sides.</a:t>
            </a:r>
            <a:endParaRPr b="0" i="0" sz="3000" u="none" cap="none" strike="noStrike">
              <a:solidFill>
                <a:schemeClr val="dk1"/>
              </a:solidFill>
              <a:latin typeface="Calibri"/>
              <a:ea typeface="Calibri"/>
              <a:cs typeface="Calibri"/>
              <a:sym typeface="Calibri"/>
            </a:endParaRPr>
          </a:p>
        </p:txBody>
      </p:sp>
      <p:sp>
        <p:nvSpPr>
          <p:cNvPr id="129" name="Google Shape;129;p7"/>
          <p:cNvSpPr/>
          <p:nvPr/>
        </p:nvSpPr>
        <p:spPr>
          <a:xfrm>
            <a:off x="457200" y="1600200"/>
            <a:ext cx="8229600" cy="41148"/>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7"/>
          <p:cNvSpPr/>
          <p:nvPr/>
        </p:nvSpPr>
        <p:spPr>
          <a:xfrm>
            <a:off x="457200" y="1719072"/>
            <a:ext cx="82296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300"/>
              <a:buFont typeface="Arial"/>
              <a:buNone/>
            </a:pPr>
            <a:r>
              <a:rPr b="0" i="0" lang="en-US" sz="1300" u="none" cap="none" strike="noStrike">
                <a:solidFill>
                  <a:srgbClr val="E8EEEA"/>
                </a:solidFill>
                <a:latin typeface="Arial"/>
                <a:ea typeface="Arial"/>
                <a:cs typeface="Arial"/>
                <a:sym typeface="Arial"/>
              </a:rPr>
              <a:t>Freeweight is a two-sided platform: coaches build programs using percentage-based logic, and athletes receive perfectly calculated, personalized workouts automatically. Neither side has to do the math, and both sides stay in sync.</a:t>
            </a:r>
            <a:endParaRPr b="0" i="0" sz="1300" u="none" cap="none" strike="noStrike">
              <a:solidFill>
                <a:schemeClr val="dk1"/>
              </a:solidFill>
              <a:latin typeface="Calibri"/>
              <a:ea typeface="Calibri"/>
              <a:cs typeface="Calibri"/>
              <a:sym typeface="Calibri"/>
            </a:endParaRPr>
          </a:p>
        </p:txBody>
      </p:sp>
      <p:sp>
        <p:nvSpPr>
          <p:cNvPr id="131" name="Google Shape;131;p7"/>
          <p:cNvSpPr/>
          <p:nvPr/>
        </p:nvSpPr>
        <p:spPr>
          <a:xfrm>
            <a:off x="457200" y="2788920"/>
            <a:ext cx="1920240" cy="2194560"/>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7"/>
          <p:cNvSpPr/>
          <p:nvPr/>
        </p:nvSpPr>
        <p:spPr>
          <a:xfrm>
            <a:off x="594360" y="2907792"/>
            <a:ext cx="5486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2600"/>
              <a:buFont typeface="Bebas Neue"/>
              <a:buNone/>
            </a:pPr>
            <a:r>
              <a:rPr b="0" i="0" lang="en-US" sz="2600" u="none" cap="none" strike="noStrike">
                <a:solidFill>
                  <a:srgbClr val="C9F44E"/>
                </a:solidFill>
                <a:latin typeface="Bebas Neue"/>
                <a:ea typeface="Bebas Neue"/>
                <a:cs typeface="Bebas Neue"/>
                <a:sym typeface="Bebas Neue"/>
              </a:rPr>
              <a:t>01</a:t>
            </a:r>
            <a:endParaRPr b="0" i="0" sz="2600" u="none" cap="none" strike="noStrike">
              <a:solidFill>
                <a:schemeClr val="dk1"/>
              </a:solidFill>
              <a:latin typeface="Calibri"/>
              <a:ea typeface="Calibri"/>
              <a:cs typeface="Calibri"/>
              <a:sym typeface="Calibri"/>
            </a:endParaRPr>
          </a:p>
        </p:txBody>
      </p:sp>
      <p:sp>
        <p:nvSpPr>
          <p:cNvPr id="133" name="Google Shape;133;p7"/>
          <p:cNvSpPr/>
          <p:nvPr/>
        </p:nvSpPr>
        <p:spPr>
          <a:xfrm>
            <a:off x="594360" y="3364992"/>
            <a:ext cx="164592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Coach builds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the program</a:t>
            </a:r>
            <a:endParaRPr b="0" i="0" sz="1200" u="none" cap="none" strike="noStrike">
              <a:solidFill>
                <a:schemeClr val="dk1"/>
              </a:solidFill>
              <a:latin typeface="Calibri"/>
              <a:ea typeface="Calibri"/>
              <a:cs typeface="Calibri"/>
              <a:sym typeface="Calibri"/>
            </a:endParaRPr>
          </a:p>
        </p:txBody>
      </p:sp>
      <p:sp>
        <p:nvSpPr>
          <p:cNvPr id="134" name="Google Shape;134;p7"/>
          <p:cNvSpPr/>
          <p:nvPr/>
        </p:nvSpPr>
        <p:spPr>
          <a:xfrm>
            <a:off x="594360" y="4096512"/>
            <a:ext cx="1645920"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7A8A7E"/>
              </a:buClr>
              <a:buSzPts val="1000"/>
              <a:buFont typeface="Arial"/>
              <a:buNone/>
            </a:pPr>
            <a:r>
              <a:rPr b="0" i="0" lang="en-US" sz="1000" u="none" cap="none" strike="noStrike">
                <a:solidFill>
                  <a:srgbClr val="7A8A7E"/>
                </a:solidFill>
                <a:latin typeface="Arial"/>
                <a:ea typeface="Arial"/>
                <a:cs typeface="Arial"/>
                <a:sym typeface="Arial"/>
              </a:rPr>
              <a:t>Sets exercises, sets, reps, and percentages of each athlete's recorded maxes. Written once for the whole team or tailored by athlete.</a:t>
            </a:r>
            <a:endParaRPr b="0" i="0" sz="1000" u="none" cap="none" strike="noStrike">
              <a:solidFill>
                <a:schemeClr val="dk1"/>
              </a:solidFill>
              <a:latin typeface="Calibri"/>
              <a:ea typeface="Calibri"/>
              <a:cs typeface="Calibri"/>
              <a:sym typeface="Calibri"/>
            </a:endParaRPr>
          </a:p>
        </p:txBody>
      </p:sp>
      <p:sp>
        <p:nvSpPr>
          <p:cNvPr id="135" name="Google Shape;135;p7"/>
          <p:cNvSpPr/>
          <p:nvPr/>
        </p:nvSpPr>
        <p:spPr>
          <a:xfrm>
            <a:off x="2377440" y="3566160"/>
            <a:ext cx="1828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F44E"/>
              </a:buClr>
              <a:buSzPts val="1600"/>
              <a:buFont typeface="Bebas Neue"/>
              <a:buNone/>
            </a:pPr>
            <a:r>
              <a:rPr b="0" i="0" lang="en-US" sz="1600" u="none" cap="none" strike="noStrike">
                <a:solidFill>
                  <a:srgbClr val="C9F44E"/>
                </a:solidFill>
                <a:latin typeface="Bebas Neue"/>
                <a:ea typeface="Bebas Neue"/>
                <a:cs typeface="Bebas Neue"/>
                <a:sym typeface="Bebas Neue"/>
              </a:rPr>
              <a:t>&gt;</a:t>
            </a:r>
            <a:endParaRPr b="0" i="0" sz="1600" u="none" cap="none" strike="noStrike">
              <a:solidFill>
                <a:schemeClr val="dk1"/>
              </a:solidFill>
              <a:latin typeface="Calibri"/>
              <a:ea typeface="Calibri"/>
              <a:cs typeface="Calibri"/>
              <a:sym typeface="Calibri"/>
            </a:endParaRPr>
          </a:p>
        </p:txBody>
      </p:sp>
      <p:sp>
        <p:nvSpPr>
          <p:cNvPr id="136" name="Google Shape;136;p7"/>
          <p:cNvSpPr/>
          <p:nvPr/>
        </p:nvSpPr>
        <p:spPr>
          <a:xfrm>
            <a:off x="2560320" y="2788920"/>
            <a:ext cx="1920240" cy="2194560"/>
          </a:xfrm>
          <a:prstGeom prst="rect">
            <a:avLst/>
          </a:prstGeom>
          <a:solidFill>
            <a:srgbClr val="22282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7"/>
          <p:cNvSpPr/>
          <p:nvPr/>
        </p:nvSpPr>
        <p:spPr>
          <a:xfrm>
            <a:off x="2560320" y="2788920"/>
            <a:ext cx="1920240" cy="50292"/>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7"/>
          <p:cNvSpPr/>
          <p:nvPr/>
        </p:nvSpPr>
        <p:spPr>
          <a:xfrm>
            <a:off x="2697480" y="2907792"/>
            <a:ext cx="5486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2600"/>
              <a:buFont typeface="Bebas Neue"/>
              <a:buNone/>
            </a:pPr>
            <a:r>
              <a:rPr b="0" i="0" lang="en-US" sz="2600" u="none" cap="none" strike="noStrike">
                <a:solidFill>
                  <a:srgbClr val="C9F44E"/>
                </a:solidFill>
                <a:latin typeface="Bebas Neue"/>
                <a:ea typeface="Bebas Neue"/>
                <a:cs typeface="Bebas Neue"/>
                <a:sym typeface="Bebas Neue"/>
              </a:rPr>
              <a:t>02</a:t>
            </a:r>
            <a:endParaRPr b="0" i="0" sz="2600" u="none" cap="none" strike="noStrike">
              <a:solidFill>
                <a:schemeClr val="dk1"/>
              </a:solidFill>
              <a:latin typeface="Calibri"/>
              <a:ea typeface="Calibri"/>
              <a:cs typeface="Calibri"/>
              <a:sym typeface="Calibri"/>
            </a:endParaRPr>
          </a:p>
        </p:txBody>
      </p:sp>
      <p:sp>
        <p:nvSpPr>
          <p:cNvPr id="139" name="Google Shape;139;p7"/>
          <p:cNvSpPr/>
          <p:nvPr/>
        </p:nvSpPr>
        <p:spPr>
          <a:xfrm>
            <a:off x="2697480" y="3364992"/>
            <a:ext cx="164592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Freeweight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calculates weights</a:t>
            </a:r>
            <a:endParaRPr b="0" i="0" sz="1200" u="none" cap="none" strike="noStrike">
              <a:solidFill>
                <a:schemeClr val="dk1"/>
              </a:solidFill>
              <a:latin typeface="Calibri"/>
              <a:ea typeface="Calibri"/>
              <a:cs typeface="Calibri"/>
              <a:sym typeface="Calibri"/>
            </a:endParaRPr>
          </a:p>
        </p:txBody>
      </p:sp>
      <p:sp>
        <p:nvSpPr>
          <p:cNvPr id="140" name="Google Shape;140;p7"/>
          <p:cNvSpPr/>
          <p:nvPr/>
        </p:nvSpPr>
        <p:spPr>
          <a:xfrm>
            <a:off x="2697480" y="4096512"/>
            <a:ext cx="1645920"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7A8A7E"/>
              </a:buClr>
              <a:buSzPts val="1000"/>
              <a:buFont typeface="Arial"/>
              <a:buNone/>
            </a:pPr>
            <a:r>
              <a:rPr b="0" i="0" lang="en-US" sz="1000" u="none" cap="none" strike="noStrike">
                <a:solidFill>
                  <a:srgbClr val="7A8A7E"/>
                </a:solidFill>
                <a:latin typeface="Arial"/>
                <a:ea typeface="Arial"/>
                <a:cs typeface="Arial"/>
                <a:sym typeface="Arial"/>
              </a:rPr>
              <a:t>The app reads each athlete's maxes on file and auto-calculates their exact working weights. No math required by anyone.</a:t>
            </a:r>
            <a:endParaRPr b="0" i="0" sz="1000" u="none" cap="none" strike="noStrike">
              <a:solidFill>
                <a:schemeClr val="dk1"/>
              </a:solidFill>
              <a:latin typeface="Calibri"/>
              <a:ea typeface="Calibri"/>
              <a:cs typeface="Calibri"/>
              <a:sym typeface="Calibri"/>
            </a:endParaRPr>
          </a:p>
        </p:txBody>
      </p:sp>
      <p:sp>
        <p:nvSpPr>
          <p:cNvPr id="141" name="Google Shape;141;p7"/>
          <p:cNvSpPr/>
          <p:nvPr/>
        </p:nvSpPr>
        <p:spPr>
          <a:xfrm>
            <a:off x="4480560" y="3566160"/>
            <a:ext cx="1828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F44E"/>
              </a:buClr>
              <a:buSzPts val="1600"/>
              <a:buFont typeface="Bebas Neue"/>
              <a:buNone/>
            </a:pPr>
            <a:r>
              <a:rPr b="0" i="0" lang="en-US" sz="1600" u="none" cap="none" strike="noStrike">
                <a:solidFill>
                  <a:srgbClr val="C9F44E"/>
                </a:solidFill>
                <a:latin typeface="Bebas Neue"/>
                <a:ea typeface="Bebas Neue"/>
                <a:cs typeface="Bebas Neue"/>
                <a:sym typeface="Bebas Neue"/>
              </a:rPr>
              <a:t>&gt;</a:t>
            </a:r>
            <a:endParaRPr b="0" i="0" sz="1600" u="none" cap="none" strike="noStrike">
              <a:solidFill>
                <a:schemeClr val="dk1"/>
              </a:solidFill>
              <a:latin typeface="Calibri"/>
              <a:ea typeface="Calibri"/>
              <a:cs typeface="Calibri"/>
              <a:sym typeface="Calibri"/>
            </a:endParaRPr>
          </a:p>
        </p:txBody>
      </p:sp>
      <p:sp>
        <p:nvSpPr>
          <p:cNvPr id="142" name="Google Shape;142;p7"/>
          <p:cNvSpPr/>
          <p:nvPr/>
        </p:nvSpPr>
        <p:spPr>
          <a:xfrm>
            <a:off x="4663440" y="2788920"/>
            <a:ext cx="1920240" cy="2194560"/>
          </a:xfrm>
          <a:prstGeom prst="rect">
            <a:avLst/>
          </a:prstGeom>
          <a:solidFill>
            <a:srgbClr val="22282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7"/>
          <p:cNvSpPr/>
          <p:nvPr/>
        </p:nvSpPr>
        <p:spPr>
          <a:xfrm>
            <a:off x="4663440" y="2788920"/>
            <a:ext cx="1920240" cy="50292"/>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7"/>
          <p:cNvSpPr/>
          <p:nvPr/>
        </p:nvSpPr>
        <p:spPr>
          <a:xfrm>
            <a:off x="4800600" y="2907792"/>
            <a:ext cx="5486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2600"/>
              <a:buFont typeface="Bebas Neue"/>
              <a:buNone/>
            </a:pPr>
            <a:r>
              <a:rPr b="0" i="0" lang="en-US" sz="2600" u="none" cap="none" strike="noStrike">
                <a:solidFill>
                  <a:srgbClr val="C9F44E"/>
                </a:solidFill>
                <a:latin typeface="Bebas Neue"/>
                <a:ea typeface="Bebas Neue"/>
                <a:cs typeface="Bebas Neue"/>
                <a:sym typeface="Bebas Neue"/>
              </a:rPr>
              <a:t>03</a:t>
            </a:r>
            <a:endParaRPr b="0" i="0" sz="2600" u="none" cap="none" strike="noStrike">
              <a:solidFill>
                <a:schemeClr val="dk1"/>
              </a:solidFill>
              <a:latin typeface="Calibri"/>
              <a:ea typeface="Calibri"/>
              <a:cs typeface="Calibri"/>
              <a:sym typeface="Calibri"/>
            </a:endParaRPr>
          </a:p>
        </p:txBody>
      </p:sp>
      <p:sp>
        <p:nvSpPr>
          <p:cNvPr id="145" name="Google Shape;145;p7"/>
          <p:cNvSpPr/>
          <p:nvPr/>
        </p:nvSpPr>
        <p:spPr>
          <a:xfrm>
            <a:off x="4800600" y="3364992"/>
            <a:ext cx="164592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Athlete opens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and lifts</a:t>
            </a:r>
            <a:endParaRPr b="0" i="0" sz="1200" u="none" cap="none" strike="noStrike">
              <a:solidFill>
                <a:schemeClr val="dk1"/>
              </a:solidFill>
              <a:latin typeface="Calibri"/>
              <a:ea typeface="Calibri"/>
              <a:cs typeface="Calibri"/>
              <a:sym typeface="Calibri"/>
            </a:endParaRPr>
          </a:p>
        </p:txBody>
      </p:sp>
      <p:sp>
        <p:nvSpPr>
          <p:cNvPr id="146" name="Google Shape;146;p7"/>
          <p:cNvSpPr/>
          <p:nvPr/>
        </p:nvSpPr>
        <p:spPr>
          <a:xfrm>
            <a:off x="4800600" y="4096512"/>
            <a:ext cx="1645920"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7A8A7E"/>
              </a:buClr>
              <a:buSzPts val="1000"/>
              <a:buFont typeface="Arial"/>
              <a:buNone/>
            </a:pPr>
            <a:r>
              <a:rPr b="0" i="0" lang="en-US" sz="1000" u="none" cap="none" strike="noStrike">
                <a:solidFill>
                  <a:srgbClr val="7A8A7E"/>
                </a:solidFill>
                <a:latin typeface="Arial"/>
                <a:ea typeface="Arial"/>
                <a:cs typeface="Arial"/>
                <a:sym typeface="Arial"/>
              </a:rPr>
              <a:t>Weights are pre-calculated. The athlete logs sets, flags modifications, and records RPE in a few taps.</a:t>
            </a:r>
            <a:endParaRPr b="0" i="0" sz="1000" u="none" cap="none" strike="noStrike">
              <a:solidFill>
                <a:schemeClr val="dk1"/>
              </a:solidFill>
              <a:latin typeface="Calibri"/>
              <a:ea typeface="Calibri"/>
              <a:cs typeface="Calibri"/>
              <a:sym typeface="Calibri"/>
            </a:endParaRPr>
          </a:p>
        </p:txBody>
      </p:sp>
      <p:sp>
        <p:nvSpPr>
          <p:cNvPr id="147" name="Google Shape;147;p7"/>
          <p:cNvSpPr/>
          <p:nvPr/>
        </p:nvSpPr>
        <p:spPr>
          <a:xfrm>
            <a:off x="6583680" y="3566160"/>
            <a:ext cx="1828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F44E"/>
              </a:buClr>
              <a:buSzPts val="1600"/>
              <a:buFont typeface="Bebas Neue"/>
              <a:buNone/>
            </a:pPr>
            <a:r>
              <a:rPr b="0" i="0" lang="en-US" sz="1600" u="none" cap="none" strike="noStrike">
                <a:solidFill>
                  <a:srgbClr val="C9F44E"/>
                </a:solidFill>
                <a:latin typeface="Bebas Neue"/>
                <a:ea typeface="Bebas Neue"/>
                <a:cs typeface="Bebas Neue"/>
                <a:sym typeface="Bebas Neue"/>
              </a:rPr>
              <a:t>&gt;</a:t>
            </a:r>
            <a:endParaRPr b="0" i="0" sz="1600" u="none" cap="none" strike="noStrike">
              <a:solidFill>
                <a:schemeClr val="dk1"/>
              </a:solidFill>
              <a:latin typeface="Calibri"/>
              <a:ea typeface="Calibri"/>
              <a:cs typeface="Calibri"/>
              <a:sym typeface="Calibri"/>
            </a:endParaRPr>
          </a:p>
        </p:txBody>
      </p:sp>
      <p:sp>
        <p:nvSpPr>
          <p:cNvPr id="148" name="Google Shape;148;p7"/>
          <p:cNvSpPr/>
          <p:nvPr/>
        </p:nvSpPr>
        <p:spPr>
          <a:xfrm>
            <a:off x="6766560" y="2788920"/>
            <a:ext cx="1920240" cy="2194560"/>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7"/>
          <p:cNvSpPr/>
          <p:nvPr/>
        </p:nvSpPr>
        <p:spPr>
          <a:xfrm>
            <a:off x="6903720" y="2907792"/>
            <a:ext cx="5486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2600"/>
              <a:buFont typeface="Bebas Neue"/>
              <a:buNone/>
            </a:pPr>
            <a:r>
              <a:rPr b="0" i="0" lang="en-US" sz="2600" u="none" cap="none" strike="noStrike">
                <a:solidFill>
                  <a:srgbClr val="C9F44E"/>
                </a:solidFill>
                <a:latin typeface="Bebas Neue"/>
                <a:ea typeface="Bebas Neue"/>
                <a:cs typeface="Bebas Neue"/>
                <a:sym typeface="Bebas Neue"/>
              </a:rPr>
              <a:t>04</a:t>
            </a:r>
            <a:endParaRPr b="0" i="0" sz="2600" u="none" cap="none" strike="noStrike">
              <a:solidFill>
                <a:schemeClr val="dk1"/>
              </a:solidFill>
              <a:latin typeface="Calibri"/>
              <a:ea typeface="Calibri"/>
              <a:cs typeface="Calibri"/>
              <a:sym typeface="Calibri"/>
            </a:endParaRPr>
          </a:p>
        </p:txBody>
      </p:sp>
      <p:sp>
        <p:nvSpPr>
          <p:cNvPr id="150" name="Google Shape;150;p7"/>
          <p:cNvSpPr/>
          <p:nvPr/>
        </p:nvSpPr>
        <p:spPr>
          <a:xfrm>
            <a:off x="6903720" y="3364992"/>
            <a:ext cx="164592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Coach sees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everything</a:t>
            </a:r>
            <a:endParaRPr b="0" i="0" sz="1200" u="none" cap="none" strike="noStrike">
              <a:solidFill>
                <a:schemeClr val="dk1"/>
              </a:solidFill>
              <a:latin typeface="Calibri"/>
              <a:ea typeface="Calibri"/>
              <a:cs typeface="Calibri"/>
              <a:sym typeface="Calibri"/>
            </a:endParaRPr>
          </a:p>
        </p:txBody>
      </p:sp>
      <p:sp>
        <p:nvSpPr>
          <p:cNvPr id="151" name="Google Shape;151;p7"/>
          <p:cNvSpPr/>
          <p:nvPr/>
        </p:nvSpPr>
        <p:spPr>
          <a:xfrm>
            <a:off x="6903720" y="4096512"/>
            <a:ext cx="1645920"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7A8A7E"/>
              </a:buClr>
              <a:buSzPts val="1000"/>
              <a:buFont typeface="Arial"/>
              <a:buNone/>
            </a:pPr>
            <a:r>
              <a:rPr b="0" i="0" lang="en-US" sz="1000" u="none" cap="none" strike="noStrike">
                <a:solidFill>
                  <a:srgbClr val="7A8A7E"/>
                </a:solidFill>
                <a:latin typeface="Arial"/>
                <a:ea typeface="Arial"/>
                <a:cs typeface="Arial"/>
                <a:sym typeface="Arial"/>
              </a:rPr>
              <a:t>Completion, modifications, and progress are visible in real time on the coach dashboard. No chasing required.</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156" name="Shape 156"/>
        <p:cNvGrpSpPr/>
        <p:nvPr/>
      </p:nvGrpSpPr>
      <p:grpSpPr>
        <a:xfrm>
          <a:off x="0" y="0"/>
          <a:ext cx="0" cy="0"/>
          <a:chOff x="0" y="0"/>
          <a:chExt cx="0" cy="0"/>
        </a:xfrm>
      </p:grpSpPr>
      <p:sp>
        <p:nvSpPr>
          <p:cNvPr id="157" name="Google Shape;157;p8"/>
          <p:cNvSpPr/>
          <p:nvPr/>
        </p:nvSpPr>
        <p:spPr>
          <a:xfrm>
            <a:off x="457200" y="2011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PRODUCT</a:t>
            </a:r>
            <a:endParaRPr b="0" i="0" sz="900" u="none" cap="none" strike="noStrike">
              <a:solidFill>
                <a:schemeClr val="dk1"/>
              </a:solidFill>
              <a:latin typeface="Calibri"/>
              <a:ea typeface="Calibri"/>
              <a:cs typeface="Calibri"/>
              <a:sym typeface="Calibri"/>
            </a:endParaRPr>
          </a:p>
        </p:txBody>
      </p:sp>
      <p:sp>
        <p:nvSpPr>
          <p:cNvPr id="158" name="Google Shape;158;p8"/>
          <p:cNvSpPr/>
          <p:nvPr/>
        </p:nvSpPr>
        <p:spPr>
          <a:xfrm>
            <a:off x="457200" y="502920"/>
            <a:ext cx="8229600" cy="1005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2400"/>
              <a:buFont typeface="Bebas Neue"/>
              <a:buNone/>
            </a:pPr>
            <a:r>
              <a:rPr b="0" i="0" lang="en-US" sz="2400" u="none" cap="none" strike="noStrike">
                <a:solidFill>
                  <a:srgbClr val="FFFFFF"/>
                </a:solidFill>
                <a:latin typeface="Bebas Neue"/>
                <a:ea typeface="Bebas Neue"/>
                <a:cs typeface="Bebas Neue"/>
                <a:sym typeface="Bebas Neue"/>
              </a:rPr>
              <a:t>The aha moment: weights are already calculated when you open the app.</a:t>
            </a:r>
            <a:endParaRPr b="0" i="0" sz="2400" u="none" cap="none" strike="noStrike">
              <a:solidFill>
                <a:schemeClr val="dk1"/>
              </a:solidFill>
              <a:latin typeface="Calibri"/>
              <a:ea typeface="Calibri"/>
              <a:cs typeface="Calibri"/>
              <a:sym typeface="Calibri"/>
            </a:endParaRPr>
          </a:p>
        </p:txBody>
      </p:sp>
      <p:sp>
        <p:nvSpPr>
          <p:cNvPr id="159" name="Google Shape;159;p8"/>
          <p:cNvSpPr/>
          <p:nvPr/>
        </p:nvSpPr>
        <p:spPr>
          <a:xfrm>
            <a:off x="457200" y="1600200"/>
            <a:ext cx="8229600" cy="41148"/>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
          <p:cNvSpPr/>
          <p:nvPr/>
        </p:nvSpPr>
        <p:spPr>
          <a:xfrm>
            <a:off x="457200" y="1719072"/>
            <a:ext cx="8229600" cy="2743200"/>
          </a:xfrm>
          <a:prstGeom prst="rect">
            <a:avLst/>
          </a:prstGeom>
          <a:solidFill>
            <a:srgbClr val="22282E"/>
          </a:solidFill>
          <a:ln cap="flat" cmpd="sng" w="254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8"/>
          <p:cNvSpPr/>
          <p:nvPr/>
        </p:nvSpPr>
        <p:spPr>
          <a:xfrm>
            <a:off x="457200" y="1719072"/>
            <a:ext cx="8229600" cy="2743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A8A7E"/>
              </a:buClr>
              <a:buSzPts val="2800"/>
              <a:buFont typeface="Bebas Neue"/>
              <a:buNone/>
            </a:pPr>
            <a:r>
              <a:rPr b="0" i="0" lang="en-US" sz="2800" u="none" cap="none" strike="noStrike">
                <a:solidFill>
                  <a:srgbClr val="7A8A7E"/>
                </a:solidFill>
                <a:latin typeface="Bebas Neue"/>
                <a:ea typeface="Bebas Neue"/>
                <a:cs typeface="Bebas Neue"/>
                <a:sym typeface="Bebas Neue"/>
              </a:rPr>
              <a:t>Coach programs once. Weights auto-calculate per athlete. Athletes log in one tap. Coaches see everything.</a:t>
            </a:r>
            <a:endParaRPr b="0" i="0" sz="2800" u="none" cap="none" strike="noStrike">
              <a:solidFill>
                <a:schemeClr val="dk1"/>
              </a:solidFill>
              <a:latin typeface="Calibri"/>
              <a:ea typeface="Calibri"/>
              <a:cs typeface="Calibri"/>
              <a:sym typeface="Calibri"/>
            </a:endParaRPr>
          </a:p>
        </p:txBody>
      </p:sp>
      <p:sp>
        <p:nvSpPr>
          <p:cNvPr id="162" name="Google Shape;162;p8"/>
          <p:cNvSpPr/>
          <p:nvPr/>
        </p:nvSpPr>
        <p:spPr>
          <a:xfrm>
            <a:off x="457275" y="4517138"/>
            <a:ext cx="19203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1100"/>
              <a:buFont typeface="Arial"/>
              <a:buNone/>
            </a:pPr>
            <a:r>
              <a:rPr b="1" i="0" lang="en-US" sz="1100" u="none" cap="none" strike="noStrike">
                <a:solidFill>
                  <a:srgbClr val="C9F44E"/>
                </a:solidFill>
                <a:latin typeface="Arial"/>
                <a:ea typeface="Arial"/>
                <a:cs typeface="Arial"/>
                <a:sym typeface="Arial"/>
              </a:rPr>
              <a:t>Coach dashboard</a:t>
            </a:r>
            <a:endParaRPr b="0" i="0" sz="1100" u="none" cap="none" strike="noStrike">
              <a:solidFill>
                <a:schemeClr val="dk1"/>
              </a:solidFill>
              <a:latin typeface="Calibri"/>
              <a:ea typeface="Calibri"/>
              <a:cs typeface="Calibri"/>
              <a:sym typeface="Calibri"/>
            </a:endParaRPr>
          </a:p>
        </p:txBody>
      </p:sp>
      <p:sp>
        <p:nvSpPr>
          <p:cNvPr id="163" name="Google Shape;163;p8"/>
          <p:cNvSpPr/>
          <p:nvPr/>
        </p:nvSpPr>
        <p:spPr>
          <a:xfrm>
            <a:off x="457225" y="4791345"/>
            <a:ext cx="19203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A7E"/>
              </a:buClr>
              <a:buSzPts val="1000"/>
              <a:buFont typeface="Arial"/>
              <a:buNone/>
            </a:pPr>
            <a:r>
              <a:rPr b="0" i="0" lang="en-US" sz="1000" u="none" cap="none" strike="noStrike">
                <a:solidFill>
                  <a:srgbClr val="7A8A7E"/>
                </a:solidFill>
                <a:latin typeface="Arial"/>
                <a:ea typeface="Arial"/>
                <a:cs typeface="Arial"/>
                <a:sym typeface="Arial"/>
              </a:rPr>
              <a:t>Live completion view across all teams and athletes.</a:t>
            </a:r>
            <a:endParaRPr b="0" i="0" sz="1000" u="none" cap="none" strike="noStrike">
              <a:solidFill>
                <a:schemeClr val="dk1"/>
              </a:solidFill>
              <a:latin typeface="Calibri"/>
              <a:ea typeface="Calibri"/>
              <a:cs typeface="Calibri"/>
              <a:sym typeface="Calibri"/>
            </a:endParaRPr>
          </a:p>
        </p:txBody>
      </p:sp>
      <p:sp>
        <p:nvSpPr>
          <p:cNvPr id="164" name="Google Shape;164;p8"/>
          <p:cNvSpPr/>
          <p:nvPr/>
        </p:nvSpPr>
        <p:spPr>
          <a:xfrm>
            <a:off x="2560320" y="4540000"/>
            <a:ext cx="19203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1100"/>
              <a:buFont typeface="Arial"/>
              <a:buNone/>
            </a:pPr>
            <a:r>
              <a:rPr b="1" i="0" lang="en-US" sz="1100" u="none" cap="none" strike="noStrike">
                <a:solidFill>
                  <a:srgbClr val="C9F44E"/>
                </a:solidFill>
                <a:latin typeface="Arial"/>
                <a:ea typeface="Arial"/>
                <a:cs typeface="Arial"/>
                <a:sym typeface="Arial"/>
              </a:rPr>
              <a:t>Auto-calculation</a:t>
            </a:r>
            <a:endParaRPr b="0" i="0" sz="1100" u="none" cap="none" strike="noStrike">
              <a:solidFill>
                <a:schemeClr val="dk1"/>
              </a:solidFill>
              <a:latin typeface="Calibri"/>
              <a:ea typeface="Calibri"/>
              <a:cs typeface="Calibri"/>
              <a:sym typeface="Calibri"/>
            </a:endParaRPr>
          </a:p>
        </p:txBody>
      </p:sp>
      <p:sp>
        <p:nvSpPr>
          <p:cNvPr id="165" name="Google Shape;165;p8"/>
          <p:cNvSpPr/>
          <p:nvPr/>
        </p:nvSpPr>
        <p:spPr>
          <a:xfrm>
            <a:off x="2560320" y="4791408"/>
            <a:ext cx="19203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A7E"/>
              </a:buClr>
              <a:buSzPts val="1000"/>
              <a:buFont typeface="Arial"/>
              <a:buNone/>
            </a:pPr>
            <a:r>
              <a:rPr b="0" i="0" lang="en-US" sz="1000" u="none" cap="none" strike="noStrike">
                <a:solidFill>
                  <a:srgbClr val="7A8A7E"/>
                </a:solidFill>
                <a:latin typeface="Arial"/>
                <a:ea typeface="Arial"/>
                <a:cs typeface="Arial"/>
                <a:sym typeface="Arial"/>
              </a:rPr>
              <a:t>Weights derived from recorded maxes, updated automatically.</a:t>
            </a:r>
            <a:endParaRPr b="0" i="0" sz="1000" u="none" cap="none" strike="noStrike">
              <a:solidFill>
                <a:schemeClr val="dk1"/>
              </a:solidFill>
              <a:latin typeface="Calibri"/>
              <a:ea typeface="Calibri"/>
              <a:cs typeface="Calibri"/>
              <a:sym typeface="Calibri"/>
            </a:endParaRPr>
          </a:p>
        </p:txBody>
      </p:sp>
      <p:sp>
        <p:nvSpPr>
          <p:cNvPr id="166" name="Google Shape;166;p8"/>
          <p:cNvSpPr/>
          <p:nvPr/>
        </p:nvSpPr>
        <p:spPr>
          <a:xfrm>
            <a:off x="4663428" y="4517138"/>
            <a:ext cx="19203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1100"/>
              <a:buFont typeface="Arial"/>
              <a:buNone/>
            </a:pPr>
            <a:r>
              <a:rPr b="1" i="0" lang="en-US" sz="1100" u="none" cap="none" strike="noStrike">
                <a:solidFill>
                  <a:srgbClr val="C9F44E"/>
                </a:solidFill>
                <a:latin typeface="Arial"/>
                <a:ea typeface="Arial"/>
                <a:cs typeface="Arial"/>
                <a:sym typeface="Arial"/>
              </a:rPr>
              <a:t>One-tap logging</a:t>
            </a:r>
            <a:endParaRPr b="0" i="0" sz="1100" u="none" cap="none" strike="noStrike">
              <a:solidFill>
                <a:schemeClr val="dk1"/>
              </a:solidFill>
              <a:latin typeface="Calibri"/>
              <a:ea typeface="Calibri"/>
              <a:cs typeface="Calibri"/>
              <a:sym typeface="Calibri"/>
            </a:endParaRPr>
          </a:p>
        </p:txBody>
      </p:sp>
      <p:sp>
        <p:nvSpPr>
          <p:cNvPr id="167" name="Google Shape;167;p8"/>
          <p:cNvSpPr/>
          <p:nvPr/>
        </p:nvSpPr>
        <p:spPr>
          <a:xfrm>
            <a:off x="4663428" y="4791345"/>
            <a:ext cx="19203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A7E"/>
              </a:buClr>
              <a:buSzPts val="1000"/>
              <a:buFont typeface="Arial"/>
              <a:buNone/>
            </a:pPr>
            <a:r>
              <a:rPr b="0" i="0" lang="en-US" sz="1000" u="none" cap="none" strike="noStrike">
                <a:solidFill>
                  <a:srgbClr val="7A8A7E"/>
                </a:solidFill>
                <a:latin typeface="Arial"/>
                <a:ea typeface="Arial"/>
                <a:cs typeface="Arial"/>
                <a:sym typeface="Arial"/>
              </a:rPr>
              <a:t>Athletes log sets, RPE, and modifications in seconds.</a:t>
            </a:r>
            <a:endParaRPr b="0" i="0" sz="1000" u="none" cap="none" strike="noStrike">
              <a:solidFill>
                <a:schemeClr val="dk1"/>
              </a:solidFill>
              <a:latin typeface="Calibri"/>
              <a:ea typeface="Calibri"/>
              <a:cs typeface="Calibri"/>
              <a:sym typeface="Calibri"/>
            </a:endParaRPr>
          </a:p>
        </p:txBody>
      </p:sp>
      <p:sp>
        <p:nvSpPr>
          <p:cNvPr id="168" name="Google Shape;168;p8"/>
          <p:cNvSpPr/>
          <p:nvPr/>
        </p:nvSpPr>
        <p:spPr>
          <a:xfrm>
            <a:off x="6766610" y="4517138"/>
            <a:ext cx="19203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1100"/>
              <a:buFont typeface="Arial"/>
              <a:buNone/>
            </a:pPr>
            <a:r>
              <a:rPr b="1" i="0" lang="en-US" sz="1100" u="none" cap="none" strike="noStrike">
                <a:solidFill>
                  <a:srgbClr val="C9F44E"/>
                </a:solidFill>
                <a:latin typeface="Arial"/>
                <a:ea typeface="Arial"/>
                <a:cs typeface="Arial"/>
                <a:sym typeface="Arial"/>
              </a:rPr>
              <a:t>Injury flagging</a:t>
            </a:r>
            <a:endParaRPr b="0" i="0" sz="1100" u="none" cap="none" strike="noStrike">
              <a:solidFill>
                <a:schemeClr val="dk1"/>
              </a:solidFill>
              <a:latin typeface="Calibri"/>
              <a:ea typeface="Calibri"/>
              <a:cs typeface="Calibri"/>
              <a:sym typeface="Calibri"/>
            </a:endParaRPr>
          </a:p>
        </p:txBody>
      </p:sp>
      <p:sp>
        <p:nvSpPr>
          <p:cNvPr id="169" name="Google Shape;169;p8"/>
          <p:cNvSpPr/>
          <p:nvPr/>
        </p:nvSpPr>
        <p:spPr>
          <a:xfrm>
            <a:off x="6766610" y="4791383"/>
            <a:ext cx="19203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A7E"/>
              </a:buClr>
              <a:buSzPts val="1000"/>
              <a:buFont typeface="Arial"/>
              <a:buNone/>
            </a:pPr>
            <a:r>
              <a:rPr b="0" i="0" lang="en-US" sz="1000" u="none" cap="none" strike="noStrike">
                <a:solidFill>
                  <a:srgbClr val="7A8A7E"/>
                </a:solidFill>
                <a:latin typeface="Arial"/>
                <a:ea typeface="Arial"/>
                <a:cs typeface="Arial"/>
                <a:sym typeface="Arial"/>
              </a:rPr>
              <a:t xml:space="preserve">Direct channel for athletes to communicate </a:t>
            </a:r>
            <a:r>
              <a:rPr lang="en-US" sz="1000">
                <a:solidFill>
                  <a:srgbClr val="7A8A7E"/>
                </a:solidFill>
              </a:rPr>
              <a:t>to</a:t>
            </a:r>
            <a:r>
              <a:rPr b="0" i="0" lang="en-US" sz="1000" u="none" cap="none" strike="noStrike">
                <a:solidFill>
                  <a:srgbClr val="7A8A7E"/>
                </a:solidFill>
                <a:latin typeface="Arial"/>
                <a:ea typeface="Arial"/>
                <a:cs typeface="Arial"/>
                <a:sym typeface="Arial"/>
              </a:rPr>
              <a:t xml:space="preserve"> coach</a:t>
            </a:r>
            <a:r>
              <a:rPr lang="en-US" sz="1000">
                <a:solidFill>
                  <a:srgbClr val="7A8A7E"/>
                </a:solidFill>
              </a:rPr>
              <a:t>es</a:t>
            </a:r>
            <a:r>
              <a:rPr b="0" i="0" lang="en-US" sz="1000" u="none" cap="none" strike="noStrike">
                <a:solidFill>
                  <a:srgbClr val="7A8A7E"/>
                </a:solidFill>
                <a:latin typeface="Arial"/>
                <a:ea typeface="Arial"/>
                <a:cs typeface="Arial"/>
                <a:sym typeface="Arial"/>
              </a:rPr>
              <a: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174" name="Shape 174"/>
        <p:cNvGrpSpPr/>
        <p:nvPr/>
      </p:nvGrpSpPr>
      <p:grpSpPr>
        <a:xfrm>
          <a:off x="0" y="0"/>
          <a:ext cx="0" cy="0"/>
          <a:chOff x="0" y="0"/>
          <a:chExt cx="0" cy="0"/>
        </a:xfrm>
      </p:grpSpPr>
      <p:sp>
        <p:nvSpPr>
          <p:cNvPr id="175" name="Google Shape;175;p9"/>
          <p:cNvSpPr/>
          <p:nvPr/>
        </p:nvSpPr>
        <p:spPr>
          <a:xfrm>
            <a:off x="457200" y="2011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COMPETITION</a:t>
            </a:r>
            <a:endParaRPr b="0" i="0" sz="900" u="none" cap="none" strike="noStrike">
              <a:solidFill>
                <a:schemeClr val="dk1"/>
              </a:solidFill>
              <a:latin typeface="Calibri"/>
              <a:ea typeface="Calibri"/>
              <a:cs typeface="Calibri"/>
              <a:sym typeface="Calibri"/>
            </a:endParaRPr>
          </a:p>
        </p:txBody>
      </p:sp>
      <p:sp>
        <p:nvSpPr>
          <p:cNvPr id="176" name="Google Shape;176;p9"/>
          <p:cNvSpPr/>
          <p:nvPr/>
        </p:nvSpPr>
        <p:spPr>
          <a:xfrm>
            <a:off x="457200" y="502920"/>
            <a:ext cx="8229600" cy="1005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3000"/>
              <a:buFont typeface="Bebas Neue"/>
              <a:buNone/>
            </a:pPr>
            <a:r>
              <a:rPr b="0" i="0" lang="en-US" sz="3000" u="none" cap="none" strike="noStrike">
                <a:solidFill>
                  <a:srgbClr val="FFFFFF"/>
                </a:solidFill>
                <a:latin typeface="Bebas Neue"/>
                <a:ea typeface="Bebas Neue"/>
                <a:cs typeface="Bebas Neue"/>
                <a:sym typeface="Bebas Neue"/>
              </a:rPr>
              <a:t>Existing tools serve one side of the relationship, not both.</a:t>
            </a:r>
            <a:endParaRPr b="0" i="0" sz="3000" u="none" cap="none" strike="noStrike">
              <a:solidFill>
                <a:schemeClr val="dk1"/>
              </a:solidFill>
              <a:latin typeface="Calibri"/>
              <a:ea typeface="Calibri"/>
              <a:cs typeface="Calibri"/>
              <a:sym typeface="Calibri"/>
            </a:endParaRPr>
          </a:p>
        </p:txBody>
      </p:sp>
      <p:sp>
        <p:nvSpPr>
          <p:cNvPr id="177" name="Google Shape;177;p9"/>
          <p:cNvSpPr/>
          <p:nvPr/>
        </p:nvSpPr>
        <p:spPr>
          <a:xfrm>
            <a:off x="457200" y="1600200"/>
            <a:ext cx="8229600" cy="41148"/>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9"/>
          <p:cNvSpPr/>
          <p:nvPr/>
        </p:nvSpPr>
        <p:spPr>
          <a:xfrm>
            <a:off x="457200" y="1719072"/>
            <a:ext cx="822960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300"/>
              <a:buFont typeface="Arial"/>
              <a:buNone/>
            </a:pPr>
            <a:r>
              <a:rPr b="0" i="0" lang="en-US" sz="1300" u="none" cap="none" strike="noStrike">
                <a:solidFill>
                  <a:srgbClr val="E8EEEA"/>
                </a:solidFill>
                <a:latin typeface="Arial"/>
                <a:ea typeface="Arial"/>
                <a:cs typeface="Arial"/>
                <a:sym typeface="Arial"/>
              </a:rPr>
              <a:t>The competitive landscape splits into tools for coaches and tools for athletes, with no product meaningfully serving both. The gap -- specifically the automatic weight calculation and real-time two-way communication -- is where Freeweight lives.</a:t>
            </a:r>
            <a:endParaRPr b="0" i="0" sz="1300" u="none" cap="none" strike="noStrike">
              <a:solidFill>
                <a:schemeClr val="dk1"/>
              </a:solidFill>
              <a:latin typeface="Calibri"/>
              <a:ea typeface="Calibri"/>
              <a:cs typeface="Calibri"/>
              <a:sym typeface="Calibri"/>
            </a:endParaRPr>
          </a:p>
        </p:txBody>
      </p:sp>
      <p:graphicFrame>
        <p:nvGraphicFramePr>
          <p:cNvPr id="179" name="Google Shape;179;p9"/>
          <p:cNvGraphicFramePr/>
          <p:nvPr/>
        </p:nvGraphicFramePr>
        <p:xfrm>
          <a:off x="457200" y="2697480"/>
          <a:ext cx="3000000" cy="3000000"/>
        </p:xfrm>
        <a:graphic>
          <a:graphicData uri="http://schemas.openxmlformats.org/drawingml/2006/table">
            <a:tbl>
              <a:tblPr>
                <a:noFill/>
                <a:tableStyleId>{540803FA-CDDE-4E89-86AD-2F45D8319E87}</a:tableStyleId>
              </a:tblPr>
              <a:tblGrid>
                <a:gridCol w="2194550"/>
                <a:gridCol w="1508750"/>
                <a:gridCol w="1508750"/>
                <a:gridCol w="1508750"/>
                <a:gridCol w="1508750"/>
              </a:tblGrid>
              <a:tr h="411475">
                <a:tc>
                  <a:txBody>
                    <a:bodyPr/>
                    <a:lstStyle/>
                    <a:p>
                      <a:pPr indent="0" lvl="0" marL="0" marR="0" rtl="0" algn="l">
                        <a:spcBef>
                          <a:spcPts val="0"/>
                        </a:spcBef>
                        <a:spcAft>
                          <a:spcPts val="0"/>
                        </a:spcAft>
                        <a:buClr>
                          <a:schemeClr val="dk1"/>
                        </a:buClr>
                        <a:buSzPts val="1100"/>
                        <a:buFont typeface="Calibri"/>
                        <a:buNone/>
                      </a:pPr>
                      <a:r>
                        <a:t/>
                      </a:r>
                      <a:endParaRPr sz="11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22282E"/>
                    </a:solidFill>
                  </a:tcPr>
                </a:tc>
                <a:tc>
                  <a:txBody>
                    <a:bodyPr/>
                    <a:lstStyle/>
                    <a:p>
                      <a:pPr indent="0" lvl="0" marL="0" marR="0" rtl="0" algn="ctr">
                        <a:spcBef>
                          <a:spcPts val="0"/>
                        </a:spcBef>
                        <a:spcAft>
                          <a:spcPts val="0"/>
                        </a:spcAft>
                        <a:buClr>
                          <a:srgbClr val="1A1E22"/>
                        </a:buClr>
                        <a:buSzPts val="1100"/>
                        <a:buFont typeface="Arial"/>
                        <a:buNone/>
                      </a:pPr>
                      <a:r>
                        <a:rPr b="1" lang="en-US" sz="1100" u="none" cap="none" strike="noStrike">
                          <a:solidFill>
                            <a:srgbClr val="1A1E22"/>
                          </a:solidFill>
                          <a:latin typeface="Arial"/>
                          <a:ea typeface="Arial"/>
                          <a:cs typeface="Arial"/>
                          <a:sym typeface="Arial"/>
                        </a:rPr>
                        <a:t>Team Structure</a:t>
                      </a:r>
                      <a:endParaRPr sz="11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C9F44E"/>
                    </a:solidFill>
                  </a:tcPr>
                </a:tc>
                <a:tc>
                  <a:txBody>
                    <a:bodyPr/>
                    <a:lstStyle/>
                    <a:p>
                      <a:pPr indent="0" lvl="0" marL="0" marR="0" rtl="0" algn="ctr">
                        <a:spcBef>
                          <a:spcPts val="0"/>
                        </a:spcBef>
                        <a:spcAft>
                          <a:spcPts val="0"/>
                        </a:spcAft>
                        <a:buClr>
                          <a:srgbClr val="1A1E22"/>
                        </a:buClr>
                        <a:buSzPts val="1100"/>
                        <a:buFont typeface="Arial"/>
                        <a:buNone/>
                      </a:pPr>
                      <a:r>
                        <a:rPr b="1" lang="en-US" sz="1100" u="none" cap="none" strike="noStrike">
                          <a:solidFill>
                            <a:srgbClr val="1A1E22"/>
                          </a:solidFill>
                          <a:latin typeface="Arial"/>
                          <a:ea typeface="Arial"/>
                          <a:cs typeface="Arial"/>
                          <a:sym typeface="Arial"/>
                        </a:rPr>
                        <a:t>Auto-Calculation</a:t>
                      </a:r>
                      <a:endParaRPr sz="11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C9F44E"/>
                    </a:solidFill>
                  </a:tcPr>
                </a:tc>
                <a:tc>
                  <a:txBody>
                    <a:bodyPr/>
                    <a:lstStyle/>
                    <a:p>
                      <a:pPr indent="0" lvl="0" marL="0" marR="0" rtl="0" algn="ctr">
                        <a:spcBef>
                          <a:spcPts val="0"/>
                        </a:spcBef>
                        <a:spcAft>
                          <a:spcPts val="0"/>
                        </a:spcAft>
                        <a:buClr>
                          <a:srgbClr val="1A1E22"/>
                        </a:buClr>
                        <a:buSzPts val="1100"/>
                        <a:buFont typeface="Arial"/>
                        <a:buNone/>
                      </a:pPr>
                      <a:r>
                        <a:rPr b="1" lang="en-US" sz="1100" u="none" cap="none" strike="noStrike">
                          <a:solidFill>
                            <a:srgbClr val="1A1E22"/>
                          </a:solidFill>
                          <a:latin typeface="Arial"/>
                          <a:ea typeface="Arial"/>
                          <a:cs typeface="Arial"/>
                          <a:sym typeface="Arial"/>
                        </a:rPr>
                        <a:t>Athlete App</a:t>
                      </a:r>
                      <a:endParaRPr sz="11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C9F44E"/>
                    </a:solidFill>
                  </a:tcPr>
                </a:tc>
                <a:tc>
                  <a:txBody>
                    <a:bodyPr/>
                    <a:lstStyle/>
                    <a:p>
                      <a:pPr indent="0" lvl="0" marL="0" marR="0" rtl="0" algn="ctr">
                        <a:spcBef>
                          <a:spcPts val="0"/>
                        </a:spcBef>
                        <a:spcAft>
                          <a:spcPts val="0"/>
                        </a:spcAft>
                        <a:buClr>
                          <a:srgbClr val="1A1E22"/>
                        </a:buClr>
                        <a:buSzPts val="1100"/>
                        <a:buFont typeface="Arial"/>
                        <a:buNone/>
                      </a:pPr>
                      <a:r>
                        <a:rPr b="1" lang="en-US" sz="1100" u="none" cap="none" strike="noStrike">
                          <a:solidFill>
                            <a:srgbClr val="1A1E22"/>
                          </a:solidFill>
                          <a:latin typeface="Arial"/>
                          <a:ea typeface="Arial"/>
                          <a:cs typeface="Arial"/>
                          <a:sym typeface="Arial"/>
                        </a:rPr>
                        <a:t>Real-Time Visibility</a:t>
                      </a:r>
                      <a:endParaRPr sz="11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C9F44E"/>
                    </a:solidFill>
                  </a:tcPr>
                </a:tc>
              </a:tr>
              <a:tr h="411475">
                <a:tc>
                  <a:txBody>
                    <a:bodyPr/>
                    <a:lstStyle/>
                    <a:p>
                      <a:pPr indent="0" lvl="0" marL="0" marR="0" rtl="0" algn="l">
                        <a:spcBef>
                          <a:spcPts val="0"/>
                        </a:spcBef>
                        <a:spcAft>
                          <a:spcPts val="0"/>
                        </a:spcAft>
                        <a:buClr>
                          <a:srgbClr val="1A1E22"/>
                        </a:buClr>
                        <a:buSzPts val="1200"/>
                        <a:buFont typeface="Arial"/>
                        <a:buNone/>
                      </a:pPr>
                      <a:r>
                        <a:rPr b="1" lang="en-US" sz="1200" u="none" cap="none" strike="noStrike">
                          <a:solidFill>
                            <a:srgbClr val="1A1E22"/>
                          </a:solidFill>
                          <a:latin typeface="Arial"/>
                          <a:ea typeface="Arial"/>
                          <a:cs typeface="Arial"/>
                          <a:sym typeface="Arial"/>
                        </a:rPr>
                        <a:t>Freeweight</a:t>
                      </a:r>
                      <a:endParaRPr sz="12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C9F44E"/>
                    </a:solidFill>
                  </a:tcPr>
                </a:tc>
                <a:tc>
                  <a:txBody>
                    <a:bodyPr/>
                    <a:lstStyle/>
                    <a:p>
                      <a:pPr indent="0" lvl="0" marL="0" marR="0" rtl="0" algn="ctr">
                        <a:spcBef>
                          <a:spcPts val="0"/>
                        </a:spcBef>
                        <a:spcAft>
                          <a:spcPts val="0"/>
                        </a:spcAft>
                        <a:buClr>
                          <a:srgbClr val="1A1E22"/>
                        </a:buClr>
                        <a:buSzPts val="1200"/>
                        <a:buFont typeface="Arial"/>
                        <a:buNone/>
                      </a:pPr>
                      <a:r>
                        <a:rPr b="1" lang="en-US" sz="1200" u="none" cap="none" strike="noStrike">
                          <a:solidFill>
                            <a:srgbClr val="1A1E22"/>
                          </a:solidFill>
                          <a:latin typeface="Arial"/>
                          <a:ea typeface="Arial"/>
                          <a:cs typeface="Arial"/>
                          <a:sym typeface="Arial"/>
                        </a:rPr>
                        <a:t>YES</a:t>
                      </a:r>
                      <a:endParaRPr sz="12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C9F44E"/>
                    </a:solidFill>
                  </a:tcPr>
                </a:tc>
                <a:tc>
                  <a:txBody>
                    <a:bodyPr/>
                    <a:lstStyle/>
                    <a:p>
                      <a:pPr indent="0" lvl="0" marL="0" marR="0" rtl="0" algn="ctr">
                        <a:spcBef>
                          <a:spcPts val="0"/>
                        </a:spcBef>
                        <a:spcAft>
                          <a:spcPts val="0"/>
                        </a:spcAft>
                        <a:buClr>
                          <a:srgbClr val="1A1E22"/>
                        </a:buClr>
                        <a:buSzPts val="1200"/>
                        <a:buFont typeface="Arial"/>
                        <a:buNone/>
                      </a:pPr>
                      <a:r>
                        <a:rPr b="1" lang="en-US" sz="1200" u="none" cap="none" strike="noStrike">
                          <a:solidFill>
                            <a:srgbClr val="1A1E22"/>
                          </a:solidFill>
                          <a:latin typeface="Arial"/>
                          <a:ea typeface="Arial"/>
                          <a:cs typeface="Arial"/>
                          <a:sym typeface="Arial"/>
                        </a:rPr>
                        <a:t>YES</a:t>
                      </a:r>
                      <a:endParaRPr sz="12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C9F44E"/>
                    </a:solidFill>
                  </a:tcPr>
                </a:tc>
                <a:tc>
                  <a:txBody>
                    <a:bodyPr/>
                    <a:lstStyle/>
                    <a:p>
                      <a:pPr indent="0" lvl="0" marL="0" marR="0" rtl="0" algn="ctr">
                        <a:spcBef>
                          <a:spcPts val="0"/>
                        </a:spcBef>
                        <a:spcAft>
                          <a:spcPts val="0"/>
                        </a:spcAft>
                        <a:buClr>
                          <a:srgbClr val="1A1E22"/>
                        </a:buClr>
                        <a:buSzPts val="1200"/>
                        <a:buFont typeface="Arial"/>
                        <a:buNone/>
                      </a:pPr>
                      <a:r>
                        <a:rPr b="1" lang="en-US" sz="1200" u="none" cap="none" strike="noStrike">
                          <a:solidFill>
                            <a:srgbClr val="1A1E22"/>
                          </a:solidFill>
                          <a:latin typeface="Arial"/>
                          <a:ea typeface="Arial"/>
                          <a:cs typeface="Arial"/>
                          <a:sym typeface="Arial"/>
                        </a:rPr>
                        <a:t>YES</a:t>
                      </a:r>
                      <a:endParaRPr sz="12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C9F44E"/>
                    </a:solidFill>
                  </a:tcPr>
                </a:tc>
                <a:tc>
                  <a:txBody>
                    <a:bodyPr/>
                    <a:lstStyle/>
                    <a:p>
                      <a:pPr indent="0" lvl="0" marL="0" marR="0" rtl="0" algn="ctr">
                        <a:spcBef>
                          <a:spcPts val="0"/>
                        </a:spcBef>
                        <a:spcAft>
                          <a:spcPts val="0"/>
                        </a:spcAft>
                        <a:buClr>
                          <a:srgbClr val="1A1E22"/>
                        </a:buClr>
                        <a:buSzPts val="1200"/>
                        <a:buFont typeface="Arial"/>
                        <a:buNone/>
                      </a:pPr>
                      <a:r>
                        <a:rPr b="1" lang="en-US" sz="1200" u="none" cap="none" strike="noStrike">
                          <a:solidFill>
                            <a:srgbClr val="1A1E22"/>
                          </a:solidFill>
                          <a:latin typeface="Arial"/>
                          <a:ea typeface="Arial"/>
                          <a:cs typeface="Arial"/>
                          <a:sym typeface="Arial"/>
                        </a:rPr>
                        <a:t>YES</a:t>
                      </a:r>
                      <a:endParaRPr sz="12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C9F44E"/>
                    </a:solidFill>
                  </a:tcPr>
                </a:tc>
              </a:tr>
              <a:tr h="411475">
                <a:tc>
                  <a:txBody>
                    <a:bodyPr/>
                    <a:lstStyle/>
                    <a:p>
                      <a:pPr indent="0" lvl="0" marL="0" marR="0" rtl="0" algn="l">
                        <a:spcBef>
                          <a:spcPts val="0"/>
                        </a:spcBef>
                        <a:spcAft>
                          <a:spcPts val="0"/>
                        </a:spcAft>
                        <a:buClr>
                          <a:srgbClr val="E8EEEA"/>
                        </a:buClr>
                        <a:buSzPts val="1100"/>
                        <a:buFont typeface="Arial"/>
                        <a:buNone/>
                      </a:pPr>
                      <a:r>
                        <a:rPr lang="en-US" sz="1100" u="none" cap="none" strike="noStrike">
                          <a:solidFill>
                            <a:srgbClr val="E8EEEA"/>
                          </a:solidFill>
                          <a:latin typeface="Arial"/>
                          <a:ea typeface="Arial"/>
                          <a:cs typeface="Arial"/>
                          <a:sym typeface="Arial"/>
                        </a:rPr>
                        <a:t>TrainHeroic</a:t>
                      </a:r>
                      <a:endParaRPr sz="11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22282E"/>
                    </a:solidFill>
                  </a:tcPr>
                </a:tc>
                <a:tc>
                  <a:txBody>
                    <a:bodyPr/>
                    <a:lstStyle/>
                    <a:p>
                      <a:pPr indent="0" lvl="0" marL="0" marR="0" rtl="0" algn="ctr">
                        <a:spcBef>
                          <a:spcPts val="0"/>
                        </a:spcBef>
                        <a:spcAft>
                          <a:spcPts val="0"/>
                        </a:spcAft>
                        <a:buClr>
                          <a:srgbClr val="E8EEEA"/>
                        </a:buClr>
                        <a:buSzPts val="1100"/>
                        <a:buFont typeface="Arial"/>
                        <a:buNone/>
                      </a:pPr>
                      <a:r>
                        <a:rPr lang="en-US" sz="1100" u="none" cap="none" strike="noStrike">
                          <a:solidFill>
                            <a:srgbClr val="E8EEEA"/>
                          </a:solidFill>
                          <a:latin typeface="Arial"/>
                          <a:ea typeface="Arial"/>
                          <a:cs typeface="Arial"/>
                          <a:sym typeface="Arial"/>
                        </a:rPr>
                        <a:t>YES</a:t>
                      </a:r>
                      <a:endParaRPr sz="11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22282E"/>
                    </a:solidFill>
                  </a:tcPr>
                </a:tc>
                <a:tc>
                  <a:txBody>
                    <a:bodyPr/>
                    <a:lstStyle/>
                    <a:p>
                      <a:pPr indent="0" lvl="0" marL="0" marR="0" rtl="0" algn="ctr">
                        <a:spcBef>
                          <a:spcPts val="0"/>
                        </a:spcBef>
                        <a:spcAft>
                          <a:spcPts val="0"/>
                        </a:spcAft>
                        <a:buClr>
                          <a:srgbClr val="7A8A7E"/>
                        </a:buClr>
                        <a:buSzPts val="1100"/>
                        <a:buFont typeface="Arial"/>
                        <a:buNone/>
                      </a:pPr>
                      <a:r>
                        <a:rPr lang="en-US" sz="1100" u="none" cap="none" strike="noStrike">
                          <a:solidFill>
                            <a:srgbClr val="7A8A7E"/>
                          </a:solidFill>
                          <a:latin typeface="Arial"/>
                          <a:ea typeface="Arial"/>
                          <a:cs typeface="Arial"/>
                          <a:sym typeface="Arial"/>
                        </a:rPr>
                        <a:t>PARTIAL</a:t>
                      </a:r>
                      <a:endParaRPr sz="11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22282E"/>
                    </a:solidFill>
                  </a:tcPr>
                </a:tc>
                <a:tc>
                  <a:txBody>
                    <a:bodyPr/>
                    <a:lstStyle/>
                    <a:p>
                      <a:pPr indent="0" lvl="0" marL="0" marR="0" rtl="0" algn="ctr">
                        <a:spcBef>
                          <a:spcPts val="0"/>
                        </a:spcBef>
                        <a:spcAft>
                          <a:spcPts val="0"/>
                        </a:spcAft>
                        <a:buClr>
                          <a:srgbClr val="7A8A7E"/>
                        </a:buClr>
                        <a:buSzPts val="1100"/>
                        <a:buFont typeface="Arial"/>
                        <a:buNone/>
                      </a:pPr>
                      <a:r>
                        <a:rPr lang="en-US" sz="1100" u="none" cap="none" strike="noStrike">
                          <a:solidFill>
                            <a:srgbClr val="7A8A7E"/>
                          </a:solidFill>
                          <a:latin typeface="Arial"/>
                          <a:ea typeface="Arial"/>
                          <a:cs typeface="Arial"/>
                          <a:sym typeface="Arial"/>
                        </a:rPr>
                        <a:t>LIMITED</a:t>
                      </a:r>
                      <a:endParaRPr sz="11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22282E"/>
                    </a:solidFill>
                  </a:tcPr>
                </a:tc>
                <a:tc>
                  <a:txBody>
                    <a:bodyPr/>
                    <a:lstStyle/>
                    <a:p>
                      <a:pPr indent="0" lvl="0" marL="0" marR="0" rtl="0" algn="ctr">
                        <a:spcBef>
                          <a:spcPts val="0"/>
                        </a:spcBef>
                        <a:spcAft>
                          <a:spcPts val="0"/>
                        </a:spcAft>
                        <a:buClr>
                          <a:srgbClr val="7A8A7E"/>
                        </a:buClr>
                        <a:buSzPts val="1100"/>
                        <a:buFont typeface="Arial"/>
                        <a:buNone/>
                      </a:pPr>
                      <a:r>
                        <a:rPr lang="en-US" sz="1100" u="none" cap="none" strike="noStrike">
                          <a:solidFill>
                            <a:srgbClr val="7A8A7E"/>
                          </a:solidFill>
                          <a:latin typeface="Arial"/>
                          <a:ea typeface="Arial"/>
                          <a:cs typeface="Arial"/>
                          <a:sym typeface="Arial"/>
                        </a:rPr>
                        <a:t>NO</a:t>
                      </a:r>
                      <a:endParaRPr sz="11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22282E"/>
                    </a:solidFill>
                  </a:tcPr>
                </a:tc>
              </a:tr>
              <a:tr h="411475">
                <a:tc>
                  <a:txBody>
                    <a:bodyPr/>
                    <a:lstStyle/>
                    <a:p>
                      <a:pPr indent="0" lvl="0" marL="0" marR="0" rtl="0" algn="l">
                        <a:spcBef>
                          <a:spcPts val="0"/>
                        </a:spcBef>
                        <a:spcAft>
                          <a:spcPts val="0"/>
                        </a:spcAft>
                        <a:buClr>
                          <a:srgbClr val="E8EEEA"/>
                        </a:buClr>
                        <a:buSzPts val="1100"/>
                        <a:buFont typeface="Arial"/>
                        <a:buNone/>
                      </a:pPr>
                      <a:r>
                        <a:rPr lang="en-US" sz="1100" u="none" cap="none" strike="noStrike">
                          <a:solidFill>
                            <a:srgbClr val="E8EEEA"/>
                          </a:solidFill>
                          <a:latin typeface="Arial"/>
                          <a:ea typeface="Arial"/>
                          <a:cs typeface="Arial"/>
                          <a:sym typeface="Arial"/>
                        </a:rPr>
                        <a:t>TeamBuildr</a:t>
                      </a:r>
                      <a:endParaRPr sz="11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1E2428"/>
                    </a:solidFill>
                  </a:tcPr>
                </a:tc>
                <a:tc>
                  <a:txBody>
                    <a:bodyPr/>
                    <a:lstStyle/>
                    <a:p>
                      <a:pPr indent="0" lvl="0" marL="0" marR="0" rtl="0" algn="ctr">
                        <a:spcBef>
                          <a:spcPts val="0"/>
                        </a:spcBef>
                        <a:spcAft>
                          <a:spcPts val="0"/>
                        </a:spcAft>
                        <a:buClr>
                          <a:srgbClr val="E8EEEA"/>
                        </a:buClr>
                        <a:buSzPts val="1100"/>
                        <a:buFont typeface="Arial"/>
                        <a:buNone/>
                      </a:pPr>
                      <a:r>
                        <a:rPr lang="en-US" sz="1100" u="none" cap="none" strike="noStrike">
                          <a:solidFill>
                            <a:srgbClr val="E8EEEA"/>
                          </a:solidFill>
                          <a:latin typeface="Arial"/>
                          <a:ea typeface="Arial"/>
                          <a:cs typeface="Arial"/>
                          <a:sym typeface="Arial"/>
                        </a:rPr>
                        <a:t>YES</a:t>
                      </a:r>
                      <a:endParaRPr sz="11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1E2428"/>
                    </a:solidFill>
                  </a:tcPr>
                </a:tc>
                <a:tc>
                  <a:txBody>
                    <a:bodyPr/>
                    <a:lstStyle/>
                    <a:p>
                      <a:pPr indent="0" lvl="0" marL="0" marR="0" rtl="0" algn="ctr">
                        <a:spcBef>
                          <a:spcPts val="0"/>
                        </a:spcBef>
                        <a:spcAft>
                          <a:spcPts val="0"/>
                        </a:spcAft>
                        <a:buClr>
                          <a:srgbClr val="7A8A7E"/>
                        </a:buClr>
                        <a:buSzPts val="1100"/>
                        <a:buFont typeface="Arial"/>
                        <a:buNone/>
                      </a:pPr>
                      <a:r>
                        <a:rPr lang="en-US" sz="1100" u="none" cap="none" strike="noStrike">
                          <a:solidFill>
                            <a:srgbClr val="7A8A7E"/>
                          </a:solidFill>
                          <a:latin typeface="Arial"/>
                          <a:ea typeface="Arial"/>
                          <a:cs typeface="Arial"/>
                          <a:sym typeface="Arial"/>
                        </a:rPr>
                        <a:t>NO</a:t>
                      </a:r>
                      <a:endParaRPr sz="11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1E2428"/>
                    </a:solidFill>
                  </a:tcPr>
                </a:tc>
                <a:tc>
                  <a:txBody>
                    <a:bodyPr/>
                    <a:lstStyle/>
                    <a:p>
                      <a:pPr indent="0" lvl="0" marL="0" marR="0" rtl="0" algn="ctr">
                        <a:spcBef>
                          <a:spcPts val="0"/>
                        </a:spcBef>
                        <a:spcAft>
                          <a:spcPts val="0"/>
                        </a:spcAft>
                        <a:buClr>
                          <a:srgbClr val="7A8A7E"/>
                        </a:buClr>
                        <a:buSzPts val="1100"/>
                        <a:buFont typeface="Arial"/>
                        <a:buNone/>
                      </a:pPr>
                      <a:r>
                        <a:rPr lang="en-US" sz="1100" u="none" cap="none" strike="noStrike">
                          <a:solidFill>
                            <a:srgbClr val="7A8A7E"/>
                          </a:solidFill>
                          <a:latin typeface="Arial"/>
                          <a:ea typeface="Arial"/>
                          <a:cs typeface="Arial"/>
                          <a:sym typeface="Arial"/>
                        </a:rPr>
                        <a:t>NO</a:t>
                      </a:r>
                      <a:endParaRPr sz="11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1E2428"/>
                    </a:solidFill>
                  </a:tcPr>
                </a:tc>
                <a:tc>
                  <a:txBody>
                    <a:bodyPr/>
                    <a:lstStyle/>
                    <a:p>
                      <a:pPr indent="0" lvl="0" marL="0" marR="0" rtl="0" algn="ctr">
                        <a:spcBef>
                          <a:spcPts val="0"/>
                        </a:spcBef>
                        <a:spcAft>
                          <a:spcPts val="0"/>
                        </a:spcAft>
                        <a:buClr>
                          <a:srgbClr val="7A8A7E"/>
                        </a:buClr>
                        <a:buSzPts val="1100"/>
                        <a:buFont typeface="Arial"/>
                        <a:buNone/>
                      </a:pPr>
                      <a:r>
                        <a:rPr lang="en-US" sz="1100" u="none" cap="none" strike="noStrike">
                          <a:solidFill>
                            <a:srgbClr val="7A8A7E"/>
                          </a:solidFill>
                          <a:latin typeface="Arial"/>
                          <a:ea typeface="Arial"/>
                          <a:cs typeface="Arial"/>
                          <a:sym typeface="Arial"/>
                        </a:rPr>
                        <a:t>NO</a:t>
                      </a:r>
                      <a:endParaRPr sz="11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1E2428"/>
                    </a:solidFill>
                  </a:tcPr>
                </a:tc>
              </a:tr>
              <a:tr h="411475">
                <a:tc>
                  <a:txBody>
                    <a:bodyPr/>
                    <a:lstStyle/>
                    <a:p>
                      <a:pPr indent="0" lvl="0" marL="0" marR="0" rtl="0" algn="l">
                        <a:spcBef>
                          <a:spcPts val="0"/>
                        </a:spcBef>
                        <a:spcAft>
                          <a:spcPts val="0"/>
                        </a:spcAft>
                        <a:buClr>
                          <a:srgbClr val="E8EEEA"/>
                        </a:buClr>
                        <a:buSzPts val="1100"/>
                        <a:buFont typeface="Arial"/>
                        <a:buNone/>
                      </a:pPr>
                      <a:r>
                        <a:rPr lang="en-US" sz="1100" u="none" cap="none" strike="noStrike">
                          <a:solidFill>
                            <a:srgbClr val="E8EEEA"/>
                          </a:solidFill>
                          <a:latin typeface="Arial"/>
                          <a:ea typeface="Arial"/>
                          <a:cs typeface="Arial"/>
                          <a:sym typeface="Arial"/>
                        </a:rPr>
                        <a:t>Consumer fitness apps</a:t>
                      </a:r>
                      <a:endParaRPr sz="11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22282E"/>
                    </a:solidFill>
                  </a:tcPr>
                </a:tc>
                <a:tc>
                  <a:txBody>
                    <a:bodyPr/>
                    <a:lstStyle/>
                    <a:p>
                      <a:pPr indent="0" lvl="0" marL="0" marR="0" rtl="0" algn="ctr">
                        <a:spcBef>
                          <a:spcPts val="0"/>
                        </a:spcBef>
                        <a:spcAft>
                          <a:spcPts val="0"/>
                        </a:spcAft>
                        <a:buClr>
                          <a:srgbClr val="7A8A7E"/>
                        </a:buClr>
                        <a:buSzPts val="1100"/>
                        <a:buFont typeface="Arial"/>
                        <a:buNone/>
                      </a:pPr>
                      <a:r>
                        <a:rPr lang="en-US" sz="1100" u="none" cap="none" strike="noStrike">
                          <a:solidFill>
                            <a:srgbClr val="7A8A7E"/>
                          </a:solidFill>
                          <a:latin typeface="Arial"/>
                          <a:ea typeface="Arial"/>
                          <a:cs typeface="Arial"/>
                          <a:sym typeface="Arial"/>
                        </a:rPr>
                        <a:t>NO</a:t>
                      </a:r>
                      <a:endParaRPr sz="11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22282E"/>
                    </a:solidFill>
                  </a:tcPr>
                </a:tc>
                <a:tc>
                  <a:txBody>
                    <a:bodyPr/>
                    <a:lstStyle/>
                    <a:p>
                      <a:pPr indent="0" lvl="0" marL="0" marR="0" rtl="0" algn="ctr">
                        <a:spcBef>
                          <a:spcPts val="0"/>
                        </a:spcBef>
                        <a:spcAft>
                          <a:spcPts val="0"/>
                        </a:spcAft>
                        <a:buClr>
                          <a:srgbClr val="7A8A7E"/>
                        </a:buClr>
                        <a:buSzPts val="1100"/>
                        <a:buFont typeface="Arial"/>
                        <a:buNone/>
                      </a:pPr>
                      <a:r>
                        <a:rPr lang="en-US" sz="1100" u="none" cap="none" strike="noStrike">
                          <a:solidFill>
                            <a:srgbClr val="7A8A7E"/>
                          </a:solidFill>
                          <a:latin typeface="Arial"/>
                          <a:ea typeface="Arial"/>
                          <a:cs typeface="Arial"/>
                          <a:sym typeface="Arial"/>
                        </a:rPr>
                        <a:t>NO</a:t>
                      </a:r>
                      <a:endParaRPr sz="11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22282E"/>
                    </a:solidFill>
                  </a:tcPr>
                </a:tc>
                <a:tc>
                  <a:txBody>
                    <a:bodyPr/>
                    <a:lstStyle/>
                    <a:p>
                      <a:pPr indent="0" lvl="0" marL="0" marR="0" rtl="0" algn="ctr">
                        <a:spcBef>
                          <a:spcPts val="0"/>
                        </a:spcBef>
                        <a:spcAft>
                          <a:spcPts val="0"/>
                        </a:spcAft>
                        <a:buClr>
                          <a:srgbClr val="E8EEEA"/>
                        </a:buClr>
                        <a:buSzPts val="1100"/>
                        <a:buFont typeface="Arial"/>
                        <a:buNone/>
                      </a:pPr>
                      <a:r>
                        <a:rPr lang="en-US" sz="1100" u="none" cap="none" strike="noStrike">
                          <a:solidFill>
                            <a:srgbClr val="E8EEEA"/>
                          </a:solidFill>
                          <a:latin typeface="Arial"/>
                          <a:ea typeface="Arial"/>
                          <a:cs typeface="Arial"/>
                          <a:sym typeface="Arial"/>
                        </a:rPr>
                        <a:t>YES</a:t>
                      </a:r>
                      <a:endParaRPr sz="11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22282E"/>
                    </a:solidFill>
                  </a:tcPr>
                </a:tc>
                <a:tc>
                  <a:txBody>
                    <a:bodyPr/>
                    <a:lstStyle/>
                    <a:p>
                      <a:pPr indent="0" lvl="0" marL="0" marR="0" rtl="0" algn="ctr">
                        <a:spcBef>
                          <a:spcPts val="0"/>
                        </a:spcBef>
                        <a:spcAft>
                          <a:spcPts val="0"/>
                        </a:spcAft>
                        <a:buClr>
                          <a:srgbClr val="7A8A7E"/>
                        </a:buClr>
                        <a:buSzPts val="1100"/>
                        <a:buFont typeface="Arial"/>
                        <a:buNone/>
                      </a:pPr>
                      <a:r>
                        <a:rPr lang="en-US" sz="1100" u="none" cap="none" strike="noStrike">
                          <a:solidFill>
                            <a:srgbClr val="7A8A7E"/>
                          </a:solidFill>
                          <a:latin typeface="Arial"/>
                          <a:ea typeface="Arial"/>
                          <a:cs typeface="Arial"/>
                          <a:sym typeface="Arial"/>
                        </a:rPr>
                        <a:t>NO</a:t>
                      </a:r>
                      <a:endParaRPr sz="11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22282E"/>
                    </a:solidFill>
                  </a:tcPr>
                </a:tc>
              </a:tr>
              <a:tr h="411475">
                <a:tc>
                  <a:txBody>
                    <a:bodyPr/>
                    <a:lstStyle/>
                    <a:p>
                      <a:pPr indent="0" lvl="0" marL="0" marR="0" rtl="0" algn="l">
                        <a:spcBef>
                          <a:spcPts val="0"/>
                        </a:spcBef>
                        <a:spcAft>
                          <a:spcPts val="0"/>
                        </a:spcAft>
                        <a:buClr>
                          <a:srgbClr val="E8EEEA"/>
                        </a:buClr>
                        <a:buSzPts val="1100"/>
                        <a:buFont typeface="Arial"/>
                        <a:buNone/>
                      </a:pPr>
                      <a:r>
                        <a:rPr lang="en-US" sz="1100" u="none" cap="none" strike="noStrike">
                          <a:solidFill>
                            <a:srgbClr val="E8EEEA"/>
                          </a:solidFill>
                          <a:latin typeface="Arial"/>
                          <a:ea typeface="Arial"/>
                          <a:cs typeface="Arial"/>
                          <a:sym typeface="Arial"/>
                        </a:rPr>
                        <a:t>Google Sheets + group texts</a:t>
                      </a:r>
                      <a:endParaRPr sz="11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1E2428"/>
                    </a:solidFill>
                  </a:tcPr>
                </a:tc>
                <a:tc>
                  <a:txBody>
                    <a:bodyPr/>
                    <a:lstStyle/>
                    <a:p>
                      <a:pPr indent="0" lvl="0" marL="0" marR="0" rtl="0" algn="ctr">
                        <a:spcBef>
                          <a:spcPts val="0"/>
                        </a:spcBef>
                        <a:spcAft>
                          <a:spcPts val="0"/>
                        </a:spcAft>
                        <a:buClr>
                          <a:srgbClr val="7A8A7E"/>
                        </a:buClr>
                        <a:buSzPts val="1100"/>
                        <a:buFont typeface="Arial"/>
                        <a:buNone/>
                      </a:pPr>
                      <a:r>
                        <a:rPr lang="en-US" sz="1100" u="none" cap="none" strike="noStrike">
                          <a:solidFill>
                            <a:srgbClr val="7A8A7E"/>
                          </a:solidFill>
                          <a:latin typeface="Arial"/>
                          <a:ea typeface="Arial"/>
                          <a:cs typeface="Arial"/>
                          <a:sym typeface="Arial"/>
                        </a:rPr>
                        <a:t>NO</a:t>
                      </a:r>
                      <a:endParaRPr sz="11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1E2428"/>
                    </a:solidFill>
                  </a:tcPr>
                </a:tc>
                <a:tc>
                  <a:txBody>
                    <a:bodyPr/>
                    <a:lstStyle/>
                    <a:p>
                      <a:pPr indent="0" lvl="0" marL="0" marR="0" rtl="0" algn="ctr">
                        <a:spcBef>
                          <a:spcPts val="0"/>
                        </a:spcBef>
                        <a:spcAft>
                          <a:spcPts val="0"/>
                        </a:spcAft>
                        <a:buClr>
                          <a:srgbClr val="7A8A7E"/>
                        </a:buClr>
                        <a:buSzPts val="1100"/>
                        <a:buFont typeface="Arial"/>
                        <a:buNone/>
                      </a:pPr>
                      <a:r>
                        <a:rPr lang="en-US" sz="1100" u="none" cap="none" strike="noStrike">
                          <a:solidFill>
                            <a:srgbClr val="7A8A7E"/>
                          </a:solidFill>
                          <a:latin typeface="Arial"/>
                          <a:ea typeface="Arial"/>
                          <a:cs typeface="Arial"/>
                          <a:sym typeface="Arial"/>
                        </a:rPr>
                        <a:t>NO</a:t>
                      </a:r>
                      <a:endParaRPr sz="11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1E2428"/>
                    </a:solidFill>
                  </a:tcPr>
                </a:tc>
                <a:tc>
                  <a:txBody>
                    <a:bodyPr/>
                    <a:lstStyle/>
                    <a:p>
                      <a:pPr indent="0" lvl="0" marL="0" marR="0" rtl="0" algn="ctr">
                        <a:spcBef>
                          <a:spcPts val="0"/>
                        </a:spcBef>
                        <a:spcAft>
                          <a:spcPts val="0"/>
                        </a:spcAft>
                        <a:buClr>
                          <a:srgbClr val="7A8A7E"/>
                        </a:buClr>
                        <a:buSzPts val="1100"/>
                        <a:buFont typeface="Arial"/>
                        <a:buNone/>
                      </a:pPr>
                      <a:r>
                        <a:rPr lang="en-US" sz="1100" u="none" cap="none" strike="noStrike">
                          <a:solidFill>
                            <a:srgbClr val="7A8A7E"/>
                          </a:solidFill>
                          <a:latin typeface="Arial"/>
                          <a:ea typeface="Arial"/>
                          <a:cs typeface="Arial"/>
                          <a:sym typeface="Arial"/>
                        </a:rPr>
                        <a:t>NO</a:t>
                      </a:r>
                      <a:endParaRPr sz="11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1E2428"/>
                    </a:solidFill>
                  </a:tcPr>
                </a:tc>
                <a:tc>
                  <a:txBody>
                    <a:bodyPr/>
                    <a:lstStyle/>
                    <a:p>
                      <a:pPr indent="0" lvl="0" marL="0" marR="0" rtl="0" algn="ctr">
                        <a:spcBef>
                          <a:spcPts val="0"/>
                        </a:spcBef>
                        <a:spcAft>
                          <a:spcPts val="0"/>
                        </a:spcAft>
                        <a:buClr>
                          <a:srgbClr val="7A8A7E"/>
                        </a:buClr>
                        <a:buSzPts val="1100"/>
                        <a:buFont typeface="Arial"/>
                        <a:buNone/>
                      </a:pPr>
                      <a:r>
                        <a:rPr lang="en-US" sz="1100" u="none" cap="none" strike="noStrike">
                          <a:solidFill>
                            <a:srgbClr val="7A8A7E"/>
                          </a:solidFill>
                          <a:latin typeface="Arial"/>
                          <a:ea typeface="Arial"/>
                          <a:cs typeface="Arial"/>
                          <a:sym typeface="Arial"/>
                        </a:rPr>
                        <a:t>NO</a:t>
                      </a:r>
                      <a:endParaRPr sz="11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1E2428"/>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184" name="Shape 184"/>
        <p:cNvGrpSpPr/>
        <p:nvPr/>
      </p:nvGrpSpPr>
      <p:grpSpPr>
        <a:xfrm>
          <a:off x="0" y="0"/>
          <a:ext cx="0" cy="0"/>
          <a:chOff x="0" y="0"/>
          <a:chExt cx="0" cy="0"/>
        </a:xfrm>
      </p:grpSpPr>
      <p:sp>
        <p:nvSpPr>
          <p:cNvPr id="185" name="Google Shape;185;p10"/>
          <p:cNvSpPr/>
          <p:nvPr/>
        </p:nvSpPr>
        <p:spPr>
          <a:xfrm>
            <a:off x="457200" y="2011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TRACTION</a:t>
            </a:r>
            <a:endParaRPr b="0" i="0" sz="900" u="none" cap="none" strike="noStrike">
              <a:solidFill>
                <a:schemeClr val="dk1"/>
              </a:solidFill>
              <a:latin typeface="Calibri"/>
              <a:ea typeface="Calibri"/>
              <a:cs typeface="Calibri"/>
              <a:sym typeface="Calibri"/>
            </a:endParaRPr>
          </a:p>
        </p:txBody>
      </p:sp>
      <p:sp>
        <p:nvSpPr>
          <p:cNvPr id="186" name="Google Shape;186;p10"/>
          <p:cNvSpPr/>
          <p:nvPr/>
        </p:nvSpPr>
        <p:spPr>
          <a:xfrm>
            <a:off x="457200" y="502920"/>
            <a:ext cx="8229600" cy="1005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3000"/>
              <a:buFont typeface="Bebas Neue"/>
              <a:buNone/>
            </a:pPr>
            <a:r>
              <a:rPr b="0" i="0" lang="en-US" sz="3000" u="none" cap="none" strike="noStrike">
                <a:solidFill>
                  <a:srgbClr val="FFFFFF"/>
                </a:solidFill>
                <a:latin typeface="Bebas Neue"/>
                <a:ea typeface="Bebas Neue"/>
                <a:cs typeface="Bebas Neue"/>
                <a:sym typeface="Bebas Neue"/>
              </a:rPr>
              <a:t>We launched at Columbia and are already live across five teams.</a:t>
            </a:r>
            <a:endParaRPr b="0" i="0" sz="3000" u="none" cap="none" strike="noStrike">
              <a:solidFill>
                <a:schemeClr val="dk1"/>
              </a:solidFill>
              <a:latin typeface="Calibri"/>
              <a:ea typeface="Calibri"/>
              <a:cs typeface="Calibri"/>
              <a:sym typeface="Calibri"/>
            </a:endParaRPr>
          </a:p>
        </p:txBody>
      </p:sp>
      <p:sp>
        <p:nvSpPr>
          <p:cNvPr id="187" name="Google Shape;187;p10"/>
          <p:cNvSpPr/>
          <p:nvPr/>
        </p:nvSpPr>
        <p:spPr>
          <a:xfrm>
            <a:off x="457200" y="1600200"/>
            <a:ext cx="8229600" cy="41148"/>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0"/>
          <p:cNvSpPr/>
          <p:nvPr/>
        </p:nvSpPr>
        <p:spPr>
          <a:xfrm>
            <a:off x="457200" y="1719072"/>
            <a:ext cx="82296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300"/>
              <a:buFont typeface="Arial"/>
              <a:buNone/>
            </a:pPr>
            <a:r>
              <a:rPr b="0" i="0" lang="en-US" sz="1300" u="none" cap="none" strike="noStrike">
                <a:solidFill>
                  <a:srgbClr val="E8EEEA"/>
                </a:solidFill>
                <a:latin typeface="Arial"/>
                <a:ea typeface="Arial"/>
                <a:cs typeface="Arial"/>
                <a:sym typeface="Arial"/>
              </a:rPr>
              <a:t>Freeweight is not a concept. It is running in a real athletic program, with real coaches and real athletes using it in active training cycles.</a:t>
            </a:r>
            <a:endParaRPr b="0" i="0" sz="1300" u="none" cap="none" strike="noStrike">
              <a:solidFill>
                <a:schemeClr val="dk1"/>
              </a:solidFill>
              <a:latin typeface="Calibri"/>
              <a:ea typeface="Calibri"/>
              <a:cs typeface="Calibri"/>
              <a:sym typeface="Calibri"/>
            </a:endParaRPr>
          </a:p>
        </p:txBody>
      </p:sp>
      <p:sp>
        <p:nvSpPr>
          <p:cNvPr id="189" name="Google Shape;189;p10"/>
          <p:cNvSpPr/>
          <p:nvPr/>
        </p:nvSpPr>
        <p:spPr>
          <a:xfrm>
            <a:off x="457200" y="2423160"/>
            <a:ext cx="2651760" cy="1508760"/>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0"/>
          <p:cNvSpPr/>
          <p:nvPr/>
        </p:nvSpPr>
        <p:spPr>
          <a:xfrm>
            <a:off x="457200" y="2487168"/>
            <a:ext cx="2651760" cy="868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F44E"/>
              </a:buClr>
              <a:buSzPts val="6000"/>
              <a:buFont typeface="Bebas Neue"/>
              <a:buNone/>
            </a:pPr>
            <a:r>
              <a:rPr b="0" i="0" lang="en-US" sz="6000" u="none" cap="none" strike="noStrike">
                <a:solidFill>
                  <a:srgbClr val="C9F44E"/>
                </a:solidFill>
                <a:latin typeface="Bebas Neue"/>
                <a:ea typeface="Bebas Neue"/>
                <a:cs typeface="Bebas Neue"/>
                <a:sym typeface="Bebas Neue"/>
              </a:rPr>
              <a:t>5</a:t>
            </a:r>
            <a:endParaRPr b="0" i="0" sz="6000" u="none" cap="none" strike="noStrike">
              <a:solidFill>
                <a:schemeClr val="dk1"/>
              </a:solidFill>
              <a:latin typeface="Calibri"/>
              <a:ea typeface="Calibri"/>
              <a:cs typeface="Calibri"/>
              <a:sym typeface="Calibri"/>
            </a:endParaRPr>
          </a:p>
        </p:txBody>
      </p:sp>
      <p:sp>
        <p:nvSpPr>
          <p:cNvPr id="191" name="Google Shape;191;p10"/>
          <p:cNvSpPr/>
          <p:nvPr/>
        </p:nvSpPr>
        <p:spPr>
          <a:xfrm>
            <a:off x="457200" y="3401568"/>
            <a:ext cx="265176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A8A7E"/>
              </a:buClr>
              <a:buSzPts val="1200"/>
              <a:buFont typeface="Arial"/>
              <a:buNone/>
            </a:pPr>
            <a:r>
              <a:rPr b="0" i="0" lang="en-US" sz="1200" u="none" cap="none" strike="noStrike">
                <a:solidFill>
                  <a:srgbClr val="7A8A7E"/>
                </a:solidFill>
                <a:latin typeface="Arial"/>
                <a:ea typeface="Arial"/>
                <a:cs typeface="Arial"/>
                <a:sym typeface="Arial"/>
              </a:rPr>
              <a:t>Teams in active pilot</a:t>
            </a:r>
            <a:endParaRPr b="0" i="0" sz="1200" u="none" cap="none" strike="noStrike">
              <a:solidFill>
                <a:schemeClr val="dk1"/>
              </a:solidFill>
              <a:latin typeface="Calibri"/>
              <a:ea typeface="Calibri"/>
              <a:cs typeface="Calibri"/>
              <a:sym typeface="Calibri"/>
            </a:endParaRPr>
          </a:p>
        </p:txBody>
      </p:sp>
      <p:sp>
        <p:nvSpPr>
          <p:cNvPr id="192" name="Google Shape;192;p10"/>
          <p:cNvSpPr/>
          <p:nvPr/>
        </p:nvSpPr>
        <p:spPr>
          <a:xfrm>
            <a:off x="3337560" y="2423160"/>
            <a:ext cx="2651760" cy="1508760"/>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0"/>
          <p:cNvSpPr/>
          <p:nvPr/>
        </p:nvSpPr>
        <p:spPr>
          <a:xfrm>
            <a:off x="3337560" y="2487168"/>
            <a:ext cx="2651760" cy="868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F44E"/>
              </a:buClr>
              <a:buSzPts val="6000"/>
              <a:buFont typeface="Bebas Neue"/>
              <a:buNone/>
            </a:pPr>
            <a:r>
              <a:rPr b="0" i="0" lang="en-US" sz="6000" u="none" cap="none" strike="noStrike">
                <a:solidFill>
                  <a:srgbClr val="C9F44E"/>
                </a:solidFill>
                <a:latin typeface="Bebas Neue"/>
                <a:ea typeface="Bebas Neue"/>
                <a:cs typeface="Bebas Neue"/>
                <a:sym typeface="Bebas Neue"/>
              </a:rPr>
              <a:t>150+</a:t>
            </a:r>
            <a:endParaRPr b="0" i="0" sz="6000" u="none" cap="none" strike="noStrike">
              <a:solidFill>
                <a:schemeClr val="dk1"/>
              </a:solidFill>
              <a:latin typeface="Calibri"/>
              <a:ea typeface="Calibri"/>
              <a:cs typeface="Calibri"/>
              <a:sym typeface="Calibri"/>
            </a:endParaRPr>
          </a:p>
        </p:txBody>
      </p:sp>
      <p:sp>
        <p:nvSpPr>
          <p:cNvPr id="194" name="Google Shape;194;p10"/>
          <p:cNvSpPr/>
          <p:nvPr/>
        </p:nvSpPr>
        <p:spPr>
          <a:xfrm>
            <a:off x="3337560" y="3401568"/>
            <a:ext cx="265176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A8A7E"/>
              </a:buClr>
              <a:buSzPts val="1200"/>
              <a:buFont typeface="Arial"/>
              <a:buNone/>
            </a:pPr>
            <a:r>
              <a:rPr b="0" i="0" lang="en-US" sz="1200" u="none" cap="none" strike="noStrike">
                <a:solidFill>
                  <a:srgbClr val="7A8A7E"/>
                </a:solidFill>
                <a:latin typeface="Arial"/>
                <a:ea typeface="Arial"/>
                <a:cs typeface="Arial"/>
                <a:sym typeface="Arial"/>
              </a:rPr>
              <a:t>Athletes on platform</a:t>
            </a:r>
            <a:endParaRPr b="0" i="0" sz="1200" u="none" cap="none" strike="noStrike">
              <a:solidFill>
                <a:schemeClr val="dk1"/>
              </a:solidFill>
              <a:latin typeface="Calibri"/>
              <a:ea typeface="Calibri"/>
              <a:cs typeface="Calibri"/>
              <a:sym typeface="Calibri"/>
            </a:endParaRPr>
          </a:p>
        </p:txBody>
      </p:sp>
      <p:sp>
        <p:nvSpPr>
          <p:cNvPr id="195" name="Google Shape;195;p10"/>
          <p:cNvSpPr/>
          <p:nvPr/>
        </p:nvSpPr>
        <p:spPr>
          <a:xfrm>
            <a:off x="6217920" y="2423160"/>
            <a:ext cx="2651760" cy="1508760"/>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0"/>
          <p:cNvSpPr/>
          <p:nvPr/>
        </p:nvSpPr>
        <p:spPr>
          <a:xfrm>
            <a:off x="6217920" y="2487168"/>
            <a:ext cx="2651760" cy="868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F44E"/>
              </a:buClr>
              <a:buSzPts val="6000"/>
              <a:buFont typeface="Bebas Neue"/>
              <a:buNone/>
            </a:pPr>
            <a:r>
              <a:rPr b="0" i="0" lang="en-US" sz="6000" u="none" cap="none" strike="noStrike">
                <a:solidFill>
                  <a:srgbClr val="C9F44E"/>
                </a:solidFill>
                <a:latin typeface="Bebas Neue"/>
                <a:ea typeface="Bebas Neue"/>
                <a:cs typeface="Bebas Neue"/>
                <a:sym typeface="Bebas Neue"/>
              </a:rPr>
              <a:t>More</a:t>
            </a:r>
            <a:endParaRPr b="0" i="0" sz="6000" u="none" cap="none" strike="noStrike">
              <a:solidFill>
                <a:schemeClr val="dk1"/>
              </a:solidFill>
              <a:latin typeface="Calibri"/>
              <a:ea typeface="Calibri"/>
              <a:cs typeface="Calibri"/>
              <a:sym typeface="Calibri"/>
            </a:endParaRPr>
          </a:p>
        </p:txBody>
      </p:sp>
      <p:sp>
        <p:nvSpPr>
          <p:cNvPr id="197" name="Google Shape;197;p10"/>
          <p:cNvSpPr/>
          <p:nvPr/>
        </p:nvSpPr>
        <p:spPr>
          <a:xfrm>
            <a:off x="6217920" y="3401568"/>
            <a:ext cx="265176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A8A7E"/>
              </a:buClr>
              <a:buSzPts val="1200"/>
              <a:buFont typeface="Arial"/>
              <a:buNone/>
            </a:pPr>
            <a:r>
              <a:rPr b="0" i="0" lang="en-US" sz="1200" u="none" cap="none" strike="noStrike">
                <a:solidFill>
                  <a:srgbClr val="7A8A7E"/>
                </a:solidFill>
                <a:latin typeface="Arial"/>
                <a:ea typeface="Arial"/>
                <a:cs typeface="Arial"/>
                <a:sym typeface="Arial"/>
              </a:rPr>
              <a:t>Teams onboarding</a:t>
            </a:r>
            <a:endParaRPr b="0" i="0" sz="1200" u="none" cap="none" strike="noStrike">
              <a:solidFill>
                <a:schemeClr val="dk1"/>
              </a:solidFill>
              <a:latin typeface="Calibri"/>
              <a:ea typeface="Calibri"/>
              <a:cs typeface="Calibri"/>
              <a:sym typeface="Calibri"/>
            </a:endParaRPr>
          </a:p>
        </p:txBody>
      </p:sp>
      <p:sp>
        <p:nvSpPr>
          <p:cNvPr id="198" name="Google Shape;198;p10"/>
          <p:cNvSpPr/>
          <p:nvPr/>
        </p:nvSpPr>
        <p:spPr>
          <a:xfrm>
            <a:off x="457200" y="4069080"/>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TEAMS CURRENTLY IN PILOT</a:t>
            </a:r>
            <a:endParaRPr b="0" i="0" sz="900" u="none" cap="none" strike="noStrike">
              <a:solidFill>
                <a:schemeClr val="dk1"/>
              </a:solidFill>
              <a:latin typeface="Calibri"/>
              <a:ea typeface="Calibri"/>
              <a:cs typeface="Calibri"/>
              <a:sym typeface="Calibri"/>
            </a:endParaRPr>
          </a:p>
        </p:txBody>
      </p:sp>
      <p:sp>
        <p:nvSpPr>
          <p:cNvPr id="199" name="Google Shape;199;p10"/>
          <p:cNvSpPr/>
          <p:nvPr/>
        </p:nvSpPr>
        <p:spPr>
          <a:xfrm>
            <a:off x="457200" y="4434840"/>
            <a:ext cx="32004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200"/>
              <a:buFont typeface="Arial"/>
              <a:buNone/>
            </a:pPr>
            <a:r>
              <a:rPr b="0" i="0" lang="en-US" sz="1200" u="none" cap="none" strike="noStrike">
                <a:solidFill>
                  <a:srgbClr val="E8EEEA"/>
                </a:solidFill>
                <a:latin typeface="Arial"/>
                <a:ea typeface="Arial"/>
                <a:cs typeface="Arial"/>
                <a:sym typeface="Arial"/>
              </a:rPr>
              <a:t>Women's Rowing</a:t>
            </a:r>
            <a:endParaRPr b="0" i="0" sz="1200" u="none" cap="none" strike="noStrike">
              <a:solidFill>
                <a:schemeClr val="dk1"/>
              </a:solidFill>
              <a:latin typeface="Calibri"/>
              <a:ea typeface="Calibri"/>
              <a:cs typeface="Calibri"/>
              <a:sym typeface="Calibri"/>
            </a:endParaRPr>
          </a:p>
        </p:txBody>
      </p:sp>
      <p:sp>
        <p:nvSpPr>
          <p:cNvPr id="200" name="Google Shape;200;p10"/>
          <p:cNvSpPr/>
          <p:nvPr/>
        </p:nvSpPr>
        <p:spPr>
          <a:xfrm>
            <a:off x="3657600" y="4434840"/>
            <a:ext cx="82296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9F44E"/>
              </a:buClr>
              <a:buSzPts val="1100"/>
              <a:buFont typeface="Arial"/>
              <a:buNone/>
            </a:pPr>
            <a:r>
              <a:rPr b="0" i="0" lang="en-US" sz="1100" u="none" cap="none" strike="noStrike">
                <a:solidFill>
                  <a:srgbClr val="C9F44E"/>
                </a:solidFill>
                <a:latin typeface="Arial"/>
                <a:ea typeface="Arial"/>
                <a:cs typeface="Arial"/>
                <a:sym typeface="Arial"/>
              </a:rPr>
              <a:t>Active</a:t>
            </a:r>
            <a:endParaRPr b="0" i="0" sz="1100" u="none" cap="none" strike="noStrike">
              <a:solidFill>
                <a:schemeClr val="dk1"/>
              </a:solidFill>
              <a:latin typeface="Calibri"/>
              <a:ea typeface="Calibri"/>
              <a:cs typeface="Calibri"/>
              <a:sym typeface="Calibri"/>
            </a:endParaRPr>
          </a:p>
        </p:txBody>
      </p:sp>
      <p:sp>
        <p:nvSpPr>
          <p:cNvPr id="201" name="Google Shape;201;p10"/>
          <p:cNvSpPr/>
          <p:nvPr/>
        </p:nvSpPr>
        <p:spPr>
          <a:xfrm>
            <a:off x="457200" y="4690872"/>
            <a:ext cx="32004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200"/>
              <a:buFont typeface="Arial"/>
              <a:buNone/>
            </a:pPr>
            <a:r>
              <a:rPr b="0" i="0" lang="en-US" sz="1200" u="none" cap="none" strike="noStrike">
                <a:solidFill>
                  <a:srgbClr val="E8EEEA"/>
                </a:solidFill>
                <a:latin typeface="Arial"/>
                <a:ea typeface="Arial"/>
                <a:cs typeface="Arial"/>
                <a:sym typeface="Arial"/>
              </a:rPr>
              <a:t>Men's Rowing</a:t>
            </a:r>
            <a:endParaRPr b="0" i="0" sz="1200" u="none" cap="none" strike="noStrike">
              <a:solidFill>
                <a:schemeClr val="dk1"/>
              </a:solidFill>
              <a:latin typeface="Calibri"/>
              <a:ea typeface="Calibri"/>
              <a:cs typeface="Calibri"/>
              <a:sym typeface="Calibri"/>
            </a:endParaRPr>
          </a:p>
        </p:txBody>
      </p:sp>
      <p:sp>
        <p:nvSpPr>
          <p:cNvPr id="202" name="Google Shape;202;p10"/>
          <p:cNvSpPr/>
          <p:nvPr/>
        </p:nvSpPr>
        <p:spPr>
          <a:xfrm>
            <a:off x="3657600" y="4690872"/>
            <a:ext cx="82296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9F44E"/>
              </a:buClr>
              <a:buSzPts val="1100"/>
              <a:buFont typeface="Arial"/>
              <a:buNone/>
            </a:pPr>
            <a:r>
              <a:rPr b="0" i="0" lang="en-US" sz="1100" u="none" cap="none" strike="noStrike">
                <a:solidFill>
                  <a:srgbClr val="C9F44E"/>
                </a:solidFill>
                <a:latin typeface="Arial"/>
                <a:ea typeface="Arial"/>
                <a:cs typeface="Arial"/>
                <a:sym typeface="Arial"/>
              </a:rPr>
              <a:t>Active</a:t>
            </a:r>
            <a:endParaRPr b="0" i="0" sz="1100" u="none" cap="none" strike="noStrike">
              <a:solidFill>
                <a:schemeClr val="dk1"/>
              </a:solidFill>
              <a:latin typeface="Calibri"/>
              <a:ea typeface="Calibri"/>
              <a:cs typeface="Calibri"/>
              <a:sym typeface="Calibri"/>
            </a:endParaRPr>
          </a:p>
        </p:txBody>
      </p:sp>
      <p:sp>
        <p:nvSpPr>
          <p:cNvPr id="203" name="Google Shape;203;p10"/>
          <p:cNvSpPr/>
          <p:nvPr/>
        </p:nvSpPr>
        <p:spPr>
          <a:xfrm>
            <a:off x="457200" y="4946904"/>
            <a:ext cx="32004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200"/>
              <a:buFont typeface="Arial"/>
              <a:buNone/>
            </a:pPr>
            <a:r>
              <a:rPr b="0" i="0" lang="en-US" sz="1200" u="none" cap="none" strike="noStrike">
                <a:solidFill>
                  <a:srgbClr val="E8EEEA"/>
                </a:solidFill>
                <a:latin typeface="Arial"/>
                <a:ea typeface="Arial"/>
                <a:cs typeface="Arial"/>
                <a:sym typeface="Arial"/>
              </a:rPr>
              <a:t>Lightweight Rowing</a:t>
            </a:r>
            <a:endParaRPr b="0" i="0" sz="1200" u="none" cap="none" strike="noStrike">
              <a:solidFill>
                <a:schemeClr val="dk1"/>
              </a:solidFill>
              <a:latin typeface="Calibri"/>
              <a:ea typeface="Calibri"/>
              <a:cs typeface="Calibri"/>
              <a:sym typeface="Calibri"/>
            </a:endParaRPr>
          </a:p>
        </p:txBody>
      </p:sp>
      <p:sp>
        <p:nvSpPr>
          <p:cNvPr id="204" name="Google Shape;204;p10"/>
          <p:cNvSpPr/>
          <p:nvPr/>
        </p:nvSpPr>
        <p:spPr>
          <a:xfrm>
            <a:off x="3657600" y="4946904"/>
            <a:ext cx="82296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9F44E"/>
              </a:buClr>
              <a:buSzPts val="1100"/>
              <a:buFont typeface="Arial"/>
              <a:buNone/>
            </a:pPr>
            <a:r>
              <a:rPr b="0" i="0" lang="en-US" sz="1100" u="none" cap="none" strike="noStrike">
                <a:solidFill>
                  <a:srgbClr val="C9F44E"/>
                </a:solidFill>
                <a:latin typeface="Arial"/>
                <a:ea typeface="Arial"/>
                <a:cs typeface="Arial"/>
                <a:sym typeface="Arial"/>
              </a:rPr>
              <a:t>Active</a:t>
            </a:r>
            <a:endParaRPr b="0" i="0" sz="1100" u="none" cap="none" strike="noStrike">
              <a:solidFill>
                <a:schemeClr val="dk1"/>
              </a:solidFill>
              <a:latin typeface="Calibri"/>
              <a:ea typeface="Calibri"/>
              <a:cs typeface="Calibri"/>
              <a:sym typeface="Calibri"/>
            </a:endParaRPr>
          </a:p>
        </p:txBody>
      </p:sp>
      <p:sp>
        <p:nvSpPr>
          <p:cNvPr id="205" name="Google Shape;205;p10"/>
          <p:cNvSpPr/>
          <p:nvPr/>
        </p:nvSpPr>
        <p:spPr>
          <a:xfrm>
            <a:off x="4663440" y="4434840"/>
            <a:ext cx="32004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200"/>
              <a:buFont typeface="Arial"/>
              <a:buNone/>
            </a:pPr>
            <a:r>
              <a:rPr b="0" i="0" lang="en-US" sz="1200" u="none" cap="none" strike="noStrike">
                <a:solidFill>
                  <a:srgbClr val="E8EEEA"/>
                </a:solidFill>
                <a:latin typeface="Arial"/>
                <a:ea typeface="Arial"/>
                <a:cs typeface="Arial"/>
                <a:sym typeface="Arial"/>
              </a:rPr>
              <a:t>Lacrosse</a:t>
            </a:r>
            <a:endParaRPr b="0" i="0" sz="1200" u="none" cap="none" strike="noStrike">
              <a:solidFill>
                <a:schemeClr val="dk1"/>
              </a:solidFill>
              <a:latin typeface="Calibri"/>
              <a:ea typeface="Calibri"/>
              <a:cs typeface="Calibri"/>
              <a:sym typeface="Calibri"/>
            </a:endParaRPr>
          </a:p>
        </p:txBody>
      </p:sp>
      <p:sp>
        <p:nvSpPr>
          <p:cNvPr id="206" name="Google Shape;206;p10"/>
          <p:cNvSpPr/>
          <p:nvPr/>
        </p:nvSpPr>
        <p:spPr>
          <a:xfrm>
            <a:off x="7863840" y="4434840"/>
            <a:ext cx="82296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9F44E"/>
              </a:buClr>
              <a:buSzPts val="1100"/>
              <a:buFont typeface="Arial"/>
              <a:buNone/>
            </a:pPr>
            <a:r>
              <a:rPr b="0" i="0" lang="en-US" sz="1100" u="none" cap="none" strike="noStrike">
                <a:solidFill>
                  <a:srgbClr val="C9F44E"/>
                </a:solidFill>
                <a:latin typeface="Arial"/>
                <a:ea typeface="Arial"/>
                <a:cs typeface="Arial"/>
                <a:sym typeface="Arial"/>
              </a:rPr>
              <a:t>Active</a:t>
            </a:r>
            <a:endParaRPr b="0" i="0" sz="1100" u="none" cap="none" strike="noStrike">
              <a:solidFill>
                <a:schemeClr val="dk1"/>
              </a:solidFill>
              <a:latin typeface="Calibri"/>
              <a:ea typeface="Calibri"/>
              <a:cs typeface="Calibri"/>
              <a:sym typeface="Calibri"/>
            </a:endParaRPr>
          </a:p>
        </p:txBody>
      </p:sp>
      <p:sp>
        <p:nvSpPr>
          <p:cNvPr id="207" name="Google Shape;207;p10"/>
          <p:cNvSpPr/>
          <p:nvPr/>
        </p:nvSpPr>
        <p:spPr>
          <a:xfrm>
            <a:off x="4663440" y="4690872"/>
            <a:ext cx="32004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200"/>
              <a:buFont typeface="Arial"/>
              <a:buNone/>
            </a:pPr>
            <a:r>
              <a:rPr b="0" i="0" lang="en-US" sz="1200" u="none" cap="none" strike="noStrike">
                <a:solidFill>
                  <a:srgbClr val="E8EEEA"/>
                </a:solidFill>
                <a:latin typeface="Arial"/>
                <a:ea typeface="Arial"/>
                <a:cs typeface="Arial"/>
                <a:sym typeface="Arial"/>
              </a:rPr>
              <a:t>Soccer</a:t>
            </a:r>
            <a:endParaRPr b="0" i="0" sz="1200" u="none" cap="none" strike="noStrike">
              <a:solidFill>
                <a:schemeClr val="dk1"/>
              </a:solidFill>
              <a:latin typeface="Calibri"/>
              <a:ea typeface="Calibri"/>
              <a:cs typeface="Calibri"/>
              <a:sym typeface="Calibri"/>
            </a:endParaRPr>
          </a:p>
        </p:txBody>
      </p:sp>
      <p:sp>
        <p:nvSpPr>
          <p:cNvPr id="208" name="Google Shape;208;p10"/>
          <p:cNvSpPr/>
          <p:nvPr/>
        </p:nvSpPr>
        <p:spPr>
          <a:xfrm>
            <a:off x="7863840" y="4690872"/>
            <a:ext cx="82296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9F44E"/>
              </a:buClr>
              <a:buSzPts val="1100"/>
              <a:buFont typeface="Arial"/>
              <a:buNone/>
            </a:pPr>
            <a:r>
              <a:rPr b="0" i="0" lang="en-US" sz="1100" u="none" cap="none" strike="noStrike">
                <a:solidFill>
                  <a:srgbClr val="C9F44E"/>
                </a:solidFill>
                <a:latin typeface="Arial"/>
                <a:ea typeface="Arial"/>
                <a:cs typeface="Arial"/>
                <a:sym typeface="Arial"/>
              </a:rPr>
              <a:t>Active</a:t>
            </a:r>
            <a:endParaRPr b="0" i="0" sz="1100" u="none" cap="none" strike="noStrike">
              <a:solidFill>
                <a:schemeClr val="dk1"/>
              </a:solidFill>
              <a:latin typeface="Calibri"/>
              <a:ea typeface="Calibri"/>
              <a:cs typeface="Calibri"/>
              <a:sym typeface="Calibri"/>
            </a:endParaRPr>
          </a:p>
        </p:txBody>
      </p:sp>
      <p:sp>
        <p:nvSpPr>
          <p:cNvPr id="209" name="Google Shape;209;p10"/>
          <p:cNvSpPr/>
          <p:nvPr/>
        </p:nvSpPr>
        <p:spPr>
          <a:xfrm>
            <a:off x="4663440" y="4946904"/>
            <a:ext cx="32004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200"/>
              <a:buFont typeface="Arial"/>
              <a:buNone/>
            </a:pPr>
            <a:r>
              <a:rPr b="0" i="0" lang="en-US" sz="1200" u="none" cap="none" strike="noStrike">
                <a:solidFill>
                  <a:srgbClr val="E8EEEA"/>
                </a:solidFill>
                <a:latin typeface="Arial"/>
                <a:ea typeface="Arial"/>
                <a:cs typeface="Arial"/>
                <a:sym typeface="Arial"/>
              </a:rPr>
              <a:t>Track &amp; Field</a:t>
            </a:r>
            <a:endParaRPr b="0" i="0" sz="1200" u="none" cap="none" strike="noStrike">
              <a:solidFill>
                <a:schemeClr val="dk1"/>
              </a:solidFill>
              <a:latin typeface="Calibri"/>
              <a:ea typeface="Calibri"/>
              <a:cs typeface="Calibri"/>
              <a:sym typeface="Calibri"/>
            </a:endParaRPr>
          </a:p>
        </p:txBody>
      </p:sp>
      <p:sp>
        <p:nvSpPr>
          <p:cNvPr id="210" name="Google Shape;210;p10"/>
          <p:cNvSpPr/>
          <p:nvPr/>
        </p:nvSpPr>
        <p:spPr>
          <a:xfrm>
            <a:off x="7863840" y="4946904"/>
            <a:ext cx="82296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A8A7E"/>
              </a:buClr>
              <a:buSzPts val="1100"/>
              <a:buFont typeface="Arial"/>
              <a:buNone/>
            </a:pPr>
            <a:r>
              <a:rPr b="0" i="0" lang="en-US" sz="1100" u="none" cap="none" strike="noStrike">
                <a:solidFill>
                  <a:srgbClr val="7A8A7E"/>
                </a:solidFill>
                <a:latin typeface="Arial"/>
                <a:ea typeface="Arial"/>
                <a:cs typeface="Arial"/>
                <a:sym typeface="Arial"/>
              </a:rPr>
              <a:t>Onboarding</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215" name="Shape 215"/>
        <p:cNvGrpSpPr/>
        <p:nvPr/>
      </p:nvGrpSpPr>
      <p:grpSpPr>
        <a:xfrm>
          <a:off x="0" y="0"/>
          <a:ext cx="0" cy="0"/>
          <a:chOff x="0" y="0"/>
          <a:chExt cx="0" cy="0"/>
        </a:xfrm>
      </p:grpSpPr>
      <p:sp>
        <p:nvSpPr>
          <p:cNvPr id="216" name="Google Shape;216;p11"/>
          <p:cNvSpPr/>
          <p:nvPr/>
        </p:nvSpPr>
        <p:spPr>
          <a:xfrm>
            <a:off x="457200" y="2011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TRACTION</a:t>
            </a:r>
            <a:endParaRPr b="0" i="0" sz="900" u="none" cap="none" strike="noStrike">
              <a:solidFill>
                <a:schemeClr val="dk1"/>
              </a:solidFill>
              <a:latin typeface="Calibri"/>
              <a:ea typeface="Calibri"/>
              <a:cs typeface="Calibri"/>
              <a:sym typeface="Calibri"/>
            </a:endParaRPr>
          </a:p>
        </p:txBody>
      </p:sp>
      <p:sp>
        <p:nvSpPr>
          <p:cNvPr id="217" name="Google Shape;217;p11"/>
          <p:cNvSpPr/>
          <p:nvPr/>
        </p:nvSpPr>
        <p:spPr>
          <a:xfrm>
            <a:off x="457200" y="502920"/>
            <a:ext cx="8229600" cy="1005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2400"/>
              <a:buFont typeface="Bebas Neue"/>
              <a:buNone/>
            </a:pPr>
            <a:r>
              <a:rPr b="0" i="0" lang="en-US" sz="2400" u="none" cap="none" strike="noStrike">
                <a:solidFill>
                  <a:srgbClr val="FFFFFF"/>
                </a:solidFill>
                <a:latin typeface="Bebas Neue"/>
                <a:ea typeface="Bebas Neue"/>
                <a:cs typeface="Bebas Neue"/>
                <a:sym typeface="Bebas Neue"/>
              </a:rPr>
              <a:t>User research reveals the depth of the problem -- and the demand.</a:t>
            </a:r>
            <a:endParaRPr b="0" i="0" sz="2400" u="none" cap="none" strike="noStrike">
              <a:solidFill>
                <a:schemeClr val="dk1"/>
              </a:solidFill>
              <a:latin typeface="Calibri"/>
              <a:ea typeface="Calibri"/>
              <a:cs typeface="Calibri"/>
              <a:sym typeface="Calibri"/>
            </a:endParaRPr>
          </a:p>
        </p:txBody>
      </p:sp>
      <p:sp>
        <p:nvSpPr>
          <p:cNvPr id="218" name="Google Shape;218;p11"/>
          <p:cNvSpPr/>
          <p:nvPr/>
        </p:nvSpPr>
        <p:spPr>
          <a:xfrm>
            <a:off x="457200" y="1600200"/>
            <a:ext cx="8229600" cy="41148"/>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1"/>
          <p:cNvSpPr/>
          <p:nvPr/>
        </p:nvSpPr>
        <p:spPr>
          <a:xfrm>
            <a:off x="457200" y="1719072"/>
            <a:ext cx="82296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300"/>
              <a:buFont typeface="Arial"/>
              <a:buNone/>
            </a:pPr>
            <a:r>
              <a:rPr b="0" i="0" lang="en-US" sz="1300" u="none" cap="none" strike="noStrike">
                <a:solidFill>
                  <a:srgbClr val="E8EEEA"/>
                </a:solidFill>
                <a:latin typeface="Arial"/>
                <a:ea typeface="Arial"/>
                <a:cs typeface="Arial"/>
                <a:sym typeface="Arial"/>
              </a:rPr>
              <a:t>Before and during development we conducted structured interviews with Columbia student-athletes across sports. The themes were consistent.</a:t>
            </a:r>
            <a:endParaRPr b="0" i="0" sz="1300" u="none" cap="none" strike="noStrike">
              <a:solidFill>
                <a:schemeClr val="dk1"/>
              </a:solidFill>
              <a:latin typeface="Calibri"/>
              <a:ea typeface="Calibri"/>
              <a:cs typeface="Calibri"/>
              <a:sym typeface="Calibri"/>
            </a:endParaRPr>
          </a:p>
        </p:txBody>
      </p:sp>
      <p:sp>
        <p:nvSpPr>
          <p:cNvPr id="220" name="Google Shape;220;p11"/>
          <p:cNvSpPr/>
          <p:nvPr/>
        </p:nvSpPr>
        <p:spPr>
          <a:xfrm>
            <a:off x="457200" y="2423160"/>
            <a:ext cx="8229600" cy="749808"/>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a:off x="457200" y="2423160"/>
            <a:ext cx="50292" cy="749808"/>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a:off x="658368" y="2514600"/>
            <a:ext cx="78638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Arial"/>
              <a:buNone/>
            </a:pPr>
            <a:r>
              <a:rPr b="0" i="1" lang="en-US" sz="1300" u="none" cap="none" strike="noStrike">
                <a:solidFill>
                  <a:srgbClr val="FFFFFF"/>
                </a:solidFill>
                <a:latin typeface="Arial"/>
                <a:ea typeface="Arial"/>
                <a:cs typeface="Arial"/>
                <a:sym typeface="Arial"/>
              </a:rPr>
              <a:t>"I want to be able to communicate my injuries without going through other sources."</a:t>
            </a:r>
            <a:endParaRPr b="0" i="0" sz="1300" u="none" cap="none" strike="noStrike">
              <a:solidFill>
                <a:schemeClr val="dk1"/>
              </a:solidFill>
              <a:latin typeface="Calibri"/>
              <a:ea typeface="Calibri"/>
              <a:cs typeface="Calibri"/>
              <a:sym typeface="Calibri"/>
            </a:endParaRPr>
          </a:p>
        </p:txBody>
      </p:sp>
      <p:sp>
        <p:nvSpPr>
          <p:cNvPr id="223" name="Google Shape;223;p11"/>
          <p:cNvSpPr/>
          <p:nvPr/>
        </p:nvSpPr>
        <p:spPr>
          <a:xfrm>
            <a:off x="658368" y="2916936"/>
            <a:ext cx="78638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A7E"/>
              </a:buClr>
              <a:buSzPts val="1000"/>
              <a:buFont typeface="Arial"/>
              <a:buNone/>
            </a:pPr>
            <a:r>
              <a:rPr b="0" i="0" lang="en-US" sz="1000" u="none" cap="none" strike="noStrike">
                <a:solidFill>
                  <a:srgbClr val="7A8A7E"/>
                </a:solidFill>
                <a:latin typeface="Arial"/>
                <a:ea typeface="Arial"/>
                <a:cs typeface="Arial"/>
                <a:sym typeface="Arial"/>
              </a:rPr>
              <a:t>Columbia athlete, interviewed during user research</a:t>
            </a:r>
            <a:endParaRPr b="0" i="0" sz="1000" u="none" cap="none" strike="noStrike">
              <a:solidFill>
                <a:schemeClr val="dk1"/>
              </a:solidFill>
              <a:latin typeface="Calibri"/>
              <a:ea typeface="Calibri"/>
              <a:cs typeface="Calibri"/>
              <a:sym typeface="Calibri"/>
            </a:endParaRPr>
          </a:p>
        </p:txBody>
      </p:sp>
      <p:sp>
        <p:nvSpPr>
          <p:cNvPr id="224" name="Google Shape;224;p11"/>
          <p:cNvSpPr/>
          <p:nvPr/>
        </p:nvSpPr>
        <p:spPr>
          <a:xfrm>
            <a:off x="457200" y="3319272"/>
            <a:ext cx="8229600" cy="749808"/>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a:off x="457200" y="3319272"/>
            <a:ext cx="50292" cy="749808"/>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a:off x="658368" y="3410712"/>
            <a:ext cx="78638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Arial"/>
              <a:buNone/>
            </a:pPr>
            <a:r>
              <a:rPr b="0" i="1" lang="en-US" sz="1300" u="none" cap="none" strike="noStrike">
                <a:solidFill>
                  <a:srgbClr val="FFFFFF"/>
                </a:solidFill>
                <a:latin typeface="Arial"/>
                <a:ea typeface="Arial"/>
                <a:cs typeface="Arial"/>
                <a:sym typeface="Arial"/>
              </a:rPr>
              <a:t>"Half the time I just round to something easier. I do not know if it is really 80%."</a:t>
            </a:r>
            <a:endParaRPr b="0" i="0" sz="1300" u="none" cap="none" strike="noStrike">
              <a:solidFill>
                <a:schemeClr val="dk1"/>
              </a:solidFill>
              <a:latin typeface="Calibri"/>
              <a:ea typeface="Calibri"/>
              <a:cs typeface="Calibri"/>
              <a:sym typeface="Calibri"/>
            </a:endParaRPr>
          </a:p>
        </p:txBody>
      </p:sp>
      <p:sp>
        <p:nvSpPr>
          <p:cNvPr id="227" name="Google Shape;227;p11"/>
          <p:cNvSpPr/>
          <p:nvPr/>
        </p:nvSpPr>
        <p:spPr>
          <a:xfrm>
            <a:off x="658368" y="3813048"/>
            <a:ext cx="78638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A7E"/>
              </a:buClr>
              <a:buSzPts val="1000"/>
              <a:buFont typeface="Arial"/>
              <a:buNone/>
            </a:pPr>
            <a:r>
              <a:rPr b="0" i="0" lang="en-US" sz="1000" u="none" cap="none" strike="noStrike">
                <a:solidFill>
                  <a:srgbClr val="7A8A7E"/>
                </a:solidFill>
                <a:latin typeface="Arial"/>
                <a:ea typeface="Arial"/>
                <a:cs typeface="Arial"/>
                <a:sym typeface="Arial"/>
              </a:rPr>
              <a:t>Columbia athlete, on calculating working weights mid-session</a:t>
            </a:r>
            <a:endParaRPr b="0" i="0" sz="1000" u="none" cap="none" strike="noStrike">
              <a:solidFill>
                <a:schemeClr val="dk1"/>
              </a:solidFill>
              <a:latin typeface="Calibri"/>
              <a:ea typeface="Calibri"/>
              <a:cs typeface="Calibri"/>
              <a:sym typeface="Calibri"/>
            </a:endParaRPr>
          </a:p>
        </p:txBody>
      </p:sp>
      <p:sp>
        <p:nvSpPr>
          <p:cNvPr id="228" name="Google Shape;228;p11"/>
          <p:cNvSpPr/>
          <p:nvPr/>
        </p:nvSpPr>
        <p:spPr>
          <a:xfrm>
            <a:off x="457200" y="4215384"/>
            <a:ext cx="8229600" cy="749808"/>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1"/>
          <p:cNvSpPr/>
          <p:nvPr/>
        </p:nvSpPr>
        <p:spPr>
          <a:xfrm>
            <a:off x="457200" y="4215384"/>
            <a:ext cx="50292" cy="749808"/>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a:off x="658368" y="4306824"/>
            <a:ext cx="78638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Arial"/>
              <a:buNone/>
            </a:pPr>
            <a:r>
              <a:rPr b="0" i="1" lang="en-US" sz="1300" u="none" cap="none" strike="noStrike">
                <a:solidFill>
                  <a:srgbClr val="FFFFFF"/>
                </a:solidFill>
                <a:latin typeface="Arial"/>
                <a:ea typeface="Arial"/>
                <a:cs typeface="Arial"/>
                <a:sym typeface="Arial"/>
              </a:rPr>
              <a:t>"I do not always follow the program when I am tired. No one checks."</a:t>
            </a:r>
            <a:endParaRPr b="0" i="0" sz="1300" u="none" cap="none" strike="noStrike">
              <a:solidFill>
                <a:schemeClr val="dk1"/>
              </a:solidFill>
              <a:latin typeface="Calibri"/>
              <a:ea typeface="Calibri"/>
              <a:cs typeface="Calibri"/>
              <a:sym typeface="Calibri"/>
            </a:endParaRPr>
          </a:p>
        </p:txBody>
      </p:sp>
      <p:sp>
        <p:nvSpPr>
          <p:cNvPr id="231" name="Google Shape;231;p11"/>
          <p:cNvSpPr/>
          <p:nvPr/>
        </p:nvSpPr>
        <p:spPr>
          <a:xfrm>
            <a:off x="658368" y="4709160"/>
            <a:ext cx="78638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A7E"/>
              </a:buClr>
              <a:buSzPts val="1000"/>
              <a:buFont typeface="Arial"/>
              <a:buNone/>
            </a:pPr>
            <a:r>
              <a:rPr b="0" i="0" lang="en-US" sz="1000" u="none" cap="none" strike="noStrike">
                <a:solidFill>
                  <a:srgbClr val="7A8A7E"/>
                </a:solidFill>
                <a:latin typeface="Arial"/>
                <a:ea typeface="Arial"/>
                <a:cs typeface="Arial"/>
                <a:sym typeface="Arial"/>
              </a:rPr>
              <a:t>Columbia athlete, on accountability and completion tracking</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236" name="Shape 236"/>
        <p:cNvGrpSpPr/>
        <p:nvPr/>
      </p:nvGrpSpPr>
      <p:grpSpPr>
        <a:xfrm>
          <a:off x="0" y="0"/>
          <a:ext cx="0" cy="0"/>
          <a:chOff x="0" y="0"/>
          <a:chExt cx="0" cy="0"/>
        </a:xfrm>
      </p:grpSpPr>
      <p:sp>
        <p:nvSpPr>
          <p:cNvPr id="237" name="Google Shape;237;p12"/>
          <p:cNvSpPr/>
          <p:nvPr/>
        </p:nvSpPr>
        <p:spPr>
          <a:xfrm>
            <a:off x="457200" y="2011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BUSINESS MODEL</a:t>
            </a:r>
            <a:endParaRPr b="0" i="0" sz="900" u="none" cap="none" strike="noStrike">
              <a:solidFill>
                <a:schemeClr val="dk1"/>
              </a:solidFill>
              <a:latin typeface="Calibri"/>
              <a:ea typeface="Calibri"/>
              <a:cs typeface="Calibri"/>
              <a:sym typeface="Calibri"/>
            </a:endParaRPr>
          </a:p>
        </p:txBody>
      </p:sp>
      <p:sp>
        <p:nvSpPr>
          <p:cNvPr id="238" name="Google Shape;238;p12"/>
          <p:cNvSpPr/>
          <p:nvPr/>
        </p:nvSpPr>
        <p:spPr>
          <a:xfrm>
            <a:off x="457200" y="502920"/>
            <a:ext cx="8229600" cy="1005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3000"/>
              <a:buFont typeface="Bebas Neue"/>
              <a:buNone/>
            </a:pPr>
            <a:r>
              <a:rPr b="0" i="0" lang="en-US" sz="3000" u="none" cap="none" strike="noStrike">
                <a:solidFill>
                  <a:srgbClr val="FFFFFF"/>
                </a:solidFill>
                <a:latin typeface="Bebas Neue"/>
                <a:ea typeface="Bebas Neue"/>
                <a:cs typeface="Bebas Neue"/>
                <a:sym typeface="Bebas Neue"/>
              </a:rPr>
              <a:t>Coaches pay. Athletes join free. The incentives align perfectly.</a:t>
            </a:r>
            <a:endParaRPr b="0" i="0" sz="3000" u="none" cap="none" strike="noStrike">
              <a:solidFill>
                <a:schemeClr val="dk1"/>
              </a:solidFill>
              <a:latin typeface="Calibri"/>
              <a:ea typeface="Calibri"/>
              <a:cs typeface="Calibri"/>
              <a:sym typeface="Calibri"/>
            </a:endParaRPr>
          </a:p>
        </p:txBody>
      </p:sp>
      <p:sp>
        <p:nvSpPr>
          <p:cNvPr id="239" name="Google Shape;239;p12"/>
          <p:cNvSpPr/>
          <p:nvPr/>
        </p:nvSpPr>
        <p:spPr>
          <a:xfrm>
            <a:off x="457200" y="1600200"/>
            <a:ext cx="8229600" cy="41148"/>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2"/>
          <p:cNvSpPr/>
          <p:nvPr/>
        </p:nvSpPr>
        <p:spPr>
          <a:xfrm>
            <a:off x="457200" y="1719072"/>
            <a:ext cx="82296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300"/>
              <a:buFont typeface="Arial"/>
              <a:buNone/>
            </a:pPr>
            <a:r>
              <a:rPr b="0" i="0" lang="en-US" sz="1300" u="none" cap="none" strike="noStrike">
                <a:solidFill>
                  <a:srgbClr val="E8EEEA"/>
                </a:solidFill>
                <a:latin typeface="Arial"/>
                <a:ea typeface="Arial"/>
                <a:cs typeface="Arial"/>
                <a:sym typeface="Arial"/>
              </a:rPr>
              <a:t>The model is coach-side SaaS with a free athlete tier. Coaches pay because they extract the primary value: program management, auto-calculation, and completion visibility. Athletes join free because lowering their barrier to adoption directly increases the value delivered to coaches.</a:t>
            </a:r>
            <a:endParaRPr b="0" i="0" sz="1300" u="none" cap="none" strike="noStrike">
              <a:solidFill>
                <a:schemeClr val="dk1"/>
              </a:solidFill>
              <a:latin typeface="Calibri"/>
              <a:ea typeface="Calibri"/>
              <a:cs typeface="Calibri"/>
              <a:sym typeface="Calibri"/>
            </a:endParaRPr>
          </a:p>
        </p:txBody>
      </p:sp>
      <p:sp>
        <p:nvSpPr>
          <p:cNvPr id="241" name="Google Shape;241;p12"/>
          <p:cNvSpPr/>
          <p:nvPr/>
        </p:nvSpPr>
        <p:spPr>
          <a:xfrm>
            <a:off x="457200" y="2788920"/>
            <a:ext cx="3840480" cy="2103120"/>
          </a:xfrm>
          <a:prstGeom prst="rect">
            <a:avLst/>
          </a:prstGeom>
          <a:solidFill>
            <a:srgbClr val="22282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2"/>
          <p:cNvSpPr/>
          <p:nvPr/>
        </p:nvSpPr>
        <p:spPr>
          <a:xfrm>
            <a:off x="457200" y="2788920"/>
            <a:ext cx="3840480" cy="50292"/>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2"/>
          <p:cNvSpPr/>
          <p:nvPr/>
        </p:nvSpPr>
        <p:spPr>
          <a:xfrm>
            <a:off x="566928" y="2926080"/>
            <a:ext cx="35661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COACHES  (subscription)</a:t>
            </a:r>
            <a:endParaRPr b="0" i="0" sz="900" u="none" cap="none" strike="noStrike">
              <a:solidFill>
                <a:schemeClr val="dk1"/>
              </a:solidFill>
              <a:latin typeface="Calibri"/>
              <a:ea typeface="Calibri"/>
              <a:cs typeface="Calibri"/>
              <a:sym typeface="Calibri"/>
            </a:endParaRPr>
          </a:p>
        </p:txBody>
      </p:sp>
      <p:sp>
        <p:nvSpPr>
          <p:cNvPr id="244" name="Google Shape;244;p12"/>
          <p:cNvSpPr/>
          <p:nvPr/>
        </p:nvSpPr>
        <p:spPr>
          <a:xfrm>
            <a:off x="566928" y="3291840"/>
            <a:ext cx="3566160" cy="13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EEA"/>
              </a:buClr>
              <a:buSzPts val="1200"/>
              <a:buFont typeface="Arial"/>
              <a:buNone/>
            </a:pPr>
            <a:r>
              <a:rPr b="0" i="0" lang="en-US" sz="1200" u="none" cap="none" strike="noStrike">
                <a:solidFill>
                  <a:srgbClr val="E8EEEA"/>
                </a:solidFill>
                <a:latin typeface="Arial"/>
                <a:ea typeface="Arial"/>
                <a:cs typeface="Arial"/>
                <a:sym typeface="Arial"/>
              </a:rPr>
              <a:t>Monthly or annual SaaS fee per coaching staff. Pricing scales with roster size and number of teams. The coach is the decision maker; the purchase is a professional tool purchase, not a consumer spend.</a:t>
            </a:r>
            <a:endParaRPr b="0" i="0" sz="1200" u="none" cap="none" strike="noStrike">
              <a:solidFill>
                <a:schemeClr val="dk1"/>
              </a:solidFill>
              <a:latin typeface="Calibri"/>
              <a:ea typeface="Calibri"/>
              <a:cs typeface="Calibri"/>
              <a:sym typeface="Calibri"/>
            </a:endParaRPr>
          </a:p>
        </p:txBody>
      </p:sp>
      <p:sp>
        <p:nvSpPr>
          <p:cNvPr id="245" name="Google Shape;245;p12"/>
          <p:cNvSpPr/>
          <p:nvPr/>
        </p:nvSpPr>
        <p:spPr>
          <a:xfrm>
            <a:off x="4663440" y="2788920"/>
            <a:ext cx="3840480" cy="2103120"/>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2"/>
          <p:cNvSpPr/>
          <p:nvPr/>
        </p:nvSpPr>
        <p:spPr>
          <a:xfrm>
            <a:off x="4773168" y="2926080"/>
            <a:ext cx="35661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A7E"/>
              </a:buClr>
              <a:buSzPts val="900"/>
              <a:buFont typeface="Arial"/>
              <a:buNone/>
            </a:pPr>
            <a:r>
              <a:rPr b="1" i="0" lang="en-US" sz="900" u="none" cap="none" strike="noStrike">
                <a:solidFill>
                  <a:srgbClr val="7A8A7E"/>
                </a:solidFill>
                <a:latin typeface="Arial"/>
                <a:ea typeface="Arial"/>
                <a:cs typeface="Arial"/>
                <a:sym typeface="Arial"/>
              </a:rPr>
              <a:t>ATHLETES  (free)</a:t>
            </a:r>
            <a:endParaRPr b="0" i="0" sz="900" u="none" cap="none" strike="noStrike">
              <a:solidFill>
                <a:schemeClr val="dk1"/>
              </a:solidFill>
              <a:latin typeface="Calibri"/>
              <a:ea typeface="Calibri"/>
              <a:cs typeface="Calibri"/>
              <a:sym typeface="Calibri"/>
            </a:endParaRPr>
          </a:p>
        </p:txBody>
      </p:sp>
      <p:sp>
        <p:nvSpPr>
          <p:cNvPr id="247" name="Google Shape;247;p12"/>
          <p:cNvSpPr/>
          <p:nvPr/>
        </p:nvSpPr>
        <p:spPr>
          <a:xfrm>
            <a:off x="4773168" y="3291840"/>
            <a:ext cx="3566160" cy="13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EEA"/>
              </a:buClr>
              <a:buSzPts val="1200"/>
              <a:buFont typeface="Arial"/>
              <a:buNone/>
            </a:pPr>
            <a:r>
              <a:rPr b="0" i="0" lang="en-US" sz="1200" u="none" cap="none" strike="noStrike">
                <a:solidFill>
                  <a:srgbClr val="E8EEEA"/>
                </a:solidFill>
                <a:latin typeface="Arial"/>
                <a:ea typeface="Arial"/>
                <a:cs typeface="Arial"/>
                <a:sym typeface="Arial"/>
              </a:rPr>
              <a:t>Free for all athletes, permanently. If athletes do not use the app, coaches have no reason to pay for it. The free tier is not a compromise -- it is the mechanic that makes the business model work.</a:t>
            </a:r>
            <a:endParaRPr b="0" i="0" sz="1200" u="none" cap="none" strike="noStrike">
              <a:solidFill>
                <a:schemeClr val="dk1"/>
              </a:solidFill>
              <a:latin typeface="Calibri"/>
              <a:ea typeface="Calibri"/>
              <a:cs typeface="Calibri"/>
              <a:sym typeface="Calibri"/>
            </a:endParaRPr>
          </a:p>
        </p:txBody>
      </p:sp>
      <p:sp>
        <p:nvSpPr>
          <p:cNvPr id="248" name="Google Shape;248;p12"/>
          <p:cNvSpPr/>
          <p:nvPr/>
        </p:nvSpPr>
        <p:spPr>
          <a:xfrm>
            <a:off x="457200" y="4983480"/>
            <a:ext cx="822960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A8A7E"/>
              </a:buClr>
              <a:buSzPts val="1000"/>
              <a:buFont typeface="Arial"/>
              <a:buNone/>
            </a:pPr>
            <a:r>
              <a:rPr b="0" i="0" lang="en-US" sz="1000" u="none" cap="none" strike="noStrike">
                <a:solidFill>
                  <a:srgbClr val="7A8A7E"/>
                </a:solidFill>
                <a:latin typeface="Arial"/>
                <a:ea typeface="Arial"/>
                <a:cs typeface="Arial"/>
                <a:sym typeface="Arial"/>
              </a:rPr>
              <a:t>Expansion path:  Columbia  &gt;  Ivy League  &gt;  D1 Programs  &gt;  Personal Trainers  &gt;  High School + Private Coaching</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253" name="Shape 253"/>
        <p:cNvGrpSpPr/>
        <p:nvPr/>
      </p:nvGrpSpPr>
      <p:grpSpPr>
        <a:xfrm>
          <a:off x="0" y="0"/>
          <a:ext cx="0" cy="0"/>
          <a:chOff x="0" y="0"/>
          <a:chExt cx="0" cy="0"/>
        </a:xfrm>
      </p:grpSpPr>
      <p:sp>
        <p:nvSpPr>
          <p:cNvPr id="254" name="Google Shape;254;p13"/>
          <p:cNvSpPr/>
          <p:nvPr/>
        </p:nvSpPr>
        <p:spPr>
          <a:xfrm>
            <a:off x="457200" y="2011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MARKET SIZE</a:t>
            </a:r>
            <a:endParaRPr b="0" i="0" sz="900" u="none" cap="none" strike="noStrike">
              <a:solidFill>
                <a:schemeClr val="dk1"/>
              </a:solidFill>
              <a:latin typeface="Calibri"/>
              <a:ea typeface="Calibri"/>
              <a:cs typeface="Calibri"/>
              <a:sym typeface="Calibri"/>
            </a:endParaRPr>
          </a:p>
        </p:txBody>
      </p:sp>
      <p:sp>
        <p:nvSpPr>
          <p:cNvPr id="255" name="Google Shape;255;p13"/>
          <p:cNvSpPr/>
          <p:nvPr/>
        </p:nvSpPr>
        <p:spPr>
          <a:xfrm>
            <a:off x="457200" y="502920"/>
            <a:ext cx="8229600" cy="1005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3000"/>
              <a:buFont typeface="Bebas Neue"/>
              <a:buNone/>
            </a:pPr>
            <a:r>
              <a:rPr b="0" i="0" lang="en-US" sz="3000" u="none" cap="none" strike="noStrike">
                <a:solidFill>
                  <a:srgbClr val="FFFFFF"/>
                </a:solidFill>
                <a:latin typeface="Bebas Neue"/>
                <a:ea typeface="Bebas Neue"/>
                <a:cs typeface="Bebas Neue"/>
                <a:sym typeface="Bebas Neue"/>
              </a:rPr>
              <a:t>The addressable market extends well beyond college athletics.</a:t>
            </a:r>
            <a:endParaRPr b="0" i="0" sz="3000" u="none" cap="none" strike="noStrike">
              <a:solidFill>
                <a:schemeClr val="dk1"/>
              </a:solidFill>
              <a:latin typeface="Calibri"/>
              <a:ea typeface="Calibri"/>
              <a:cs typeface="Calibri"/>
              <a:sym typeface="Calibri"/>
            </a:endParaRPr>
          </a:p>
        </p:txBody>
      </p:sp>
      <p:sp>
        <p:nvSpPr>
          <p:cNvPr id="256" name="Google Shape;256;p13"/>
          <p:cNvSpPr/>
          <p:nvPr/>
        </p:nvSpPr>
        <p:spPr>
          <a:xfrm>
            <a:off x="457200" y="1600200"/>
            <a:ext cx="8229600" cy="41148"/>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3"/>
          <p:cNvSpPr/>
          <p:nvPr/>
        </p:nvSpPr>
        <p:spPr>
          <a:xfrm>
            <a:off x="457200" y="1719072"/>
            <a:ext cx="82296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300"/>
              <a:buFont typeface="Arial"/>
              <a:buNone/>
            </a:pPr>
            <a:r>
              <a:rPr b="0" i="0" lang="en-US" sz="1300" u="none" cap="none" strike="noStrike">
                <a:solidFill>
                  <a:srgbClr val="E8EEEA"/>
                </a:solidFill>
                <a:latin typeface="Arial"/>
                <a:ea typeface="Arial"/>
                <a:cs typeface="Arial"/>
                <a:sym typeface="Arial"/>
              </a:rPr>
              <a:t>Our initial rollout targets college strength and conditioning programs. But the product is built for anyone who coaches multiple athletes -- which is a significantly larger market.</a:t>
            </a:r>
            <a:endParaRPr b="0" i="0" sz="1300" u="none" cap="none" strike="noStrike">
              <a:solidFill>
                <a:schemeClr val="dk1"/>
              </a:solidFill>
              <a:latin typeface="Calibri"/>
              <a:ea typeface="Calibri"/>
              <a:cs typeface="Calibri"/>
              <a:sym typeface="Calibri"/>
            </a:endParaRPr>
          </a:p>
        </p:txBody>
      </p:sp>
      <p:sp>
        <p:nvSpPr>
          <p:cNvPr id="258" name="Google Shape;258;p13"/>
          <p:cNvSpPr/>
          <p:nvPr/>
        </p:nvSpPr>
        <p:spPr>
          <a:xfrm>
            <a:off x="457200" y="2514600"/>
            <a:ext cx="8229600" cy="713232"/>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3"/>
          <p:cNvSpPr/>
          <p:nvPr/>
        </p:nvSpPr>
        <p:spPr>
          <a:xfrm>
            <a:off x="594360" y="2606040"/>
            <a:ext cx="20116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NCAA D1 S&amp;C</a:t>
            </a:r>
            <a:endParaRPr b="0" i="0" sz="1200" u="none" cap="none" strike="noStrike">
              <a:solidFill>
                <a:schemeClr val="dk1"/>
              </a:solidFill>
              <a:latin typeface="Calibri"/>
              <a:ea typeface="Calibri"/>
              <a:cs typeface="Calibri"/>
              <a:sym typeface="Calibri"/>
            </a:endParaRPr>
          </a:p>
        </p:txBody>
      </p:sp>
      <p:sp>
        <p:nvSpPr>
          <p:cNvPr id="260" name="Google Shape;260;p13"/>
          <p:cNvSpPr/>
          <p:nvPr/>
        </p:nvSpPr>
        <p:spPr>
          <a:xfrm>
            <a:off x="2743200" y="2606040"/>
            <a:ext cx="37490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A7E"/>
              </a:buClr>
              <a:buSzPts val="1100"/>
              <a:buFont typeface="Arial"/>
              <a:buNone/>
            </a:pPr>
            <a:r>
              <a:rPr b="0" i="0" lang="en-US" sz="1100" u="none" cap="none" strike="noStrike">
                <a:solidFill>
                  <a:srgbClr val="7A8A7E"/>
                </a:solidFill>
                <a:latin typeface="Arial"/>
                <a:ea typeface="Arial"/>
                <a:cs typeface="Arial"/>
                <a:sym typeface="Arial"/>
              </a:rPr>
              <a:t>~1,100 D1 programs, averaging 2 strength coaches each</a:t>
            </a:r>
            <a:endParaRPr b="0" i="0" sz="1100" u="none" cap="none" strike="noStrike">
              <a:solidFill>
                <a:schemeClr val="dk1"/>
              </a:solidFill>
              <a:latin typeface="Calibri"/>
              <a:ea typeface="Calibri"/>
              <a:cs typeface="Calibri"/>
              <a:sym typeface="Calibri"/>
            </a:endParaRPr>
          </a:p>
        </p:txBody>
      </p:sp>
      <p:sp>
        <p:nvSpPr>
          <p:cNvPr id="261" name="Google Shape;261;p13"/>
          <p:cNvSpPr/>
          <p:nvPr/>
        </p:nvSpPr>
        <p:spPr>
          <a:xfrm>
            <a:off x="6583680" y="2606040"/>
            <a:ext cx="1920240" cy="5029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EEEA"/>
              </a:buClr>
              <a:buSzPts val="1800"/>
              <a:buFont typeface="Bebas Neue"/>
              <a:buNone/>
            </a:pPr>
            <a:r>
              <a:rPr b="0" i="0" lang="en-US" sz="1800" u="none" cap="none" strike="noStrike">
                <a:solidFill>
                  <a:srgbClr val="E8EEEA"/>
                </a:solidFill>
                <a:latin typeface="Bebas Neue"/>
                <a:ea typeface="Bebas Neue"/>
                <a:cs typeface="Bebas Neue"/>
                <a:sym typeface="Bebas Neue"/>
              </a:rPr>
              <a:t>$5.3M ARR</a:t>
            </a:r>
            <a:endParaRPr b="0" i="0" sz="1800" u="none" cap="none" strike="noStrike">
              <a:solidFill>
                <a:schemeClr val="dk1"/>
              </a:solidFill>
              <a:latin typeface="Calibri"/>
              <a:ea typeface="Calibri"/>
              <a:cs typeface="Calibri"/>
              <a:sym typeface="Calibri"/>
            </a:endParaRPr>
          </a:p>
        </p:txBody>
      </p:sp>
      <p:sp>
        <p:nvSpPr>
          <p:cNvPr id="262" name="Google Shape;262;p13"/>
          <p:cNvSpPr/>
          <p:nvPr/>
        </p:nvSpPr>
        <p:spPr>
          <a:xfrm>
            <a:off x="457200" y="3319272"/>
            <a:ext cx="8229600" cy="713232"/>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3"/>
          <p:cNvSpPr/>
          <p:nvPr/>
        </p:nvSpPr>
        <p:spPr>
          <a:xfrm>
            <a:off x="594360" y="3410712"/>
            <a:ext cx="20116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NCAA D2 / D3 + High School</a:t>
            </a:r>
            <a:endParaRPr b="0" i="0" sz="1200" u="none" cap="none" strike="noStrike">
              <a:solidFill>
                <a:schemeClr val="dk1"/>
              </a:solidFill>
              <a:latin typeface="Calibri"/>
              <a:ea typeface="Calibri"/>
              <a:cs typeface="Calibri"/>
              <a:sym typeface="Calibri"/>
            </a:endParaRPr>
          </a:p>
        </p:txBody>
      </p:sp>
      <p:sp>
        <p:nvSpPr>
          <p:cNvPr id="264" name="Google Shape;264;p13"/>
          <p:cNvSpPr/>
          <p:nvPr/>
        </p:nvSpPr>
        <p:spPr>
          <a:xfrm>
            <a:off x="2743200" y="3410712"/>
            <a:ext cx="37490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A7E"/>
              </a:buClr>
              <a:buSzPts val="1100"/>
              <a:buFont typeface="Arial"/>
              <a:buNone/>
            </a:pPr>
            <a:r>
              <a:rPr b="0" i="0" lang="en-US" sz="1100" u="none" cap="none" strike="noStrike">
                <a:solidFill>
                  <a:srgbClr val="7A8A7E"/>
                </a:solidFill>
                <a:latin typeface="Arial"/>
                <a:ea typeface="Arial"/>
                <a:cs typeface="Arial"/>
                <a:sym typeface="Arial"/>
              </a:rPr>
              <a:t>~3,500 additional programs at lower price points</a:t>
            </a:r>
            <a:endParaRPr b="0" i="0" sz="1100" u="none" cap="none" strike="noStrike">
              <a:solidFill>
                <a:schemeClr val="dk1"/>
              </a:solidFill>
              <a:latin typeface="Calibri"/>
              <a:ea typeface="Calibri"/>
              <a:cs typeface="Calibri"/>
              <a:sym typeface="Calibri"/>
            </a:endParaRPr>
          </a:p>
        </p:txBody>
      </p:sp>
      <p:sp>
        <p:nvSpPr>
          <p:cNvPr id="265" name="Google Shape;265;p13"/>
          <p:cNvSpPr/>
          <p:nvPr/>
        </p:nvSpPr>
        <p:spPr>
          <a:xfrm>
            <a:off x="6583680" y="3410712"/>
            <a:ext cx="1920240" cy="5029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EEEA"/>
              </a:buClr>
              <a:buSzPts val="1800"/>
              <a:buFont typeface="Bebas Neue"/>
              <a:buNone/>
            </a:pPr>
            <a:r>
              <a:rPr b="0" i="0" lang="en-US" sz="1800" u="none" cap="none" strike="noStrike">
                <a:solidFill>
                  <a:srgbClr val="E8EEEA"/>
                </a:solidFill>
                <a:latin typeface="Bebas Neue"/>
                <a:ea typeface="Bebas Neue"/>
                <a:cs typeface="Bebas Neue"/>
                <a:sym typeface="Bebas Neue"/>
              </a:rPr>
              <a:t>$8M+ ARR</a:t>
            </a:r>
            <a:endParaRPr b="0" i="0" sz="1800" u="none" cap="none" strike="noStrike">
              <a:solidFill>
                <a:schemeClr val="dk1"/>
              </a:solidFill>
              <a:latin typeface="Calibri"/>
              <a:ea typeface="Calibri"/>
              <a:cs typeface="Calibri"/>
              <a:sym typeface="Calibri"/>
            </a:endParaRPr>
          </a:p>
        </p:txBody>
      </p:sp>
      <p:sp>
        <p:nvSpPr>
          <p:cNvPr id="266" name="Google Shape;266;p13"/>
          <p:cNvSpPr/>
          <p:nvPr/>
        </p:nvSpPr>
        <p:spPr>
          <a:xfrm>
            <a:off x="457200" y="4123944"/>
            <a:ext cx="8229600" cy="713232"/>
          </a:xfrm>
          <a:prstGeom prst="rect">
            <a:avLst/>
          </a:prstGeom>
          <a:solidFill>
            <a:srgbClr val="1A2B1C"/>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3"/>
          <p:cNvSpPr/>
          <p:nvPr/>
        </p:nvSpPr>
        <p:spPr>
          <a:xfrm>
            <a:off x="594360" y="4215384"/>
            <a:ext cx="20116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1200"/>
              <a:buFont typeface="Arial"/>
              <a:buNone/>
            </a:pPr>
            <a:r>
              <a:rPr b="1" i="0" lang="en-US" sz="1200" u="none" cap="none" strike="noStrike">
                <a:solidFill>
                  <a:srgbClr val="C9F44E"/>
                </a:solidFill>
                <a:latin typeface="Arial"/>
                <a:ea typeface="Arial"/>
                <a:cs typeface="Arial"/>
                <a:sym typeface="Arial"/>
              </a:rPr>
              <a:t>Certified Personal Trainers</a:t>
            </a:r>
            <a:endParaRPr b="0" i="0" sz="1200" u="none" cap="none" strike="noStrike">
              <a:solidFill>
                <a:schemeClr val="dk1"/>
              </a:solidFill>
              <a:latin typeface="Calibri"/>
              <a:ea typeface="Calibri"/>
              <a:cs typeface="Calibri"/>
              <a:sym typeface="Calibri"/>
            </a:endParaRPr>
          </a:p>
        </p:txBody>
      </p:sp>
      <p:sp>
        <p:nvSpPr>
          <p:cNvPr id="268" name="Google Shape;268;p13"/>
          <p:cNvSpPr/>
          <p:nvPr/>
        </p:nvSpPr>
        <p:spPr>
          <a:xfrm>
            <a:off x="2743200" y="4215384"/>
            <a:ext cx="37490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A7E"/>
              </a:buClr>
              <a:buSzPts val="1100"/>
              <a:buFont typeface="Arial"/>
              <a:buNone/>
            </a:pPr>
            <a:r>
              <a:rPr b="0" i="0" lang="en-US" sz="1100" u="none" cap="none" strike="noStrike">
                <a:solidFill>
                  <a:srgbClr val="7A8A7E"/>
                </a:solidFill>
                <a:latin typeface="Arial"/>
                <a:ea typeface="Arial"/>
                <a:cs typeface="Arial"/>
                <a:sym typeface="Arial"/>
              </a:rPr>
              <a:t>340,000 certified PTs in the US, up 21.5% since 2012, 10% job growth projected next decade</a:t>
            </a:r>
            <a:endParaRPr b="0" i="0" sz="1100" u="none" cap="none" strike="noStrike">
              <a:solidFill>
                <a:schemeClr val="dk1"/>
              </a:solidFill>
              <a:latin typeface="Calibri"/>
              <a:ea typeface="Calibri"/>
              <a:cs typeface="Calibri"/>
              <a:sym typeface="Calibri"/>
            </a:endParaRPr>
          </a:p>
        </p:txBody>
      </p:sp>
      <p:sp>
        <p:nvSpPr>
          <p:cNvPr id="269" name="Google Shape;269;p13"/>
          <p:cNvSpPr/>
          <p:nvPr/>
        </p:nvSpPr>
        <p:spPr>
          <a:xfrm>
            <a:off x="6583680" y="4215384"/>
            <a:ext cx="1920240" cy="5029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9F44E"/>
              </a:buClr>
              <a:buSzPts val="1800"/>
              <a:buFont typeface="Bebas Neue"/>
              <a:buNone/>
            </a:pPr>
            <a:r>
              <a:rPr b="0" i="0" lang="en-US" sz="1800" u="none" cap="none" strike="noStrike">
                <a:solidFill>
                  <a:srgbClr val="C9F44E"/>
                </a:solidFill>
                <a:latin typeface="Bebas Neue"/>
                <a:ea typeface="Bebas Neue"/>
                <a:cs typeface="Bebas Neue"/>
                <a:sym typeface="Bebas Neue"/>
              </a:rPr>
              <a:t>Massive</a:t>
            </a:r>
            <a:endParaRPr b="0" i="0" sz="1800" u="none" cap="none" strike="noStrike">
              <a:solidFill>
                <a:schemeClr val="dk1"/>
              </a:solidFill>
              <a:latin typeface="Calibri"/>
              <a:ea typeface="Calibri"/>
              <a:cs typeface="Calibri"/>
              <a:sym typeface="Calibri"/>
            </a:endParaRPr>
          </a:p>
        </p:txBody>
      </p:sp>
      <p:sp>
        <p:nvSpPr>
          <p:cNvPr id="270" name="Google Shape;270;p13"/>
          <p:cNvSpPr/>
          <p:nvPr/>
        </p:nvSpPr>
        <p:spPr>
          <a:xfrm>
            <a:off x="457200" y="4983480"/>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A7E"/>
              </a:buClr>
              <a:buSzPts val="900"/>
              <a:buFont typeface="Arial"/>
              <a:buNone/>
            </a:pPr>
            <a:r>
              <a:rPr b="0" i="1" lang="en-US" sz="900" u="none" cap="none" strike="noStrike">
                <a:solidFill>
                  <a:srgbClr val="7A8A7E"/>
                </a:solidFill>
                <a:latin typeface="Arial"/>
                <a:ea typeface="Arial"/>
                <a:cs typeface="Arial"/>
                <a:sym typeface="Arial"/>
              </a:rPr>
              <a:t>US fitness industry current market value: $32 billion.  Total personal trainer revenue (2019): $9 billion.  Sources: BLS, NCAA, marketresearch.com</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275" name="Shape 275"/>
        <p:cNvGrpSpPr/>
        <p:nvPr/>
      </p:nvGrpSpPr>
      <p:grpSpPr>
        <a:xfrm>
          <a:off x="0" y="0"/>
          <a:ext cx="0" cy="0"/>
          <a:chOff x="0" y="0"/>
          <a:chExt cx="0" cy="0"/>
        </a:xfrm>
      </p:grpSpPr>
      <p:sp>
        <p:nvSpPr>
          <p:cNvPr id="276" name="Google Shape;276;p14"/>
          <p:cNvSpPr/>
          <p:nvPr/>
        </p:nvSpPr>
        <p:spPr>
          <a:xfrm>
            <a:off x="457200" y="2011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GO-TO-MARKET</a:t>
            </a:r>
            <a:endParaRPr b="0" i="0" sz="900" u="none" cap="none" strike="noStrike">
              <a:solidFill>
                <a:schemeClr val="dk1"/>
              </a:solidFill>
              <a:latin typeface="Calibri"/>
              <a:ea typeface="Calibri"/>
              <a:cs typeface="Calibri"/>
              <a:sym typeface="Calibri"/>
            </a:endParaRPr>
          </a:p>
        </p:txBody>
      </p:sp>
      <p:sp>
        <p:nvSpPr>
          <p:cNvPr id="277" name="Google Shape;277;p14"/>
          <p:cNvSpPr/>
          <p:nvPr/>
        </p:nvSpPr>
        <p:spPr>
          <a:xfrm>
            <a:off x="457200" y="502920"/>
            <a:ext cx="8229600" cy="1005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3000"/>
              <a:buFont typeface="Bebas Neue"/>
              <a:buNone/>
            </a:pPr>
            <a:r>
              <a:rPr b="0" i="0" lang="en-US" sz="3000" u="none" cap="none" strike="noStrike">
                <a:solidFill>
                  <a:srgbClr val="FFFFFF"/>
                </a:solidFill>
                <a:latin typeface="Bebas Neue"/>
                <a:ea typeface="Bebas Neue"/>
                <a:cs typeface="Bebas Neue"/>
                <a:sym typeface="Bebas Neue"/>
              </a:rPr>
              <a:t>We start inside the institution we already know.</a:t>
            </a:r>
            <a:endParaRPr b="0" i="0" sz="3000" u="none" cap="none" strike="noStrike">
              <a:solidFill>
                <a:schemeClr val="dk1"/>
              </a:solidFill>
              <a:latin typeface="Calibri"/>
              <a:ea typeface="Calibri"/>
              <a:cs typeface="Calibri"/>
              <a:sym typeface="Calibri"/>
            </a:endParaRPr>
          </a:p>
        </p:txBody>
      </p:sp>
      <p:sp>
        <p:nvSpPr>
          <p:cNvPr id="278" name="Google Shape;278;p14"/>
          <p:cNvSpPr/>
          <p:nvPr/>
        </p:nvSpPr>
        <p:spPr>
          <a:xfrm>
            <a:off x="457200" y="1600200"/>
            <a:ext cx="8229600" cy="41148"/>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4"/>
          <p:cNvSpPr/>
          <p:nvPr/>
        </p:nvSpPr>
        <p:spPr>
          <a:xfrm>
            <a:off x="457200" y="1719072"/>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300"/>
              <a:buFont typeface="Arial"/>
              <a:buNone/>
            </a:pPr>
            <a:r>
              <a:rPr b="0" i="0" lang="en-US" sz="1300" u="none" cap="none" strike="noStrike">
                <a:solidFill>
                  <a:srgbClr val="E8EEEA"/>
                </a:solidFill>
                <a:latin typeface="Arial"/>
                <a:ea typeface="Arial"/>
                <a:cs typeface="Arial"/>
                <a:sym typeface="Arial"/>
              </a:rPr>
              <a:t>Our go-to-market strategy is designed around trust and proximity. We do not need to cold sell college athletic programs -- we are already inside one, and we have credibility as athletes who trained inside the exact system we are fixing.</a:t>
            </a:r>
            <a:endParaRPr b="0" i="0" sz="1300" u="none" cap="none" strike="noStrike">
              <a:solidFill>
                <a:schemeClr val="dk1"/>
              </a:solidFill>
              <a:latin typeface="Calibri"/>
              <a:ea typeface="Calibri"/>
              <a:cs typeface="Calibri"/>
              <a:sym typeface="Calibri"/>
            </a:endParaRPr>
          </a:p>
        </p:txBody>
      </p:sp>
      <p:sp>
        <p:nvSpPr>
          <p:cNvPr id="280" name="Google Shape;280;p14"/>
          <p:cNvSpPr/>
          <p:nvPr/>
        </p:nvSpPr>
        <p:spPr>
          <a:xfrm>
            <a:off x="457200" y="2670048"/>
            <a:ext cx="50292" cy="411480"/>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4"/>
          <p:cNvSpPr/>
          <p:nvPr/>
        </p:nvSpPr>
        <p:spPr>
          <a:xfrm>
            <a:off x="658368" y="2606040"/>
            <a:ext cx="20116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1100"/>
              <a:buFont typeface="Arial"/>
              <a:buNone/>
            </a:pPr>
            <a:r>
              <a:rPr b="1" i="0" lang="en-US" sz="1100" u="none" cap="none" strike="noStrike">
                <a:solidFill>
                  <a:srgbClr val="C9F44E"/>
                </a:solidFill>
                <a:latin typeface="Arial"/>
                <a:ea typeface="Arial"/>
                <a:cs typeface="Arial"/>
                <a:sym typeface="Arial"/>
              </a:rPr>
              <a:t>Phase 1: Columbia.</a:t>
            </a:r>
            <a:endParaRPr b="0" i="0" sz="1100" u="none" cap="none" strike="noStrike">
              <a:solidFill>
                <a:schemeClr val="dk1"/>
              </a:solidFill>
              <a:latin typeface="Calibri"/>
              <a:ea typeface="Calibri"/>
              <a:cs typeface="Calibri"/>
              <a:sym typeface="Calibri"/>
            </a:endParaRPr>
          </a:p>
        </p:txBody>
      </p:sp>
      <p:sp>
        <p:nvSpPr>
          <p:cNvPr id="282" name="Google Shape;282;p14"/>
          <p:cNvSpPr/>
          <p:nvPr/>
        </p:nvSpPr>
        <p:spPr>
          <a:xfrm>
            <a:off x="658368" y="2880360"/>
            <a:ext cx="7955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100"/>
              <a:buFont typeface="Arial"/>
              <a:buNone/>
            </a:pPr>
            <a:r>
              <a:rPr b="0" i="0" lang="en-US" sz="1100" u="none" cap="none" strike="noStrike">
                <a:solidFill>
                  <a:srgbClr val="E8EEEA"/>
                </a:solidFill>
                <a:latin typeface="Arial"/>
                <a:ea typeface="Arial"/>
                <a:cs typeface="Arial"/>
                <a:sym typeface="Arial"/>
              </a:rPr>
              <a:t>Deepen the pilot. Get to 10 teams, 400+ athletes. Generate completion data, qualitative feedback, and referenceability within Columbia Athletics.</a:t>
            </a:r>
            <a:endParaRPr b="0" i="0" sz="1100" u="none" cap="none" strike="noStrike">
              <a:solidFill>
                <a:schemeClr val="dk1"/>
              </a:solidFill>
              <a:latin typeface="Calibri"/>
              <a:ea typeface="Calibri"/>
              <a:cs typeface="Calibri"/>
              <a:sym typeface="Calibri"/>
            </a:endParaRPr>
          </a:p>
        </p:txBody>
      </p:sp>
      <p:sp>
        <p:nvSpPr>
          <p:cNvPr id="283" name="Google Shape;283;p14"/>
          <p:cNvSpPr/>
          <p:nvPr/>
        </p:nvSpPr>
        <p:spPr>
          <a:xfrm>
            <a:off x="457200" y="3264408"/>
            <a:ext cx="50292" cy="411480"/>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4"/>
          <p:cNvSpPr/>
          <p:nvPr/>
        </p:nvSpPr>
        <p:spPr>
          <a:xfrm>
            <a:off x="658368" y="3200400"/>
            <a:ext cx="20116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1100"/>
              <a:buFont typeface="Arial"/>
              <a:buNone/>
            </a:pPr>
            <a:r>
              <a:rPr b="1" i="0" lang="en-US" sz="1100" u="none" cap="none" strike="noStrike">
                <a:solidFill>
                  <a:srgbClr val="C9F44E"/>
                </a:solidFill>
                <a:latin typeface="Arial"/>
                <a:ea typeface="Arial"/>
                <a:cs typeface="Arial"/>
                <a:sym typeface="Arial"/>
              </a:rPr>
              <a:t>Phase 2: Ivy League.</a:t>
            </a:r>
            <a:endParaRPr b="0" i="0" sz="1100" u="none" cap="none" strike="noStrike">
              <a:solidFill>
                <a:schemeClr val="dk1"/>
              </a:solidFill>
              <a:latin typeface="Calibri"/>
              <a:ea typeface="Calibri"/>
              <a:cs typeface="Calibri"/>
              <a:sym typeface="Calibri"/>
            </a:endParaRPr>
          </a:p>
        </p:txBody>
      </p:sp>
      <p:sp>
        <p:nvSpPr>
          <p:cNvPr id="285" name="Google Shape;285;p14"/>
          <p:cNvSpPr/>
          <p:nvPr/>
        </p:nvSpPr>
        <p:spPr>
          <a:xfrm>
            <a:off x="658368" y="3474720"/>
            <a:ext cx="7955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100"/>
              <a:buFont typeface="Arial"/>
              <a:buNone/>
            </a:pPr>
            <a:r>
              <a:rPr b="0" i="0" lang="en-US" sz="1100" u="none" cap="none" strike="noStrike">
                <a:solidFill>
                  <a:srgbClr val="E8EEEA"/>
                </a:solidFill>
                <a:latin typeface="Arial"/>
                <a:ea typeface="Arial"/>
                <a:cs typeface="Arial"/>
                <a:sym typeface="Arial"/>
              </a:rPr>
              <a:t>Coach-to-coach referral. S&amp;C coaches at peer institutions know each other. One satisfied coach at Columbia is a warm introduction to Princeton, Yale, Harvard.</a:t>
            </a:r>
            <a:endParaRPr b="0" i="0" sz="1100" u="none" cap="none" strike="noStrike">
              <a:solidFill>
                <a:schemeClr val="dk1"/>
              </a:solidFill>
              <a:latin typeface="Calibri"/>
              <a:ea typeface="Calibri"/>
              <a:cs typeface="Calibri"/>
              <a:sym typeface="Calibri"/>
            </a:endParaRPr>
          </a:p>
        </p:txBody>
      </p:sp>
      <p:sp>
        <p:nvSpPr>
          <p:cNvPr id="286" name="Google Shape;286;p14"/>
          <p:cNvSpPr/>
          <p:nvPr/>
        </p:nvSpPr>
        <p:spPr>
          <a:xfrm>
            <a:off x="457200" y="3858768"/>
            <a:ext cx="50292" cy="411480"/>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4"/>
          <p:cNvSpPr/>
          <p:nvPr/>
        </p:nvSpPr>
        <p:spPr>
          <a:xfrm>
            <a:off x="658368" y="3794760"/>
            <a:ext cx="20116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1100"/>
              <a:buFont typeface="Arial"/>
              <a:buNone/>
            </a:pPr>
            <a:r>
              <a:rPr b="1" i="0" lang="en-US" sz="1100" u="none" cap="none" strike="noStrike">
                <a:solidFill>
                  <a:srgbClr val="C9F44E"/>
                </a:solidFill>
                <a:latin typeface="Arial"/>
                <a:ea typeface="Arial"/>
                <a:cs typeface="Arial"/>
                <a:sym typeface="Arial"/>
              </a:rPr>
              <a:t>Phase 3: D1 Expansion.</a:t>
            </a:r>
            <a:endParaRPr b="0" i="0" sz="1100" u="none" cap="none" strike="noStrike">
              <a:solidFill>
                <a:schemeClr val="dk1"/>
              </a:solidFill>
              <a:latin typeface="Calibri"/>
              <a:ea typeface="Calibri"/>
              <a:cs typeface="Calibri"/>
              <a:sym typeface="Calibri"/>
            </a:endParaRPr>
          </a:p>
        </p:txBody>
      </p:sp>
      <p:sp>
        <p:nvSpPr>
          <p:cNvPr id="288" name="Google Shape;288;p14"/>
          <p:cNvSpPr/>
          <p:nvPr/>
        </p:nvSpPr>
        <p:spPr>
          <a:xfrm>
            <a:off x="658368" y="4069080"/>
            <a:ext cx="7955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100"/>
              <a:buFont typeface="Arial"/>
              <a:buNone/>
            </a:pPr>
            <a:r>
              <a:rPr b="0" i="0" lang="en-US" sz="1100" u="none" cap="none" strike="noStrike">
                <a:solidFill>
                  <a:srgbClr val="E8EEEA"/>
                </a:solidFill>
                <a:latin typeface="Arial"/>
                <a:ea typeface="Arial"/>
                <a:cs typeface="Arial"/>
                <a:sym typeface="Arial"/>
              </a:rPr>
              <a:t>Approach D1 S&amp;C coordinators at broader programs. The pitch is the data from Phase 1 and 2: real programs, real athletes, real results.</a:t>
            </a:r>
            <a:endParaRPr b="0" i="0" sz="1100" u="none" cap="none" strike="noStrike">
              <a:solidFill>
                <a:schemeClr val="dk1"/>
              </a:solidFill>
              <a:latin typeface="Calibri"/>
              <a:ea typeface="Calibri"/>
              <a:cs typeface="Calibri"/>
              <a:sym typeface="Calibri"/>
            </a:endParaRPr>
          </a:p>
        </p:txBody>
      </p:sp>
      <p:sp>
        <p:nvSpPr>
          <p:cNvPr id="289" name="Google Shape;289;p14"/>
          <p:cNvSpPr/>
          <p:nvPr/>
        </p:nvSpPr>
        <p:spPr>
          <a:xfrm>
            <a:off x="457200" y="4453128"/>
            <a:ext cx="50292" cy="411480"/>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4"/>
          <p:cNvSpPr/>
          <p:nvPr/>
        </p:nvSpPr>
        <p:spPr>
          <a:xfrm>
            <a:off x="658368" y="4389120"/>
            <a:ext cx="20116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1100"/>
              <a:buFont typeface="Arial"/>
              <a:buNone/>
            </a:pPr>
            <a:r>
              <a:rPr b="1" i="0" lang="en-US" sz="1100" u="none" cap="none" strike="noStrike">
                <a:solidFill>
                  <a:srgbClr val="C9F44E"/>
                </a:solidFill>
                <a:latin typeface="Arial"/>
                <a:ea typeface="Arial"/>
                <a:cs typeface="Arial"/>
                <a:sym typeface="Arial"/>
              </a:rPr>
              <a:t>Phase 4: Personal Trainers.</a:t>
            </a:r>
            <a:endParaRPr b="0" i="0" sz="1100" u="none" cap="none" strike="noStrike">
              <a:solidFill>
                <a:schemeClr val="dk1"/>
              </a:solidFill>
              <a:latin typeface="Calibri"/>
              <a:ea typeface="Calibri"/>
              <a:cs typeface="Calibri"/>
              <a:sym typeface="Calibri"/>
            </a:endParaRPr>
          </a:p>
        </p:txBody>
      </p:sp>
      <p:sp>
        <p:nvSpPr>
          <p:cNvPr id="291" name="Google Shape;291;p14"/>
          <p:cNvSpPr/>
          <p:nvPr/>
        </p:nvSpPr>
        <p:spPr>
          <a:xfrm>
            <a:off x="658368" y="4663440"/>
            <a:ext cx="7955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100"/>
              <a:buFont typeface="Arial"/>
              <a:buNone/>
            </a:pPr>
            <a:r>
              <a:rPr b="0" i="0" lang="en-US" sz="1100" u="none" cap="none" strike="noStrike">
                <a:solidFill>
                  <a:srgbClr val="E8EEEA"/>
                </a:solidFill>
                <a:latin typeface="Arial"/>
                <a:ea typeface="Arial"/>
                <a:cs typeface="Arial"/>
                <a:sym typeface="Arial"/>
              </a:rPr>
              <a:t>A lighter-weight version of the same product -- built for a single PT managing 20+ clients -- opens the largest addressable segment in the market.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296" name="Shape 296"/>
        <p:cNvGrpSpPr/>
        <p:nvPr/>
      </p:nvGrpSpPr>
      <p:grpSpPr>
        <a:xfrm>
          <a:off x="0" y="0"/>
          <a:ext cx="0" cy="0"/>
          <a:chOff x="0" y="0"/>
          <a:chExt cx="0" cy="0"/>
        </a:xfrm>
      </p:grpSpPr>
      <p:sp>
        <p:nvSpPr>
          <p:cNvPr id="297" name="Google Shape;297;p15"/>
          <p:cNvSpPr/>
          <p:nvPr/>
        </p:nvSpPr>
        <p:spPr>
          <a:xfrm>
            <a:off x="457200" y="2011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RISKS</a:t>
            </a:r>
            <a:endParaRPr b="0" i="0" sz="900" u="none" cap="none" strike="noStrike">
              <a:solidFill>
                <a:schemeClr val="dk1"/>
              </a:solidFill>
              <a:latin typeface="Calibri"/>
              <a:ea typeface="Calibri"/>
              <a:cs typeface="Calibri"/>
              <a:sym typeface="Calibri"/>
            </a:endParaRPr>
          </a:p>
        </p:txBody>
      </p:sp>
      <p:sp>
        <p:nvSpPr>
          <p:cNvPr id="298" name="Google Shape;298;p15"/>
          <p:cNvSpPr/>
          <p:nvPr/>
        </p:nvSpPr>
        <p:spPr>
          <a:xfrm>
            <a:off x="457200" y="502920"/>
            <a:ext cx="8229600" cy="1005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3000"/>
              <a:buFont typeface="Bebas Neue"/>
              <a:buNone/>
            </a:pPr>
            <a:r>
              <a:rPr b="0" i="0" lang="en-US" sz="3000" u="none" cap="none" strike="noStrike">
                <a:solidFill>
                  <a:srgbClr val="FFFFFF"/>
                </a:solidFill>
                <a:latin typeface="Bebas Neue"/>
                <a:ea typeface="Bebas Neue"/>
                <a:cs typeface="Bebas Neue"/>
                <a:sym typeface="Bebas Neue"/>
              </a:rPr>
              <a:t>The risks are real. Here is how we are thinking about them.</a:t>
            </a:r>
            <a:endParaRPr b="0" i="0" sz="3000" u="none" cap="none" strike="noStrike">
              <a:solidFill>
                <a:schemeClr val="dk1"/>
              </a:solidFill>
              <a:latin typeface="Calibri"/>
              <a:ea typeface="Calibri"/>
              <a:cs typeface="Calibri"/>
              <a:sym typeface="Calibri"/>
            </a:endParaRPr>
          </a:p>
        </p:txBody>
      </p:sp>
      <p:sp>
        <p:nvSpPr>
          <p:cNvPr id="299" name="Google Shape;299;p15"/>
          <p:cNvSpPr/>
          <p:nvPr/>
        </p:nvSpPr>
        <p:spPr>
          <a:xfrm>
            <a:off x="457200" y="1600200"/>
            <a:ext cx="8229600" cy="41148"/>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5"/>
          <p:cNvSpPr/>
          <p:nvPr/>
        </p:nvSpPr>
        <p:spPr>
          <a:xfrm>
            <a:off x="457200" y="1755648"/>
            <a:ext cx="8229600" cy="960120"/>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5"/>
          <p:cNvSpPr/>
          <p:nvPr/>
        </p:nvSpPr>
        <p:spPr>
          <a:xfrm>
            <a:off x="566928" y="1847088"/>
            <a:ext cx="5486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A7E"/>
              </a:buClr>
              <a:buSzPts val="800"/>
              <a:buFont typeface="Arial"/>
              <a:buNone/>
            </a:pPr>
            <a:r>
              <a:rPr b="1" i="0" lang="en-US" sz="800" u="none" cap="none" strike="noStrike">
                <a:solidFill>
                  <a:srgbClr val="7A8A7E"/>
                </a:solidFill>
                <a:latin typeface="Arial"/>
                <a:ea typeface="Arial"/>
                <a:cs typeface="Arial"/>
                <a:sym typeface="Arial"/>
              </a:rPr>
              <a:t>RISK</a:t>
            </a:r>
            <a:endParaRPr b="0" i="0" sz="800" u="none" cap="none" strike="noStrike">
              <a:solidFill>
                <a:schemeClr val="dk1"/>
              </a:solidFill>
              <a:latin typeface="Calibri"/>
              <a:ea typeface="Calibri"/>
              <a:cs typeface="Calibri"/>
              <a:sym typeface="Calibri"/>
            </a:endParaRPr>
          </a:p>
        </p:txBody>
      </p:sp>
      <p:sp>
        <p:nvSpPr>
          <p:cNvPr id="302" name="Google Shape;302;p15"/>
          <p:cNvSpPr/>
          <p:nvPr/>
        </p:nvSpPr>
        <p:spPr>
          <a:xfrm>
            <a:off x="566928" y="1989256"/>
            <a:ext cx="8229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Adoption by coaches is the gating factor.</a:t>
            </a:r>
            <a:endParaRPr b="0" i="0" sz="1200" u="none" cap="none" strike="noStrike">
              <a:solidFill>
                <a:schemeClr val="dk1"/>
              </a:solidFill>
              <a:latin typeface="Calibri"/>
              <a:ea typeface="Calibri"/>
              <a:cs typeface="Calibri"/>
              <a:sym typeface="Calibri"/>
            </a:endParaRPr>
          </a:p>
        </p:txBody>
      </p:sp>
      <p:sp>
        <p:nvSpPr>
          <p:cNvPr id="303" name="Google Shape;303;p15"/>
          <p:cNvSpPr/>
          <p:nvPr/>
        </p:nvSpPr>
        <p:spPr>
          <a:xfrm>
            <a:off x="566928" y="2322576"/>
            <a:ext cx="79095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A7E"/>
              </a:buClr>
              <a:buSzPts val="1100"/>
              <a:buFont typeface="Arial"/>
              <a:buNone/>
            </a:pPr>
            <a:r>
              <a:rPr b="0" i="0" lang="en-US" sz="1100" u="none" cap="none" strike="noStrike">
                <a:solidFill>
                  <a:srgbClr val="7A8A7E"/>
                </a:solidFill>
                <a:latin typeface="Arial"/>
                <a:ea typeface="Arial"/>
                <a:cs typeface="Arial"/>
                <a:sym typeface="Arial"/>
              </a:rPr>
              <a:t>We mitigate this by starting with coaches we know at Columbia, proving value in a setting where we have ongoing access, and using that proof to expand. The athlete-free model also ensures the friction of onboarding athletes never blocks coach adoption.</a:t>
            </a:r>
            <a:endParaRPr b="0" i="0" sz="1100" u="none" cap="none" strike="noStrike">
              <a:solidFill>
                <a:schemeClr val="dk1"/>
              </a:solidFill>
              <a:latin typeface="Calibri"/>
              <a:ea typeface="Calibri"/>
              <a:cs typeface="Calibri"/>
              <a:sym typeface="Calibri"/>
            </a:endParaRPr>
          </a:p>
        </p:txBody>
      </p:sp>
      <p:sp>
        <p:nvSpPr>
          <p:cNvPr id="304" name="Google Shape;304;p15"/>
          <p:cNvSpPr/>
          <p:nvPr/>
        </p:nvSpPr>
        <p:spPr>
          <a:xfrm>
            <a:off x="457200" y="2834640"/>
            <a:ext cx="8229600" cy="960120"/>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5"/>
          <p:cNvSpPr/>
          <p:nvPr/>
        </p:nvSpPr>
        <p:spPr>
          <a:xfrm>
            <a:off x="566928" y="2926080"/>
            <a:ext cx="5486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A7E"/>
              </a:buClr>
              <a:buSzPts val="800"/>
              <a:buFont typeface="Arial"/>
              <a:buNone/>
            </a:pPr>
            <a:r>
              <a:rPr b="1" i="0" lang="en-US" sz="800" u="none" cap="none" strike="noStrike">
                <a:solidFill>
                  <a:srgbClr val="7A8A7E"/>
                </a:solidFill>
                <a:latin typeface="Arial"/>
                <a:ea typeface="Arial"/>
                <a:cs typeface="Arial"/>
                <a:sym typeface="Arial"/>
              </a:rPr>
              <a:t>RISK</a:t>
            </a:r>
            <a:endParaRPr b="0" i="0" sz="800" u="none" cap="none" strike="noStrike">
              <a:solidFill>
                <a:schemeClr val="dk1"/>
              </a:solidFill>
              <a:latin typeface="Calibri"/>
              <a:ea typeface="Calibri"/>
              <a:cs typeface="Calibri"/>
              <a:sym typeface="Calibri"/>
            </a:endParaRPr>
          </a:p>
        </p:txBody>
      </p:sp>
      <p:sp>
        <p:nvSpPr>
          <p:cNvPr id="306" name="Google Shape;306;p15"/>
          <p:cNvSpPr/>
          <p:nvPr/>
        </p:nvSpPr>
        <p:spPr>
          <a:xfrm>
            <a:off x="566928" y="3127248"/>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Institutional sales cycles are long.</a:t>
            </a:r>
            <a:endParaRPr b="0" i="0" sz="1200" u="none" cap="none" strike="noStrike">
              <a:solidFill>
                <a:schemeClr val="dk1"/>
              </a:solidFill>
              <a:latin typeface="Calibri"/>
              <a:ea typeface="Calibri"/>
              <a:cs typeface="Calibri"/>
              <a:sym typeface="Calibri"/>
            </a:endParaRPr>
          </a:p>
        </p:txBody>
      </p:sp>
      <p:sp>
        <p:nvSpPr>
          <p:cNvPr id="307" name="Google Shape;307;p15"/>
          <p:cNvSpPr/>
          <p:nvPr/>
        </p:nvSpPr>
        <p:spPr>
          <a:xfrm>
            <a:off x="566928" y="3401568"/>
            <a:ext cx="79095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A7E"/>
              </a:buClr>
              <a:buSzPts val="1100"/>
              <a:buFont typeface="Arial"/>
              <a:buNone/>
            </a:pPr>
            <a:r>
              <a:rPr b="0" i="0" lang="en-US" sz="1100" u="none" cap="none" strike="noStrike">
                <a:solidFill>
                  <a:srgbClr val="7A8A7E"/>
                </a:solidFill>
                <a:latin typeface="Arial"/>
                <a:ea typeface="Arial"/>
                <a:cs typeface="Arial"/>
                <a:sym typeface="Arial"/>
              </a:rPr>
              <a:t>We are not trying to sell to athletic departments</a:t>
            </a:r>
            <a:r>
              <a:rPr lang="en-US" sz="1100">
                <a:solidFill>
                  <a:srgbClr val="7A8A7E"/>
                </a:solidFill>
              </a:rPr>
              <a:t>,</a:t>
            </a:r>
            <a:r>
              <a:rPr b="0" i="0" lang="en-US" sz="1100" u="none" cap="none" strike="noStrike">
                <a:solidFill>
                  <a:srgbClr val="7A8A7E"/>
                </a:solidFill>
                <a:latin typeface="Arial"/>
                <a:ea typeface="Arial"/>
                <a:cs typeface="Arial"/>
                <a:sym typeface="Arial"/>
              </a:rPr>
              <a:t xml:space="preserve"> we are trying to sell to individual coaches. A coach with purchasing discretion can adopt Freeweight the same way they adopt any SaaS tool. No procurement committee required.</a:t>
            </a:r>
            <a:endParaRPr b="0" i="0" sz="1100" u="none" cap="none" strike="noStrike">
              <a:solidFill>
                <a:schemeClr val="dk1"/>
              </a:solidFill>
              <a:latin typeface="Calibri"/>
              <a:ea typeface="Calibri"/>
              <a:cs typeface="Calibri"/>
              <a:sym typeface="Calibri"/>
            </a:endParaRPr>
          </a:p>
        </p:txBody>
      </p:sp>
      <p:sp>
        <p:nvSpPr>
          <p:cNvPr id="308" name="Google Shape;308;p15"/>
          <p:cNvSpPr/>
          <p:nvPr/>
        </p:nvSpPr>
        <p:spPr>
          <a:xfrm>
            <a:off x="457200" y="3913632"/>
            <a:ext cx="8229600" cy="960120"/>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5"/>
          <p:cNvSpPr/>
          <p:nvPr/>
        </p:nvSpPr>
        <p:spPr>
          <a:xfrm>
            <a:off x="566928" y="4005072"/>
            <a:ext cx="5486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A7E"/>
              </a:buClr>
              <a:buSzPts val="800"/>
              <a:buFont typeface="Arial"/>
              <a:buNone/>
            </a:pPr>
            <a:r>
              <a:rPr b="1" i="0" lang="en-US" sz="800" u="none" cap="none" strike="noStrike">
                <a:solidFill>
                  <a:srgbClr val="7A8A7E"/>
                </a:solidFill>
                <a:latin typeface="Arial"/>
                <a:ea typeface="Arial"/>
                <a:cs typeface="Arial"/>
                <a:sym typeface="Arial"/>
              </a:rPr>
              <a:t>RISK</a:t>
            </a:r>
            <a:endParaRPr b="0" i="0" sz="800" u="none" cap="none" strike="noStrike">
              <a:solidFill>
                <a:schemeClr val="dk1"/>
              </a:solidFill>
              <a:latin typeface="Calibri"/>
              <a:ea typeface="Calibri"/>
              <a:cs typeface="Calibri"/>
              <a:sym typeface="Calibri"/>
            </a:endParaRPr>
          </a:p>
        </p:txBody>
      </p:sp>
      <p:sp>
        <p:nvSpPr>
          <p:cNvPr id="310" name="Google Shape;310;p15"/>
          <p:cNvSpPr/>
          <p:nvPr/>
        </p:nvSpPr>
        <p:spPr>
          <a:xfrm>
            <a:off x="566928" y="42062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Larger platforms could add these features.</a:t>
            </a:r>
            <a:endParaRPr b="0" i="0" sz="1200" u="none" cap="none" strike="noStrike">
              <a:solidFill>
                <a:schemeClr val="dk1"/>
              </a:solidFill>
              <a:latin typeface="Calibri"/>
              <a:ea typeface="Calibri"/>
              <a:cs typeface="Calibri"/>
              <a:sym typeface="Calibri"/>
            </a:endParaRPr>
          </a:p>
        </p:txBody>
      </p:sp>
      <p:sp>
        <p:nvSpPr>
          <p:cNvPr id="311" name="Google Shape;311;p15"/>
          <p:cNvSpPr/>
          <p:nvPr/>
        </p:nvSpPr>
        <p:spPr>
          <a:xfrm>
            <a:off x="566928" y="4480560"/>
            <a:ext cx="79095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A7E"/>
              </a:buClr>
              <a:buSzPts val="1100"/>
              <a:buFont typeface="Arial"/>
              <a:buNone/>
            </a:pPr>
            <a:r>
              <a:rPr b="0" i="0" lang="en-US" sz="1100" u="none" cap="none" strike="noStrike">
                <a:solidFill>
                  <a:srgbClr val="7A8A7E"/>
                </a:solidFill>
                <a:latin typeface="Arial"/>
                <a:ea typeface="Arial"/>
                <a:cs typeface="Arial"/>
                <a:sym typeface="Arial"/>
              </a:rPr>
              <a:t>TrainHeroic and TeamBuildr have had years to build athlete-facing auto-calculation and chose not to. The coach-only mental model is deeply embedded. Startups move faster. Our defensibility comes from being athlete-first from day one.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316" name="Shape 316"/>
        <p:cNvGrpSpPr/>
        <p:nvPr/>
      </p:nvGrpSpPr>
      <p:grpSpPr>
        <a:xfrm>
          <a:off x="0" y="0"/>
          <a:ext cx="0" cy="0"/>
          <a:chOff x="0" y="0"/>
          <a:chExt cx="0" cy="0"/>
        </a:xfrm>
      </p:grpSpPr>
      <p:sp>
        <p:nvSpPr>
          <p:cNvPr id="317" name="Google Shape;317;p16"/>
          <p:cNvSpPr/>
          <p:nvPr/>
        </p:nvSpPr>
        <p:spPr>
          <a:xfrm>
            <a:off x="457200" y="594360"/>
            <a:ext cx="8229600" cy="13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5200"/>
              <a:buFont typeface="Bebas Neue"/>
              <a:buNone/>
            </a:pPr>
            <a:r>
              <a:rPr b="0" i="0" lang="en-US" sz="5200" u="none" cap="none" strike="noStrike">
                <a:solidFill>
                  <a:srgbClr val="FFFFFF"/>
                </a:solidFill>
                <a:latin typeface="Bebas Neue"/>
                <a:ea typeface="Bebas Neue"/>
                <a:cs typeface="Bebas Neue"/>
                <a:sym typeface="Bebas Neue"/>
              </a:rPr>
              <a:t>We are looking for pilot partners.</a:t>
            </a:r>
            <a:endParaRPr b="0" i="0" sz="5200" u="none" cap="none" strike="noStrike">
              <a:solidFill>
                <a:schemeClr val="dk1"/>
              </a:solidFill>
              <a:latin typeface="Calibri"/>
              <a:ea typeface="Calibri"/>
              <a:cs typeface="Calibri"/>
              <a:sym typeface="Calibri"/>
            </a:endParaRPr>
          </a:p>
        </p:txBody>
      </p:sp>
      <p:sp>
        <p:nvSpPr>
          <p:cNvPr id="318" name="Google Shape;318;p16"/>
          <p:cNvSpPr/>
          <p:nvPr/>
        </p:nvSpPr>
        <p:spPr>
          <a:xfrm>
            <a:off x="457200" y="2103120"/>
            <a:ext cx="8229600" cy="50292"/>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6"/>
          <p:cNvSpPr/>
          <p:nvPr/>
        </p:nvSpPr>
        <p:spPr>
          <a:xfrm>
            <a:off x="457200" y="224028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1200"/>
              <a:buFont typeface="Arial"/>
              <a:buNone/>
            </a:pPr>
            <a:r>
              <a:rPr b="1" i="0" lang="en-US" sz="1200" u="none" cap="none" strike="noStrike">
                <a:solidFill>
                  <a:srgbClr val="C9F44E"/>
                </a:solidFill>
                <a:latin typeface="Arial"/>
                <a:ea typeface="Arial"/>
                <a:cs typeface="Arial"/>
                <a:sym typeface="Arial"/>
              </a:rPr>
              <a:t>What we are asking for:</a:t>
            </a:r>
            <a:endParaRPr b="0" i="0" sz="1200" u="none" cap="none" strike="noStrike">
              <a:solidFill>
                <a:schemeClr val="dk1"/>
              </a:solidFill>
              <a:latin typeface="Calibri"/>
              <a:ea typeface="Calibri"/>
              <a:cs typeface="Calibri"/>
              <a:sym typeface="Calibri"/>
            </a:endParaRPr>
          </a:p>
        </p:txBody>
      </p:sp>
      <p:sp>
        <p:nvSpPr>
          <p:cNvPr id="320" name="Google Shape;320;p16"/>
          <p:cNvSpPr/>
          <p:nvPr/>
        </p:nvSpPr>
        <p:spPr>
          <a:xfrm>
            <a:off x="457200" y="2706624"/>
            <a:ext cx="50292" cy="347472"/>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6"/>
          <p:cNvSpPr/>
          <p:nvPr/>
        </p:nvSpPr>
        <p:spPr>
          <a:xfrm>
            <a:off x="658368" y="2633472"/>
            <a:ext cx="79552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300"/>
              <a:buFont typeface="Arial"/>
              <a:buNone/>
            </a:pPr>
            <a:r>
              <a:rPr b="0" i="0" lang="en-US" sz="1300" u="none" cap="none" strike="noStrike">
                <a:solidFill>
                  <a:srgbClr val="E8EEEA"/>
                </a:solidFill>
                <a:latin typeface="Arial"/>
                <a:ea typeface="Arial"/>
                <a:cs typeface="Arial"/>
                <a:sym typeface="Arial"/>
              </a:rPr>
              <a:t>10 more coaches -- college S&amp;C staff, personal trainers, or anyone managing a real training program -- to pilot Freeweight this semester.</a:t>
            </a:r>
            <a:endParaRPr b="0" i="0" sz="1300" u="none" cap="none" strike="noStrike">
              <a:solidFill>
                <a:schemeClr val="dk1"/>
              </a:solidFill>
              <a:latin typeface="Calibri"/>
              <a:ea typeface="Calibri"/>
              <a:cs typeface="Calibri"/>
              <a:sym typeface="Calibri"/>
            </a:endParaRPr>
          </a:p>
        </p:txBody>
      </p:sp>
      <p:sp>
        <p:nvSpPr>
          <p:cNvPr id="322" name="Google Shape;322;p16"/>
          <p:cNvSpPr/>
          <p:nvPr/>
        </p:nvSpPr>
        <p:spPr>
          <a:xfrm>
            <a:off x="457200" y="3255264"/>
            <a:ext cx="50292" cy="347472"/>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6"/>
          <p:cNvSpPr/>
          <p:nvPr/>
        </p:nvSpPr>
        <p:spPr>
          <a:xfrm>
            <a:off x="658368" y="3182112"/>
            <a:ext cx="79552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300"/>
              <a:buFont typeface="Arial"/>
              <a:buNone/>
            </a:pPr>
            <a:r>
              <a:rPr b="0" i="0" lang="en-US" sz="1300" u="none" cap="none" strike="noStrike">
                <a:solidFill>
                  <a:srgbClr val="E8EEEA"/>
                </a:solidFill>
                <a:latin typeface="Arial"/>
                <a:ea typeface="Arial"/>
                <a:cs typeface="Arial"/>
                <a:sym typeface="Arial"/>
              </a:rPr>
              <a:t>Introductions to S&amp;C coaches at other Ivy League programs or D1 athletic departments who might be open to a conversation.</a:t>
            </a:r>
            <a:endParaRPr b="0" i="0" sz="1300" u="none" cap="none" strike="noStrike">
              <a:solidFill>
                <a:schemeClr val="dk1"/>
              </a:solidFill>
              <a:latin typeface="Calibri"/>
              <a:ea typeface="Calibri"/>
              <a:cs typeface="Calibri"/>
              <a:sym typeface="Calibri"/>
            </a:endParaRPr>
          </a:p>
        </p:txBody>
      </p:sp>
      <p:sp>
        <p:nvSpPr>
          <p:cNvPr id="324" name="Google Shape;324;p16"/>
          <p:cNvSpPr/>
          <p:nvPr/>
        </p:nvSpPr>
        <p:spPr>
          <a:xfrm>
            <a:off x="457200" y="3803904"/>
            <a:ext cx="50292" cy="347472"/>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6"/>
          <p:cNvSpPr/>
          <p:nvPr/>
        </p:nvSpPr>
        <p:spPr>
          <a:xfrm>
            <a:off x="658368" y="3730752"/>
            <a:ext cx="79552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300"/>
              <a:buFont typeface="Arial"/>
              <a:buNone/>
            </a:pPr>
            <a:r>
              <a:rPr b="0" i="0" lang="en-US" sz="1300" u="none" cap="none" strike="noStrike">
                <a:solidFill>
                  <a:srgbClr val="E8EEEA"/>
                </a:solidFill>
                <a:latin typeface="Arial"/>
                <a:ea typeface="Arial"/>
                <a:cs typeface="Arial"/>
                <a:sym typeface="Arial"/>
              </a:rPr>
              <a:t>Feedback from anyone who has built, sold to, or coached inside athletic programs at scale.</a:t>
            </a:r>
            <a:endParaRPr b="0" i="0" sz="1300" u="none" cap="none" strike="noStrike">
              <a:solidFill>
                <a:schemeClr val="dk1"/>
              </a:solidFill>
              <a:latin typeface="Calibri"/>
              <a:ea typeface="Calibri"/>
              <a:cs typeface="Calibri"/>
              <a:sym typeface="Calibri"/>
            </a:endParaRPr>
          </a:p>
        </p:txBody>
      </p:sp>
      <p:sp>
        <p:nvSpPr>
          <p:cNvPr id="326" name="Google Shape;326;p16"/>
          <p:cNvSpPr/>
          <p:nvPr/>
        </p:nvSpPr>
        <p:spPr>
          <a:xfrm>
            <a:off x="457200" y="4572000"/>
            <a:ext cx="82296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2400"/>
              <a:buFont typeface="Bebas Neue"/>
              <a:buNone/>
            </a:pPr>
            <a:r>
              <a:rPr b="0" i="0" lang="en-US" sz="2400" u="none" cap="none" strike="noStrike">
                <a:solidFill>
                  <a:srgbClr val="C9F44E"/>
                </a:solidFill>
                <a:latin typeface="Bebas Neue"/>
                <a:ea typeface="Bebas Neue"/>
                <a:cs typeface="Bebas Neue"/>
                <a:sym typeface="Bebas Neue"/>
              </a:rPr>
              <a:t>The product is built. We just need the rooms.</a:t>
            </a:r>
            <a:endParaRPr b="0" i="0" sz="2400" u="none" cap="none" strike="noStrike">
              <a:solidFill>
                <a:schemeClr val="dk1"/>
              </a:solidFill>
              <a:latin typeface="Calibri"/>
              <a:ea typeface="Calibri"/>
              <a:cs typeface="Calibri"/>
              <a:sym typeface="Calibri"/>
            </a:endParaRPr>
          </a:p>
        </p:txBody>
      </p:sp>
      <p:sp>
        <p:nvSpPr>
          <p:cNvPr id="327" name="Google Shape;327;p16"/>
          <p:cNvSpPr/>
          <p:nvPr/>
        </p:nvSpPr>
        <p:spPr>
          <a:xfrm>
            <a:off x="457200" y="4846320"/>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A7E"/>
              </a:buClr>
              <a:buSzPts val="1000"/>
              <a:buFont typeface="Arial"/>
              <a:buNone/>
            </a:pPr>
            <a:r>
              <a:rPr b="0" i="0" lang="en-US" sz="1000" u="none" cap="none" strike="noStrike">
                <a:solidFill>
                  <a:srgbClr val="7A8A7E"/>
                </a:solidFill>
                <a:latin typeface="Arial"/>
                <a:ea typeface="Arial"/>
                <a:cs typeface="Arial"/>
                <a:sym typeface="Arial"/>
              </a:rPr>
              <a:t>Andrea Vergara  |  Nitin Rao  |  Arin Jaff  |  Jaclyn Zatsiorsky</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2026-04-25T18:03:06Z</dcterms:created>
  <dc:creator>PptxGenJS</dc:creator>
</cp:coreProperties>
</file>