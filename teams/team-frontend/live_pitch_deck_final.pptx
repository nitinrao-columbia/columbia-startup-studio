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5143500" cy="9144000"/>
  <p:embeddedFontLst>
    <p:embeddedFont>
      <p:font typeface="Bebas Neue"/>
      <p:regular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gNfFBQUYxNwoZDj+uXsTQ13tid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42066BC-D35E-4937-9645-C9367CAF8F60}">
  <a:tblStyle styleId="{F42066BC-D35E-4937-9645-C9367CAF8F6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font" Target="fonts/BebasNeue-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b="1" lang="en-US" sz="1100">
                <a:latin typeface="Arial"/>
                <a:ea typeface="Arial"/>
                <a:cs typeface="Arial"/>
                <a:sym typeface="Arial"/>
              </a:rPr>
              <a:t>Jackie:</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We're Freeweight — the training platform built for coaches who manage real teams.</a:t>
            </a:r>
            <a:endParaRPr b="1" sz="1100">
              <a:latin typeface="Arial"/>
              <a:ea typeface="Arial"/>
              <a:cs typeface="Arial"/>
              <a:sym typeface="Arial"/>
            </a:endParaRPr>
          </a:p>
          <a:p>
            <a:pPr indent="0" lvl="0" marL="0" rtl="0" algn="l">
              <a:lnSpc>
                <a:spcPct val="115000"/>
              </a:lnSpc>
              <a:spcBef>
                <a:spcPts val="1200"/>
              </a:spcBef>
              <a:spcAft>
                <a:spcPts val="1200"/>
              </a:spcAft>
              <a:buSzPts val="1100"/>
              <a:buNone/>
            </a:pPr>
            <a:r>
              <a:rPr lang="en-US" sz="1100">
                <a:latin typeface="Arial"/>
                <a:ea typeface="Arial"/>
                <a:cs typeface="Arial"/>
                <a:sym typeface="Arial"/>
              </a:rPr>
              <a:t>And we built it because of a problem every serious strength coach knows personally.</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b="1" lang="en-US" sz="1100">
                <a:latin typeface="Arial"/>
                <a:ea typeface="Arial"/>
                <a:cs typeface="Arial"/>
                <a:sym typeface="Arial"/>
              </a:rPr>
              <a:t>Nitin:</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 world changed — but the tools didn't keep up.</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Coaching used to be simple. One coach, one team, a whiteboard in the weight room. You knew every athlete, you could adjust on the fly, and a marker was all you needed.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But the game changed. Coaches are now managing multiple teams, hundreds of athletes, a dozen different programs running simultaneously. The complexity exploded.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And yet — most coaches are still running all of that on spreadsheets. Excel files. Google Sheets. Maybe a notes app if they're fancy.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workload 10x'd. The tools stayed the same. That's the gap we're here to close.</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Andrea:</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So who are we to solve this?</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We're not outsiders looking in. Every person on this team is an athlete here at Columbia, and together, we have the computer science skills and quantitative backgrounds to build what we wished existed. We lived inside this system — we were the ones checking the excel spreadsheet in the weight room, trying to figure out what exercises we were supposed to be doing at practice.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felt the friction firsthand. Injuries getting lost in communication. Programs that didn't account for individual needs. Logging that happened in a notes app, or didn't happen at all.</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41" name="Google Shape;4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Arin: And when the system breaks down, nobody wins — not the coach, not the athlete.</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coaches: they're spending hours on admin that has nothing to do with actual coaching. Building out spreadsheets, texting programs to 100 athletes, then chasing them down to find out who even did the workout. And after all that — they still have no real visibility into what's happening on the floor.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athletes: you're standing under a bar trying to do mental math. 'Coach said 80% but I don't know my max, so...' Programs that were written two weeks ago and haven't adapted since. And if you get hurt? You text into a group chat and hope someone sees it.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isn't a minor inconvenience. It's a broken feedback loop between the people who design the training and the people doing it. And it's costing both sides.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68" name="Google Shape;6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Nitin:</a:t>
            </a:r>
            <a:br>
              <a:rPr lang="en-US"/>
            </a:br>
            <a:r>
              <a:rPr lang="en-US"/>
              <a:t>So why is now the right moment to build this?</a:t>
            </a:r>
            <a:endParaRPr/>
          </a:p>
          <a:p>
            <a:pPr indent="0" lvl="0" marL="0" rtl="0" algn="l">
              <a:lnSpc>
                <a:spcPct val="115000"/>
              </a:lnSpc>
              <a:spcBef>
                <a:spcPts val="1200"/>
              </a:spcBef>
              <a:spcAft>
                <a:spcPts val="0"/>
              </a:spcAft>
              <a:buClr>
                <a:schemeClr val="dk1"/>
              </a:buClr>
              <a:buSzPts val="1100"/>
              <a:buFont typeface="Arial"/>
              <a:buNone/>
            </a:pPr>
            <a:r>
              <a:rPr lang="en-US"/>
              <a:t>Three things are happening at once.</a:t>
            </a:r>
            <a:endParaRPr/>
          </a:p>
          <a:p>
            <a:pPr indent="0" lvl="0" marL="0" rtl="0" algn="l">
              <a:lnSpc>
                <a:spcPct val="115000"/>
              </a:lnSpc>
              <a:spcBef>
                <a:spcPts val="1200"/>
              </a:spcBef>
              <a:spcAft>
                <a:spcPts val="0"/>
              </a:spcAft>
              <a:buClr>
                <a:schemeClr val="dk1"/>
              </a:buClr>
              <a:buSzPts val="1100"/>
              <a:buFont typeface="Arial"/>
              <a:buNone/>
            </a:pPr>
            <a:r>
              <a:rPr lang="en-US"/>
              <a:t>First — the market is massive and growing. There are 340,000 certified personal trainers in the US alone, up over 21% since 2012, with another 10% job growth projected over the next decade. The coaches are there. The demand is there.</a:t>
            </a:r>
            <a:endParaRPr/>
          </a:p>
          <a:p>
            <a:pPr indent="0" lvl="0" marL="0" rtl="0" algn="l">
              <a:lnSpc>
                <a:spcPct val="115000"/>
              </a:lnSpc>
              <a:spcBef>
                <a:spcPts val="1200"/>
              </a:spcBef>
              <a:spcAft>
                <a:spcPts val="0"/>
              </a:spcAft>
              <a:buClr>
                <a:schemeClr val="dk1"/>
              </a:buClr>
              <a:buSzPts val="1100"/>
              <a:buFont typeface="Arial"/>
              <a:buNone/>
            </a:pPr>
            <a:r>
              <a:rPr lang="en-US"/>
              <a:t>Second — college athletics just changed forever. NIL flipped the model. Schools are competing for recruits like never before, S&amp;C staffs are expanding, and coaches are being asked to do more with more athletes. The pressure to perform and to retain talent is higher than it's ever been — and they're still managing it all with no modern infrastructure or overpriced nonsense.</a:t>
            </a:r>
            <a:endParaRPr/>
          </a:p>
          <a:p>
            <a:pPr indent="0" lvl="0" marL="0" rtl="0" algn="l">
              <a:lnSpc>
                <a:spcPct val="115000"/>
              </a:lnSpc>
              <a:spcBef>
                <a:spcPts val="1200"/>
              </a:spcBef>
              <a:spcAft>
                <a:spcPts val="0"/>
              </a:spcAft>
              <a:buClr>
                <a:schemeClr val="dk1"/>
              </a:buClr>
              <a:buSzPts val="1100"/>
              <a:buFont typeface="Arial"/>
              <a:buNone/>
            </a:pPr>
            <a:r>
              <a:rPr lang="en-US"/>
              <a:t>Third — athletes expect better. These are people who use Whoop, Strava, Apple Watch. They have real-time data on everything about their body. And then they walk into the weight room and get handed a paper program. That gap is jarring — and it's only getting wider.</a:t>
            </a:r>
            <a:endParaRPr/>
          </a:p>
          <a:p>
            <a:pPr indent="0" lvl="0" marL="0" rtl="0" algn="l">
              <a:spcBef>
                <a:spcPts val="1200"/>
              </a:spcBef>
              <a:spcAft>
                <a:spcPts val="0"/>
              </a:spcAft>
              <a:buNone/>
            </a:pPr>
            <a:r>
              <a:t/>
            </a:r>
            <a:endParaRPr/>
          </a:p>
        </p:txBody>
      </p:sp>
      <p:sp>
        <p:nvSpPr>
          <p:cNvPr id="83" name="Google Shape;8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a:t>Jackie:</a:t>
            </a:r>
            <a:r>
              <a:rPr lang="en-US"/>
              <a:t> </a:t>
            </a:r>
            <a:r>
              <a:rPr lang="en-US"/>
              <a:t>So here's what we built.</a:t>
            </a:r>
            <a:endParaRPr/>
          </a:p>
          <a:p>
            <a:pPr indent="0" lvl="0" marL="0" rtl="0" algn="l">
              <a:lnSpc>
                <a:spcPct val="115000"/>
              </a:lnSpc>
              <a:spcBef>
                <a:spcPts val="1200"/>
              </a:spcBef>
              <a:spcAft>
                <a:spcPts val="0"/>
              </a:spcAft>
              <a:buClr>
                <a:schemeClr val="dk1"/>
              </a:buClr>
              <a:buSzPts val="1100"/>
              <a:buFont typeface="Arial"/>
              <a:buNone/>
            </a:pPr>
            <a:r>
              <a:rPr lang="en-US"/>
              <a:t>One platform. The coach programs, the athlete executes, and everyone can see what's happening in real time.</a:t>
            </a:r>
            <a:endParaRPr/>
          </a:p>
          <a:p>
            <a:pPr indent="0" lvl="0" marL="0" rtl="0" algn="l">
              <a:lnSpc>
                <a:spcPct val="115000"/>
              </a:lnSpc>
              <a:spcBef>
                <a:spcPts val="1200"/>
              </a:spcBef>
              <a:spcAft>
                <a:spcPts val="0"/>
              </a:spcAft>
              <a:buClr>
                <a:schemeClr val="dk1"/>
              </a:buClr>
              <a:buSzPts val="1100"/>
              <a:buFont typeface="Arial"/>
              <a:buNone/>
            </a:pPr>
            <a:r>
              <a:rPr lang="en-US"/>
              <a:t>It works in three steps.</a:t>
            </a:r>
            <a:endParaRPr/>
          </a:p>
          <a:p>
            <a:pPr indent="-317500" lvl="0" marL="457200" rtl="0" algn="l">
              <a:lnSpc>
                <a:spcPct val="115000"/>
              </a:lnSpc>
              <a:spcBef>
                <a:spcPts val="1200"/>
              </a:spcBef>
              <a:spcAft>
                <a:spcPts val="0"/>
              </a:spcAft>
              <a:buSzPts val="1400"/>
              <a:buAutoNum type="arabicPeriod"/>
            </a:pPr>
            <a:r>
              <a:rPr lang="en-US"/>
              <a:t>The coach writes the program once, completely customized with the exercises they know will make their athletes better. That's it. One entry.</a:t>
            </a:r>
            <a:endParaRPr/>
          </a:p>
          <a:p>
            <a:pPr indent="-317500" lvl="0" marL="457200" rtl="0" algn="l">
              <a:lnSpc>
                <a:spcPct val="115000"/>
              </a:lnSpc>
              <a:spcBef>
                <a:spcPts val="0"/>
              </a:spcBef>
              <a:spcAft>
                <a:spcPts val="0"/>
              </a:spcAft>
              <a:buSzPts val="1400"/>
              <a:buAutoNum type="arabicPeriod"/>
            </a:pPr>
            <a:r>
              <a:rPr lang="en-US"/>
              <a:t>The app tells the athlete exactly what to do. They log their activity with a single click. No time wasted. More weight lifted. </a:t>
            </a:r>
            <a:endParaRPr/>
          </a:p>
          <a:p>
            <a:pPr indent="-317500" lvl="0" marL="457200" rtl="0" algn="l">
              <a:lnSpc>
                <a:spcPct val="115000"/>
              </a:lnSpc>
              <a:spcBef>
                <a:spcPts val="0"/>
              </a:spcBef>
              <a:spcAft>
                <a:spcPts val="0"/>
              </a:spcAft>
              <a:buSzPts val="1400"/>
              <a:buAutoNum type="arabicPeriod"/>
            </a:pPr>
            <a:r>
              <a:rPr lang="en-US"/>
              <a:t>The team gets better. Coaches see exactly what their athletes are doing. Athletes are pushed to get better. Everyone wins. </a:t>
            </a:r>
            <a:endParaRPr/>
          </a:p>
          <a:p>
            <a:pPr indent="0" lvl="0" marL="0" rtl="0" algn="l">
              <a:spcBef>
                <a:spcPts val="1200"/>
              </a:spcBef>
              <a:spcAft>
                <a:spcPts val="0"/>
              </a:spcAft>
              <a:buNone/>
            </a:pPr>
            <a:r>
              <a:t/>
            </a:r>
            <a:endParaRPr/>
          </a:p>
        </p:txBody>
      </p:sp>
      <p:sp>
        <p:nvSpPr>
          <p:cNvPr id="99" name="Google Shape;9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JACKIE DEMO: Let me just show you how this actually works — starting from where every coach already is today.</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[open coach view]</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 coach has an existing spreadsheet — this is real, this is what they're working from right now. They upload it directly into Freeweight. Our AI reads it and converts it into a structured program automatically. No rebuilding from scratch. No manual entry. You're already in.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[upload spreadsheet, show conversion]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Now the coach assigns that program to a team. One click — every athlete on the roster gets it.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[assign to team]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On the athlete side, they open the app and their workout is already there. Not a PDF, not a screenshot of a spreadsheet — their workout, with weights already calculated for them specifically based on their maxes.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[show athlete view / workout of the day]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They go through the session and log as they go. One tap per set.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[athlete executes]</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20" name="Google Shape;12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a:t>Nitin:</a:t>
            </a:r>
            <a:endParaRPr/>
          </a:p>
          <a:p>
            <a:pPr indent="0" lvl="0" marL="0" rtl="0" algn="l">
              <a:lnSpc>
                <a:spcPct val="115000"/>
              </a:lnSpc>
              <a:spcBef>
                <a:spcPts val="1200"/>
              </a:spcBef>
              <a:spcAft>
                <a:spcPts val="0"/>
              </a:spcAft>
              <a:buClr>
                <a:schemeClr val="dk1"/>
              </a:buClr>
              <a:buSzPts val="1100"/>
              <a:buFont typeface="Arial"/>
              <a:buNone/>
            </a:pPr>
            <a:r>
              <a:rPr lang="en-US"/>
              <a:t>Now you might be wondering — what else is out there?</a:t>
            </a:r>
            <a:endParaRPr/>
          </a:p>
          <a:p>
            <a:pPr indent="0" lvl="0" marL="0" rtl="0" algn="l">
              <a:lnSpc>
                <a:spcPct val="115000"/>
              </a:lnSpc>
              <a:spcBef>
                <a:spcPts val="1200"/>
              </a:spcBef>
              <a:spcAft>
                <a:spcPts val="0"/>
              </a:spcAft>
              <a:buClr>
                <a:schemeClr val="dk1"/>
              </a:buClr>
              <a:buSzPts val="1100"/>
              <a:buFont typeface="Arial"/>
              <a:buNone/>
            </a:pPr>
            <a:r>
              <a:rPr lang="en-US"/>
              <a:t>The honest answer is that the biggest competitor isn't another app. It's the spreadsheet. It's the group text. That's what we're actually displacing, and that's what most coaches are still on today.</a:t>
            </a:r>
            <a:endParaRPr/>
          </a:p>
          <a:p>
            <a:pPr indent="0" lvl="0" marL="0" rtl="0" algn="l">
              <a:lnSpc>
                <a:spcPct val="115000"/>
              </a:lnSpc>
              <a:spcBef>
                <a:spcPts val="1200"/>
              </a:spcBef>
              <a:spcAft>
                <a:spcPts val="0"/>
              </a:spcAft>
              <a:buClr>
                <a:schemeClr val="dk1"/>
              </a:buClr>
              <a:buSzPts val="1100"/>
              <a:buFont typeface="Arial"/>
              <a:buNone/>
            </a:pPr>
            <a:r>
              <a:rPr lang="en-US"/>
              <a:t>TrainHeroic and TeamBuildr have team structure, but the athlete experience falls short — and frankly, they're priced out of reach for most coaches. We're talking hundreds to thousands of dollars a month. So even the coaches who know these tools exist often can't afford them. That's a huge chunk of the market that's been completely ignored.</a:t>
            </a:r>
            <a:endParaRPr/>
          </a:p>
          <a:p>
            <a:pPr indent="0" lvl="0" marL="0" rtl="0" algn="l">
              <a:lnSpc>
                <a:spcPct val="115000"/>
              </a:lnSpc>
              <a:spcBef>
                <a:spcPts val="1200"/>
              </a:spcBef>
              <a:spcAft>
                <a:spcPts val="0"/>
              </a:spcAft>
              <a:buClr>
                <a:schemeClr val="dk1"/>
              </a:buClr>
              <a:buSzPts val="1100"/>
              <a:buFont typeface="Arial"/>
              <a:buNone/>
            </a:pPr>
            <a:r>
              <a:rPr lang="en-US"/>
              <a:t>Consumer fitness apps like Strava or Whoop — great athlete experience, but built for individuals. No team structure, no coach controls, no auto-calculation.</a:t>
            </a:r>
            <a:endParaRPr/>
          </a:p>
          <a:p>
            <a:pPr indent="0" lvl="0" marL="0" rtl="0" algn="l">
              <a:lnSpc>
                <a:spcPct val="115000"/>
              </a:lnSpc>
              <a:spcBef>
                <a:spcPts val="1200"/>
              </a:spcBef>
              <a:spcAft>
                <a:spcPts val="0"/>
              </a:spcAft>
              <a:buClr>
                <a:schemeClr val="dk1"/>
              </a:buClr>
              <a:buSzPts val="1100"/>
              <a:buFont typeface="Arial"/>
              <a:buNone/>
            </a:pPr>
            <a:r>
              <a:rPr lang="en-US"/>
              <a:t>And Google Sheets and group texts — no, no, and no.</a:t>
            </a:r>
            <a:endParaRPr/>
          </a:p>
          <a:p>
            <a:pPr indent="0" lvl="0" marL="0" rtl="0" algn="l">
              <a:lnSpc>
                <a:spcPct val="115000"/>
              </a:lnSpc>
              <a:spcBef>
                <a:spcPts val="1200"/>
              </a:spcBef>
              <a:spcAft>
                <a:spcPts val="0"/>
              </a:spcAft>
              <a:buClr>
                <a:schemeClr val="dk1"/>
              </a:buClr>
              <a:buSzPts val="1100"/>
              <a:buFont typeface="Arial"/>
              <a:buNone/>
            </a:pPr>
            <a:r>
              <a:rPr lang="en-US"/>
              <a:t>Freeweight is the only product that checks all three boxes at a price point coaches can actually say yes to. That combination doesn't exist anywhere else</a:t>
            </a:r>
            <a:endParaRPr/>
          </a:p>
          <a:p>
            <a:pPr indent="0" lvl="0" marL="0" rtl="0" algn="l">
              <a:spcBef>
                <a:spcPts val="1200"/>
              </a:spcBef>
              <a:spcAft>
                <a:spcPts val="0"/>
              </a:spcAft>
              <a:buNone/>
            </a:pPr>
            <a:r>
              <a:t/>
            </a:r>
            <a:endParaRPr/>
          </a:p>
        </p:txBody>
      </p:sp>
      <p:sp>
        <p:nvSpPr>
          <p:cNvPr id="129" name="Google Shape;12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a:t>Arin</a:t>
            </a:r>
            <a:r>
              <a:rPr lang="en-US"/>
              <a:t>: </a:t>
            </a:r>
            <a:r>
              <a:rPr lang="en-US"/>
              <a:t>Freeweight is active across Columbia Athletics right now — 5 teams in pilot, 150+ athletes on the platform, and more programs onboarding as we speak. Women's Rowing, Men's Rowing, Lightweight Rowing, Lacrosse, and Soccer.</a:t>
            </a:r>
            <a:endParaRPr/>
          </a:p>
          <a:p>
            <a:pPr indent="0" lvl="0" marL="0" rtl="0" algn="l">
              <a:lnSpc>
                <a:spcPct val="115000"/>
              </a:lnSpc>
              <a:spcBef>
                <a:spcPts val="1200"/>
              </a:spcBef>
              <a:spcAft>
                <a:spcPts val="0"/>
              </a:spcAft>
              <a:buClr>
                <a:schemeClr val="dk1"/>
              </a:buClr>
              <a:buSzPts val="1100"/>
              <a:buFont typeface="Arial"/>
              <a:buNone/>
            </a:pPr>
            <a:r>
              <a:rPr lang="en-US"/>
              <a:t>And this wasn't a favor. These coaches looked at the product and said yes because it solves a real problem they deal with every day.</a:t>
            </a:r>
            <a:endParaRPr/>
          </a:p>
          <a:p>
            <a:pPr indent="0" lvl="0" marL="0" rtl="0" algn="l">
              <a:lnSpc>
                <a:spcPct val="115000"/>
              </a:lnSpc>
              <a:spcBef>
                <a:spcPts val="1200"/>
              </a:spcBef>
              <a:spcAft>
                <a:spcPts val="0"/>
              </a:spcAft>
              <a:buClr>
                <a:schemeClr val="dk1"/>
              </a:buClr>
              <a:buSzPts val="1100"/>
              <a:buFont typeface="Arial"/>
              <a:buNone/>
            </a:pPr>
            <a:r>
              <a:rPr lang="en-US"/>
              <a:t>What's meaningful about this traction is where it came from. We didn't go find a random beta customer — we built this for the exact program we trained in. We knew the coaches, we knew the pain, and we built something they actually wanted to use. That's why adoption happened fast.</a:t>
            </a:r>
            <a:endParaRPr/>
          </a:p>
          <a:p>
            <a:pPr indent="0" lvl="0" marL="0" rtl="0" algn="l">
              <a:spcBef>
                <a:spcPts val="1200"/>
              </a:spcBef>
              <a:spcAft>
                <a:spcPts val="0"/>
              </a:spcAft>
              <a:buNone/>
            </a:pPr>
            <a:r>
              <a:t/>
            </a:r>
            <a:endParaRPr/>
          </a:p>
        </p:txBody>
      </p:sp>
      <p:sp>
        <p:nvSpPr>
          <p:cNvPr id="137" name="Google Shape;13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Andrea:</a:t>
            </a:r>
            <a:endParaRPr/>
          </a:p>
          <a:p>
            <a:pPr indent="0" lvl="0" marL="0" rtl="0" algn="l">
              <a:lnSpc>
                <a:spcPct val="115000"/>
              </a:lnSpc>
              <a:spcBef>
                <a:spcPts val="1200"/>
              </a:spcBef>
              <a:spcAft>
                <a:spcPts val="0"/>
              </a:spcAft>
              <a:buClr>
                <a:schemeClr val="dk1"/>
              </a:buClr>
              <a:buSzPts val="1100"/>
              <a:buFont typeface="Arial"/>
              <a:buNone/>
            </a:pPr>
            <a:r>
              <a:rPr lang="en-US"/>
              <a:t>The business model is simple.</a:t>
            </a:r>
            <a:endParaRPr/>
          </a:p>
          <a:p>
            <a:pPr indent="0" lvl="0" marL="0" rtl="0" algn="l">
              <a:lnSpc>
                <a:spcPct val="115000"/>
              </a:lnSpc>
              <a:spcBef>
                <a:spcPts val="1200"/>
              </a:spcBef>
              <a:spcAft>
                <a:spcPts val="0"/>
              </a:spcAft>
              <a:buClr>
                <a:schemeClr val="dk1"/>
              </a:buClr>
              <a:buSzPts val="1100"/>
              <a:buFont typeface="Arial"/>
              <a:buNone/>
            </a:pPr>
            <a:r>
              <a:rPr lang="en-US"/>
              <a:t>Coaches pay. Athletes are free.</a:t>
            </a:r>
            <a:endParaRPr/>
          </a:p>
          <a:p>
            <a:pPr indent="0" lvl="0" marL="0" rtl="0" algn="l">
              <a:lnSpc>
                <a:spcPct val="115000"/>
              </a:lnSpc>
              <a:spcBef>
                <a:spcPts val="1200"/>
              </a:spcBef>
              <a:spcAft>
                <a:spcPts val="0"/>
              </a:spcAft>
              <a:buSzPts val="1100"/>
              <a:buNone/>
            </a:pPr>
            <a:r>
              <a:rPr lang="en-US"/>
              <a:t>Coaches subscribe on a SaaS basis, where pricing scales with roster size.</a:t>
            </a:r>
            <a:endParaRPr/>
          </a:p>
          <a:p>
            <a:pPr indent="0" lvl="0" marL="0" rtl="0" algn="l">
              <a:lnSpc>
                <a:spcPct val="115000"/>
              </a:lnSpc>
              <a:spcBef>
                <a:spcPts val="1200"/>
              </a:spcBef>
              <a:spcAft>
                <a:spcPts val="0"/>
              </a:spcAft>
              <a:buClr>
                <a:schemeClr val="dk1"/>
              </a:buClr>
              <a:buSzPts val="1100"/>
              <a:buFont typeface="Arial"/>
              <a:buNone/>
            </a:pPr>
            <a:r>
              <a:rPr lang="en-US"/>
              <a:t>Athletes are free to join because removing friction is the entire point. If athletes have to pay, they don't show up. And if athletes don't show up, coaches don't renew. So keeping athletes free is what gives value to the coach subscription and makes it worth paying for.</a:t>
            </a:r>
            <a:endParaRPr/>
          </a:p>
          <a:p>
            <a:pPr indent="0" lvl="0" marL="0" rtl="0" algn="l">
              <a:lnSpc>
                <a:spcPct val="115000"/>
              </a:lnSpc>
              <a:spcBef>
                <a:spcPts val="1200"/>
              </a:spcBef>
              <a:spcAft>
                <a:spcPts val="1200"/>
              </a:spcAft>
              <a:buClr>
                <a:schemeClr val="dk1"/>
              </a:buClr>
              <a:buSzPts val="1100"/>
              <a:buFont typeface="Arial"/>
              <a:buNone/>
            </a:pPr>
            <a:r>
              <a:rPr lang="en-US"/>
              <a:t>The path forward is straightforward. We're starting in collegiate athletics because it's the hardest version of this problem. Large rosters, high-stakes programs, athletes with specific needs, zero margin for a tool that doesn't work. If the product works here, it works anywhere. From here, we expand across D1 teams, and then to high school programs, professional sports, and private coaching. A simpler version of the same problem, and a market that's orders of magnitude larger.</a:t>
            </a:r>
            <a:endParaRPr/>
          </a:p>
        </p:txBody>
      </p:sp>
      <p:sp>
        <p:nvSpPr>
          <p:cNvPr id="157" name="Google Shape;15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a:t>Nitin</a:t>
            </a:r>
            <a:endParaRPr/>
          </a:p>
          <a:p>
            <a:pPr indent="0" lvl="0" marL="0" rtl="0" algn="l">
              <a:lnSpc>
                <a:spcPct val="115000"/>
              </a:lnSpc>
              <a:spcBef>
                <a:spcPts val="1200"/>
              </a:spcBef>
              <a:spcAft>
                <a:spcPts val="0"/>
              </a:spcAft>
              <a:buClr>
                <a:schemeClr val="dk1"/>
              </a:buClr>
              <a:buSzPts val="1100"/>
              <a:buFont typeface="Arial"/>
              <a:buNone/>
            </a:pPr>
            <a:r>
              <a:rPr lang="en-US"/>
              <a:t>So how big is this?</a:t>
            </a:r>
            <a:endParaRPr/>
          </a:p>
          <a:p>
            <a:pPr indent="0" lvl="0" marL="0" rtl="0" algn="l">
              <a:lnSpc>
                <a:spcPct val="115000"/>
              </a:lnSpc>
              <a:spcBef>
                <a:spcPts val="1200"/>
              </a:spcBef>
              <a:spcAft>
                <a:spcPts val="0"/>
              </a:spcAft>
              <a:buClr>
                <a:schemeClr val="dk1"/>
              </a:buClr>
              <a:buSzPts val="1100"/>
              <a:buFont typeface="Arial"/>
              <a:buNone/>
            </a:pPr>
            <a:r>
              <a:rPr lang="en-US"/>
              <a:t>The market is anyone who coaches multiple athletes. That's our definition — and it's a big one.</a:t>
            </a:r>
            <a:endParaRPr/>
          </a:p>
          <a:p>
            <a:pPr indent="0" lvl="0" marL="0" rtl="0" algn="l">
              <a:lnSpc>
                <a:spcPct val="115000"/>
              </a:lnSpc>
              <a:spcBef>
                <a:spcPts val="1200"/>
              </a:spcBef>
              <a:spcAft>
                <a:spcPts val="0"/>
              </a:spcAft>
              <a:buClr>
                <a:schemeClr val="dk1"/>
              </a:buClr>
              <a:buSzPts val="1100"/>
              <a:buFont typeface="Arial"/>
              <a:buNone/>
            </a:pPr>
            <a:r>
              <a:rPr lang="en-US"/>
              <a:t>Starting with where we are: NCAA D1 strength and conditioning. 1,100 programs, roughly 2 coaches each, at $200 a month. That's $5.3M ARR from D1 alone — and that's a conservative estimate.</a:t>
            </a:r>
            <a:endParaRPr/>
          </a:p>
          <a:p>
            <a:pPr indent="0" lvl="0" marL="0" rtl="0" algn="l">
              <a:lnSpc>
                <a:spcPct val="115000"/>
              </a:lnSpc>
              <a:spcBef>
                <a:spcPts val="1200"/>
              </a:spcBef>
              <a:spcAft>
                <a:spcPts val="0"/>
              </a:spcAft>
              <a:buClr>
                <a:schemeClr val="dk1"/>
              </a:buClr>
              <a:buSzPts val="1100"/>
              <a:buFont typeface="Arial"/>
              <a:buNone/>
            </a:pPr>
            <a:r>
              <a:rPr lang="en-US"/>
              <a:t>Move down to D2, D3, and high school programs — we're talking 5,000+ programs at lower price points, but the volume more than makes up for it. Another $8M+ ARR.</a:t>
            </a:r>
            <a:endParaRPr/>
          </a:p>
          <a:p>
            <a:pPr indent="0" lvl="0" marL="0" rtl="0" algn="l">
              <a:lnSpc>
                <a:spcPct val="115000"/>
              </a:lnSpc>
              <a:spcBef>
                <a:spcPts val="1200"/>
              </a:spcBef>
              <a:spcAft>
                <a:spcPts val="0"/>
              </a:spcAft>
              <a:buClr>
                <a:schemeClr val="dk1"/>
              </a:buClr>
              <a:buSzPts val="1100"/>
              <a:buFont typeface="Arial"/>
              <a:buNone/>
            </a:pPr>
            <a:r>
              <a:rPr lang="en-US"/>
              <a:t>And then there's personal trainers. 340,000 certified PTs in the US, growing fast. We haven't put a number on that box yet because frankly the word that fits is massive. This is a $32 billion industry.</a:t>
            </a:r>
            <a:endParaRPr/>
          </a:p>
          <a:p>
            <a:pPr indent="0" lvl="0" marL="0" rtl="0" algn="l">
              <a:lnSpc>
                <a:spcPct val="115000"/>
              </a:lnSpc>
              <a:spcBef>
                <a:spcPts val="1200"/>
              </a:spcBef>
              <a:spcAft>
                <a:spcPts val="1200"/>
              </a:spcAft>
              <a:buSzPts val="1100"/>
              <a:buNone/>
            </a:pPr>
            <a:r>
              <a:rPr lang="en-US"/>
              <a:t>We're not trying to boil the ocean. We're starting with the beachhead we already have — collegiate athletics — and expanding outward from there. But the ceiling on this market is enormous.</a:t>
            </a:r>
            <a:endParaRPr/>
          </a:p>
        </p:txBody>
      </p:sp>
      <p:sp>
        <p:nvSpPr>
          <p:cNvPr id="172" name="Google Shape;17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a:t>Arin:</a:t>
            </a:r>
            <a:r>
              <a:rPr lang="en-US"/>
              <a:t> </a:t>
            </a:r>
            <a:r>
              <a:rPr lang="en-US"/>
              <a:t>So here's what we're asking for today.</a:t>
            </a:r>
            <a:endParaRPr/>
          </a:p>
          <a:p>
            <a:pPr indent="0" lvl="0" marL="0" rtl="0" algn="l">
              <a:lnSpc>
                <a:spcPct val="115000"/>
              </a:lnSpc>
              <a:spcBef>
                <a:spcPts val="1200"/>
              </a:spcBef>
              <a:spcAft>
                <a:spcPts val="0"/>
              </a:spcAft>
              <a:buClr>
                <a:schemeClr val="dk1"/>
              </a:buClr>
              <a:buSzPts val="1100"/>
              <a:buFont typeface="Arial"/>
              <a:buNone/>
            </a:pPr>
            <a:r>
              <a:rPr lang="en-US"/>
              <a:t>We're not here for a check. We're here for doors.</a:t>
            </a:r>
            <a:endParaRPr/>
          </a:p>
          <a:p>
            <a:pPr indent="0" lvl="0" marL="0" rtl="0" algn="l">
              <a:lnSpc>
                <a:spcPct val="115000"/>
              </a:lnSpc>
              <a:spcBef>
                <a:spcPts val="1200"/>
              </a:spcBef>
              <a:spcAft>
                <a:spcPts val="0"/>
              </a:spcAft>
              <a:buClr>
                <a:schemeClr val="dk1"/>
              </a:buClr>
              <a:buSzPts val="1100"/>
              <a:buFont typeface="Arial"/>
              <a:buNone/>
            </a:pPr>
            <a:r>
              <a:rPr lang="en-US"/>
              <a:t>We want to put Freeweight in the hands of 10 more coaches this semester — college S&amp;C programs, personal trainers, anyone running a real program with real athletes. The product is built. It's live. It works. We just need the introductions.</a:t>
            </a:r>
            <a:endParaRPr/>
          </a:p>
          <a:p>
            <a:pPr indent="0" lvl="0" marL="0" rtl="0" algn="l">
              <a:lnSpc>
                <a:spcPct val="115000"/>
              </a:lnSpc>
              <a:spcBef>
                <a:spcPts val="1200"/>
              </a:spcBef>
              <a:spcAft>
                <a:spcPts val="0"/>
              </a:spcAft>
              <a:buClr>
                <a:schemeClr val="dk1"/>
              </a:buClr>
              <a:buSzPts val="1100"/>
              <a:buFont typeface="Arial"/>
              <a:buNone/>
            </a:pPr>
            <a:r>
              <a:rPr lang="en-US"/>
              <a:t>If you coach, if you know a coach, if you have a contact at an athletic department or a gym — that is the ask. One introduction from the right person in this room could be our next pilot.</a:t>
            </a:r>
            <a:endParaRPr/>
          </a:p>
          <a:p>
            <a:pPr indent="0" lvl="0" marL="0" rtl="0" algn="l">
              <a:lnSpc>
                <a:spcPct val="115000"/>
              </a:lnSpc>
              <a:spcBef>
                <a:spcPts val="1200"/>
              </a:spcBef>
              <a:spcAft>
                <a:spcPts val="0"/>
              </a:spcAft>
              <a:buClr>
                <a:schemeClr val="dk1"/>
              </a:buClr>
              <a:buSzPts val="1100"/>
              <a:buFont typeface="Arial"/>
              <a:buNone/>
            </a:pPr>
            <a:r>
              <a:rPr lang="en-US"/>
              <a:t>The product is built. We just need the rooms</a:t>
            </a:r>
            <a:endParaRPr/>
          </a:p>
          <a:p>
            <a:pPr indent="0" lvl="0" marL="0" rtl="0" algn="l">
              <a:spcBef>
                <a:spcPts val="1200"/>
              </a:spcBef>
              <a:spcAft>
                <a:spcPts val="0"/>
              </a:spcAft>
              <a:buNone/>
            </a:pPr>
            <a:r>
              <a:t/>
            </a:r>
            <a:endParaRPr/>
          </a:p>
        </p:txBody>
      </p:sp>
      <p:sp>
        <p:nvSpPr>
          <p:cNvPr id="193" name="Google Shape;19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15" name="Shape 15"/>
        <p:cNvGrpSpPr/>
        <p:nvPr/>
      </p:nvGrpSpPr>
      <p:grpSpPr>
        <a:xfrm>
          <a:off x="0" y="0"/>
          <a:ext cx="0" cy="0"/>
          <a:chOff x="0" y="0"/>
          <a:chExt cx="0" cy="0"/>
        </a:xfrm>
      </p:grpSpPr>
      <p:sp>
        <p:nvSpPr>
          <p:cNvPr id="16" name="Google Shape;16;p1"/>
          <p:cNvSpPr/>
          <p:nvPr/>
        </p:nvSpPr>
        <p:spPr>
          <a:xfrm>
            <a:off x="457200" y="3640620"/>
            <a:ext cx="8229600" cy="54900"/>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457200" y="3869220"/>
            <a:ext cx="68580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600"/>
              <a:buFont typeface="Arial"/>
              <a:buNone/>
            </a:pPr>
            <a:r>
              <a:rPr b="0" i="1" lang="en-US" sz="1600" u="none" cap="none" strike="noStrike">
                <a:solidFill>
                  <a:srgbClr val="E8EEEA"/>
                </a:solidFill>
                <a:latin typeface="Arial"/>
                <a:ea typeface="Arial"/>
                <a:cs typeface="Arial"/>
                <a:sym typeface="Arial"/>
              </a:rPr>
              <a:t>The training platform built for coaches who manage real teams.</a:t>
            </a:r>
            <a:endParaRPr b="0" i="0" sz="1600" u="none" cap="none" strike="noStrike">
              <a:solidFill>
                <a:schemeClr val="dk1"/>
              </a:solidFill>
              <a:latin typeface="Calibri"/>
              <a:ea typeface="Calibri"/>
              <a:cs typeface="Calibri"/>
              <a:sym typeface="Calibri"/>
            </a:endParaRPr>
          </a:p>
        </p:txBody>
      </p:sp>
      <p:sp>
        <p:nvSpPr>
          <p:cNvPr id="18" name="Google Shape;18;p1"/>
          <p:cNvSpPr/>
          <p:nvPr/>
        </p:nvSpPr>
        <p:spPr>
          <a:xfrm>
            <a:off x="457200" y="448056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Andrea Vergara  |  Nitin Rao  |  Arin Jaff  |  Jaclyn Zatsiorsky</a:t>
            </a:r>
            <a:endParaRPr b="0" i="0" sz="1100" u="none" cap="none" strike="noStrike">
              <a:solidFill>
                <a:schemeClr val="dk1"/>
              </a:solidFill>
              <a:latin typeface="Calibri"/>
              <a:ea typeface="Calibri"/>
              <a:cs typeface="Calibri"/>
              <a:sym typeface="Calibri"/>
            </a:endParaRPr>
          </a:p>
        </p:txBody>
      </p:sp>
      <p:pic>
        <p:nvPicPr>
          <p:cNvPr id="19" name="Google Shape;19;p1"/>
          <p:cNvPicPr preferRelativeResize="0"/>
          <p:nvPr/>
        </p:nvPicPr>
        <p:blipFill>
          <a:blip r:embed="rId3">
            <a:alphaModFix/>
          </a:blip>
          <a:stretch>
            <a:fillRect/>
          </a:stretch>
        </p:blipFill>
        <p:spPr>
          <a:xfrm>
            <a:off x="2974000" y="238525"/>
            <a:ext cx="3195988" cy="3228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24" name="Shape 24"/>
        <p:cNvGrpSpPr/>
        <p:nvPr/>
      </p:nvGrpSpPr>
      <p:grpSpPr>
        <a:xfrm>
          <a:off x="0" y="0"/>
          <a:ext cx="0" cy="0"/>
          <a:chOff x="0" y="0"/>
          <a:chExt cx="0" cy="0"/>
        </a:xfrm>
      </p:grpSpPr>
      <p:sp>
        <p:nvSpPr>
          <p:cNvPr id="25" name="Google Shape;25;p2"/>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THE WORLD CHANGED</a:t>
            </a:r>
            <a:endParaRPr b="0" i="0" sz="900" u="none" cap="none" strike="noStrike">
              <a:solidFill>
                <a:schemeClr val="dk1"/>
              </a:solidFill>
              <a:latin typeface="Calibri"/>
              <a:ea typeface="Calibri"/>
              <a:cs typeface="Calibri"/>
              <a:sym typeface="Calibri"/>
            </a:endParaRPr>
          </a:p>
        </p:txBody>
      </p:sp>
      <p:sp>
        <p:nvSpPr>
          <p:cNvPr id="26" name="Google Shape;26;p2"/>
          <p:cNvSpPr/>
          <p:nvPr/>
        </p:nvSpPr>
        <p:spPr>
          <a:xfrm>
            <a:off x="457200" y="594360"/>
            <a:ext cx="5669280" cy="2286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5800"/>
              <a:buFont typeface="Bebas Neue"/>
              <a:buNone/>
            </a:pPr>
            <a:r>
              <a:rPr b="0" i="0" lang="en-US" sz="5800" u="none" cap="none" strike="noStrike">
                <a:solidFill>
                  <a:srgbClr val="FFFFFF"/>
                </a:solidFill>
                <a:latin typeface="Bebas Neue"/>
                <a:ea typeface="Bebas Neue"/>
                <a:cs typeface="Bebas Neue"/>
                <a:sym typeface="Bebas Neue"/>
              </a:rPr>
              <a:t>Strength training scaled.</a:t>
            </a:r>
            <a:endParaRPr b="0" i="0" sz="5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5800"/>
              <a:buFont typeface="Bebas Neue"/>
              <a:buNone/>
            </a:pPr>
            <a:r>
              <a:rPr b="0" i="0" lang="en-US" sz="5800" u="none" cap="none" strike="noStrike">
                <a:solidFill>
                  <a:srgbClr val="FFFFFF"/>
                </a:solidFill>
                <a:latin typeface="Bebas Neue"/>
                <a:ea typeface="Bebas Neue"/>
                <a:cs typeface="Bebas Neue"/>
                <a:sym typeface="Bebas Neue"/>
              </a:rPr>
              <a:t>The tools did not.</a:t>
            </a:r>
            <a:endParaRPr b="0" i="0" sz="5800" u="none" cap="none" strike="noStrike">
              <a:solidFill>
                <a:schemeClr val="dk1"/>
              </a:solidFill>
              <a:latin typeface="Calibri"/>
              <a:ea typeface="Calibri"/>
              <a:cs typeface="Calibri"/>
              <a:sym typeface="Calibri"/>
            </a:endParaRPr>
          </a:p>
        </p:txBody>
      </p:sp>
      <p:sp>
        <p:nvSpPr>
          <p:cNvPr id="27" name="Google Shape;27;p2"/>
          <p:cNvSpPr/>
          <p:nvPr/>
        </p:nvSpPr>
        <p:spPr>
          <a:xfrm>
            <a:off x="6400800" y="594360"/>
            <a:ext cx="2468880" cy="187452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6400800" y="667512"/>
            <a:ext cx="24688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THEN</a:t>
            </a:r>
            <a:endParaRPr b="0" i="0" sz="900" u="none" cap="none" strike="noStrike">
              <a:solidFill>
                <a:schemeClr val="dk1"/>
              </a:solidFill>
              <a:latin typeface="Calibri"/>
              <a:ea typeface="Calibri"/>
              <a:cs typeface="Calibri"/>
              <a:sym typeface="Calibri"/>
            </a:endParaRPr>
          </a:p>
        </p:txBody>
      </p:sp>
      <p:sp>
        <p:nvSpPr>
          <p:cNvPr id="29" name="Google Shape;29;p2"/>
          <p:cNvSpPr/>
          <p:nvPr/>
        </p:nvSpPr>
        <p:spPr>
          <a:xfrm>
            <a:off x="6400800" y="960120"/>
            <a:ext cx="2468880" cy="12801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EEEA"/>
              </a:buClr>
              <a:buSzPts val="1400"/>
              <a:buFont typeface="Arial"/>
              <a:buNone/>
            </a:pPr>
            <a:r>
              <a:rPr i="0" lang="en-US" sz="2600" u="none" cap="none" strike="noStrike">
                <a:solidFill>
                  <a:srgbClr val="C9F44E"/>
                </a:solidFill>
                <a:latin typeface="Bebas Neue"/>
                <a:ea typeface="Bebas Neue"/>
                <a:cs typeface="Bebas Neue"/>
                <a:sym typeface="Bebas Neue"/>
              </a:rPr>
              <a:t>1 </a:t>
            </a:r>
            <a:r>
              <a:rPr i="0" lang="en-US" sz="2600" u="none" cap="none" strike="noStrike">
                <a:solidFill>
                  <a:srgbClr val="E8EEEA"/>
                </a:solidFill>
                <a:latin typeface="Bebas Neue"/>
                <a:ea typeface="Bebas Neue"/>
                <a:cs typeface="Bebas Neue"/>
                <a:sym typeface="Bebas Neue"/>
              </a:rPr>
              <a:t>coach</a:t>
            </a:r>
            <a:endParaRPr i="0" sz="2600" u="none" cap="none" strike="noStrike">
              <a:solidFill>
                <a:schemeClr val="dk1"/>
              </a:solidFill>
              <a:latin typeface="Bebas Neue"/>
              <a:ea typeface="Bebas Neue"/>
              <a:cs typeface="Bebas Neue"/>
              <a:sym typeface="Bebas Neue"/>
            </a:endParaRPr>
          </a:p>
          <a:p>
            <a:pPr indent="0" lvl="0" marL="0" marR="0" rtl="0" algn="ctr">
              <a:spcBef>
                <a:spcPts val="0"/>
              </a:spcBef>
              <a:spcAft>
                <a:spcPts val="0"/>
              </a:spcAft>
              <a:buClr>
                <a:srgbClr val="E8EEEA"/>
              </a:buClr>
              <a:buSzPts val="1400"/>
              <a:buFont typeface="Arial"/>
              <a:buNone/>
            </a:pPr>
            <a:r>
              <a:rPr i="0" lang="en-US" sz="2600" u="none" cap="none" strike="noStrike">
                <a:solidFill>
                  <a:srgbClr val="C9F44E"/>
                </a:solidFill>
                <a:latin typeface="Bebas Neue"/>
                <a:ea typeface="Bebas Neue"/>
                <a:cs typeface="Bebas Neue"/>
                <a:sym typeface="Bebas Neue"/>
              </a:rPr>
              <a:t>1 </a:t>
            </a:r>
            <a:r>
              <a:rPr i="0" lang="en-US" sz="2600" u="none" cap="none" strike="noStrike">
                <a:solidFill>
                  <a:srgbClr val="E8EEEA"/>
                </a:solidFill>
                <a:latin typeface="Bebas Neue"/>
                <a:ea typeface="Bebas Neue"/>
                <a:cs typeface="Bebas Neue"/>
                <a:sym typeface="Bebas Neue"/>
              </a:rPr>
              <a:t>team</a:t>
            </a:r>
            <a:endParaRPr i="0" sz="2600" u="none" cap="none" strike="noStrike">
              <a:solidFill>
                <a:schemeClr val="dk1"/>
              </a:solidFill>
              <a:latin typeface="Bebas Neue"/>
              <a:ea typeface="Bebas Neue"/>
              <a:cs typeface="Bebas Neue"/>
              <a:sym typeface="Bebas Neue"/>
            </a:endParaRPr>
          </a:p>
          <a:p>
            <a:pPr indent="0" lvl="0" marL="0" marR="0" rtl="0" algn="ctr">
              <a:spcBef>
                <a:spcPts val="0"/>
              </a:spcBef>
              <a:spcAft>
                <a:spcPts val="0"/>
              </a:spcAft>
              <a:buClr>
                <a:srgbClr val="E8EEEA"/>
              </a:buClr>
              <a:buSzPts val="1400"/>
              <a:buFont typeface="Arial"/>
              <a:buNone/>
            </a:pPr>
            <a:r>
              <a:rPr lang="en-US" sz="2600">
                <a:solidFill>
                  <a:srgbClr val="C9F44E"/>
                </a:solidFill>
                <a:latin typeface="Bebas Neue"/>
                <a:ea typeface="Bebas Neue"/>
                <a:cs typeface="Bebas Neue"/>
                <a:sym typeface="Bebas Neue"/>
              </a:rPr>
              <a:t>NO </a:t>
            </a:r>
            <a:r>
              <a:rPr lang="en-US" sz="2600">
                <a:solidFill>
                  <a:schemeClr val="lt1"/>
                </a:solidFill>
                <a:latin typeface="Bebas Neue"/>
                <a:ea typeface="Bebas Neue"/>
                <a:cs typeface="Bebas Neue"/>
                <a:sym typeface="Bebas Neue"/>
              </a:rPr>
              <a:t>System</a:t>
            </a:r>
            <a:endParaRPr i="0" sz="2600" u="none" cap="none" strike="noStrike">
              <a:solidFill>
                <a:schemeClr val="lt1"/>
              </a:solidFill>
              <a:latin typeface="Bebas Neue"/>
              <a:ea typeface="Bebas Neue"/>
              <a:cs typeface="Bebas Neue"/>
              <a:sym typeface="Bebas Neue"/>
            </a:endParaRPr>
          </a:p>
        </p:txBody>
      </p:sp>
      <p:sp>
        <p:nvSpPr>
          <p:cNvPr id="30" name="Google Shape;30;p2"/>
          <p:cNvSpPr/>
          <p:nvPr/>
        </p:nvSpPr>
        <p:spPr>
          <a:xfrm>
            <a:off x="6400800" y="2633472"/>
            <a:ext cx="2468880" cy="2176272"/>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6400800" y="2697480"/>
            <a:ext cx="2468880" cy="2743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NOW</a:t>
            </a:r>
            <a:endParaRPr b="0" i="0" sz="900" u="none" cap="none" strike="noStrike">
              <a:solidFill>
                <a:schemeClr val="dk1"/>
              </a:solidFill>
              <a:latin typeface="Calibri"/>
              <a:ea typeface="Calibri"/>
              <a:cs typeface="Calibri"/>
              <a:sym typeface="Calibri"/>
            </a:endParaRPr>
          </a:p>
        </p:txBody>
      </p:sp>
      <p:sp>
        <p:nvSpPr>
          <p:cNvPr id="32" name="Google Shape;32;p2"/>
          <p:cNvSpPr/>
          <p:nvPr/>
        </p:nvSpPr>
        <p:spPr>
          <a:xfrm>
            <a:off x="6400800" y="2999232"/>
            <a:ext cx="2468880" cy="1554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EEEA"/>
              </a:buClr>
              <a:buSzPts val="1400"/>
              <a:buFont typeface="Arial"/>
              <a:buNone/>
            </a:pPr>
            <a:r>
              <a:rPr i="0" lang="en-US" sz="2300" u="none" cap="none" strike="noStrike">
                <a:solidFill>
                  <a:srgbClr val="C9F44E"/>
                </a:solidFill>
                <a:latin typeface="Bebas Neue"/>
                <a:ea typeface="Bebas Neue"/>
                <a:cs typeface="Bebas Neue"/>
                <a:sym typeface="Bebas Neue"/>
              </a:rPr>
              <a:t>1 </a:t>
            </a:r>
            <a:r>
              <a:rPr i="0" lang="en-US" sz="2300" u="none" cap="none" strike="noStrike">
                <a:solidFill>
                  <a:srgbClr val="E8EEEA"/>
                </a:solidFill>
                <a:latin typeface="Bebas Neue"/>
                <a:ea typeface="Bebas Neue"/>
                <a:cs typeface="Bebas Neue"/>
                <a:sym typeface="Bebas Neue"/>
              </a:rPr>
              <a:t>coach</a:t>
            </a:r>
            <a:endParaRPr i="0" sz="2300" u="none" cap="none" strike="noStrike">
              <a:solidFill>
                <a:schemeClr val="dk1"/>
              </a:solidFill>
              <a:latin typeface="Bebas Neue"/>
              <a:ea typeface="Bebas Neue"/>
              <a:cs typeface="Bebas Neue"/>
              <a:sym typeface="Bebas Neue"/>
            </a:endParaRPr>
          </a:p>
          <a:p>
            <a:pPr indent="0" lvl="0" marL="0" marR="0" rtl="0" algn="ctr">
              <a:spcBef>
                <a:spcPts val="0"/>
              </a:spcBef>
              <a:spcAft>
                <a:spcPts val="0"/>
              </a:spcAft>
              <a:buClr>
                <a:srgbClr val="E8EEEA"/>
              </a:buClr>
              <a:buSzPts val="1400"/>
              <a:buFont typeface="Arial"/>
              <a:buNone/>
            </a:pPr>
            <a:r>
              <a:rPr lang="en-US" sz="2300">
                <a:solidFill>
                  <a:srgbClr val="C9F44E"/>
                </a:solidFill>
                <a:latin typeface="Bebas Neue"/>
                <a:ea typeface="Bebas Neue"/>
                <a:cs typeface="Bebas Neue"/>
                <a:sym typeface="Bebas Neue"/>
              </a:rPr>
              <a:t>3</a:t>
            </a:r>
            <a:r>
              <a:rPr i="0" lang="en-US" sz="2300" u="none" cap="none" strike="noStrike">
                <a:solidFill>
                  <a:srgbClr val="C9F44E"/>
                </a:solidFill>
                <a:latin typeface="Bebas Neue"/>
                <a:ea typeface="Bebas Neue"/>
                <a:cs typeface="Bebas Neue"/>
                <a:sym typeface="Bebas Neue"/>
              </a:rPr>
              <a:t> </a:t>
            </a:r>
            <a:r>
              <a:rPr i="0" lang="en-US" sz="2300" u="none" cap="none" strike="noStrike">
                <a:solidFill>
                  <a:srgbClr val="E8EEEA"/>
                </a:solidFill>
                <a:latin typeface="Bebas Neue"/>
                <a:ea typeface="Bebas Neue"/>
                <a:cs typeface="Bebas Neue"/>
                <a:sym typeface="Bebas Neue"/>
              </a:rPr>
              <a:t>teams</a:t>
            </a:r>
            <a:endParaRPr i="0" sz="2300" u="none" cap="none" strike="noStrike">
              <a:solidFill>
                <a:schemeClr val="dk1"/>
              </a:solidFill>
              <a:latin typeface="Bebas Neue"/>
              <a:ea typeface="Bebas Neue"/>
              <a:cs typeface="Bebas Neue"/>
              <a:sym typeface="Bebas Neue"/>
            </a:endParaRPr>
          </a:p>
          <a:p>
            <a:pPr indent="0" lvl="0" marL="0" marR="0" rtl="0" algn="ctr">
              <a:spcBef>
                <a:spcPts val="0"/>
              </a:spcBef>
              <a:spcAft>
                <a:spcPts val="0"/>
              </a:spcAft>
              <a:buClr>
                <a:srgbClr val="E8EEEA"/>
              </a:buClr>
              <a:buSzPts val="1400"/>
              <a:buFont typeface="Arial"/>
              <a:buNone/>
            </a:pPr>
            <a:r>
              <a:rPr lang="en-US" sz="2300">
                <a:solidFill>
                  <a:srgbClr val="C9F44E"/>
                </a:solidFill>
                <a:latin typeface="Bebas Neue"/>
                <a:ea typeface="Bebas Neue"/>
                <a:cs typeface="Bebas Neue"/>
                <a:sym typeface="Bebas Neue"/>
              </a:rPr>
              <a:t>100+</a:t>
            </a:r>
            <a:r>
              <a:rPr i="0" lang="en-US" sz="2300" u="none" cap="none" strike="noStrike">
                <a:solidFill>
                  <a:srgbClr val="C9F44E"/>
                </a:solidFill>
                <a:latin typeface="Bebas Neue"/>
                <a:ea typeface="Bebas Neue"/>
                <a:cs typeface="Bebas Neue"/>
                <a:sym typeface="Bebas Neue"/>
              </a:rPr>
              <a:t> </a:t>
            </a:r>
            <a:r>
              <a:rPr i="0" lang="en-US" sz="2300" u="none" cap="none" strike="noStrike">
                <a:solidFill>
                  <a:srgbClr val="E8EEEA"/>
                </a:solidFill>
                <a:latin typeface="Bebas Neue"/>
                <a:ea typeface="Bebas Neue"/>
                <a:cs typeface="Bebas Neue"/>
                <a:sym typeface="Bebas Neue"/>
              </a:rPr>
              <a:t>athletes</a:t>
            </a:r>
            <a:endParaRPr i="0" sz="2300" u="none" cap="none" strike="noStrike">
              <a:solidFill>
                <a:schemeClr val="dk1"/>
              </a:solidFill>
              <a:latin typeface="Bebas Neue"/>
              <a:ea typeface="Bebas Neue"/>
              <a:cs typeface="Bebas Neue"/>
              <a:sym typeface="Bebas Neue"/>
            </a:endParaRPr>
          </a:p>
          <a:p>
            <a:pPr indent="0" lvl="0" marL="0" marR="0" rtl="0" algn="ctr">
              <a:spcBef>
                <a:spcPts val="0"/>
              </a:spcBef>
              <a:spcAft>
                <a:spcPts val="0"/>
              </a:spcAft>
              <a:buClr>
                <a:srgbClr val="E8EEEA"/>
              </a:buClr>
              <a:buSzPts val="1400"/>
              <a:buFont typeface="Arial"/>
              <a:buNone/>
            </a:pPr>
            <a:r>
              <a:rPr i="0" lang="en-US" sz="2300" u="none" cap="none" strike="noStrike">
                <a:solidFill>
                  <a:srgbClr val="C9F44E"/>
                </a:solidFill>
                <a:latin typeface="Bebas Neue"/>
                <a:ea typeface="Bebas Neue"/>
                <a:cs typeface="Bebas Neue"/>
                <a:sym typeface="Bebas Neue"/>
              </a:rPr>
              <a:t>12 </a:t>
            </a:r>
            <a:r>
              <a:rPr i="0" lang="en-US" sz="2300" u="none" cap="none" strike="noStrike">
                <a:solidFill>
                  <a:srgbClr val="E8EEEA"/>
                </a:solidFill>
                <a:latin typeface="Bebas Neue"/>
                <a:ea typeface="Bebas Neue"/>
                <a:cs typeface="Bebas Neue"/>
                <a:sym typeface="Bebas Neue"/>
              </a:rPr>
              <a:t>programs</a:t>
            </a:r>
            <a:endParaRPr i="0" sz="2300" u="none" cap="none" strike="noStrike">
              <a:solidFill>
                <a:schemeClr val="dk1"/>
              </a:solidFill>
              <a:latin typeface="Bebas Neue"/>
              <a:ea typeface="Bebas Neue"/>
              <a:cs typeface="Bebas Neue"/>
              <a:sym typeface="Bebas Neue"/>
            </a:endParaRPr>
          </a:p>
        </p:txBody>
      </p:sp>
      <p:sp>
        <p:nvSpPr>
          <p:cNvPr id="33" name="Google Shape;33;p2"/>
          <p:cNvSpPr/>
          <p:nvPr/>
        </p:nvSpPr>
        <p:spPr>
          <a:xfrm>
            <a:off x="364250" y="4220925"/>
            <a:ext cx="5669400" cy="731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3200"/>
              <a:buFont typeface="Bebas Neue"/>
              <a:buNone/>
            </a:pPr>
            <a:r>
              <a:rPr lang="en-US" sz="3700">
                <a:solidFill>
                  <a:srgbClr val="C9F44E"/>
                </a:solidFill>
                <a:latin typeface="Bebas Neue"/>
                <a:ea typeface="Bebas Neue"/>
                <a:cs typeface="Bebas Neue"/>
                <a:sym typeface="Bebas Neue"/>
              </a:rPr>
              <a:t>strength training needs a home</a:t>
            </a:r>
            <a:endParaRPr b="0" i="0" sz="3700" u="none" cap="none" strike="noStrike">
              <a:solidFill>
                <a:schemeClr val="dk1"/>
              </a:solidFill>
              <a:latin typeface="Calibri"/>
              <a:ea typeface="Calibri"/>
              <a:cs typeface="Calibri"/>
              <a:sym typeface="Calibri"/>
            </a:endParaRPr>
          </a:p>
        </p:txBody>
      </p:sp>
      <p:pic>
        <p:nvPicPr>
          <p:cNvPr id="34" name="Google Shape;34;p2"/>
          <p:cNvPicPr preferRelativeResize="0"/>
          <p:nvPr/>
        </p:nvPicPr>
        <p:blipFill>
          <a:blip r:embed="rId3">
            <a:alphaModFix/>
          </a:blip>
          <a:stretch>
            <a:fillRect/>
          </a:stretch>
        </p:blipFill>
        <p:spPr>
          <a:xfrm>
            <a:off x="457200" y="3332013"/>
            <a:ext cx="888900" cy="888900"/>
          </a:xfrm>
          <a:prstGeom prst="rect">
            <a:avLst/>
          </a:prstGeom>
          <a:noFill/>
          <a:ln>
            <a:noFill/>
          </a:ln>
        </p:spPr>
      </p:pic>
      <p:pic>
        <p:nvPicPr>
          <p:cNvPr id="35" name="Google Shape;35;p2"/>
          <p:cNvPicPr preferRelativeResize="0"/>
          <p:nvPr/>
        </p:nvPicPr>
        <p:blipFill>
          <a:blip r:embed="rId4">
            <a:alphaModFix/>
          </a:blip>
          <a:stretch>
            <a:fillRect/>
          </a:stretch>
        </p:blipFill>
        <p:spPr>
          <a:xfrm>
            <a:off x="1773938" y="3332013"/>
            <a:ext cx="645600" cy="888900"/>
          </a:xfrm>
          <a:prstGeom prst="roundRect">
            <a:avLst>
              <a:gd fmla="val 16667" name="adj"/>
            </a:avLst>
          </a:prstGeom>
          <a:noFill/>
          <a:ln>
            <a:noFill/>
          </a:ln>
        </p:spPr>
      </p:pic>
      <p:pic>
        <p:nvPicPr>
          <p:cNvPr id="36" name="Google Shape;36;p2"/>
          <p:cNvPicPr preferRelativeResize="0"/>
          <p:nvPr/>
        </p:nvPicPr>
        <p:blipFill rotWithShape="1">
          <a:blip r:embed="rId5">
            <a:alphaModFix/>
          </a:blip>
          <a:srcRect b="0" l="0" r="-7400" t="-7400"/>
          <a:stretch/>
        </p:blipFill>
        <p:spPr>
          <a:xfrm>
            <a:off x="2847387" y="3206162"/>
            <a:ext cx="888900" cy="1030913"/>
          </a:xfrm>
          <a:prstGeom prst="rect">
            <a:avLst/>
          </a:prstGeom>
          <a:noFill/>
          <a:ln>
            <a:noFill/>
          </a:ln>
        </p:spPr>
      </p:pic>
      <p:pic>
        <p:nvPicPr>
          <p:cNvPr id="37" name="Google Shape;37;p2"/>
          <p:cNvPicPr preferRelativeResize="0"/>
          <p:nvPr/>
        </p:nvPicPr>
        <p:blipFill>
          <a:blip r:embed="rId6">
            <a:alphaModFix/>
          </a:blip>
          <a:stretch>
            <a:fillRect/>
          </a:stretch>
        </p:blipFill>
        <p:spPr>
          <a:xfrm>
            <a:off x="4032275" y="3392464"/>
            <a:ext cx="768000" cy="768000"/>
          </a:xfrm>
          <a:prstGeom prst="roundRect">
            <a:avLst>
              <a:gd fmla="val 16667" name="adj"/>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42" name="Shape 42"/>
        <p:cNvGrpSpPr/>
        <p:nvPr/>
      </p:nvGrpSpPr>
      <p:grpSpPr>
        <a:xfrm>
          <a:off x="0" y="0"/>
          <a:ext cx="0" cy="0"/>
          <a:chOff x="0" y="0"/>
          <a:chExt cx="0" cy="0"/>
        </a:xfrm>
      </p:grpSpPr>
      <p:sp>
        <p:nvSpPr>
          <p:cNvPr id="43" name="Google Shape;43;p3"/>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TEAM</a:t>
            </a:r>
            <a:endParaRPr b="0" i="0" sz="900" u="none" cap="none" strike="noStrike">
              <a:solidFill>
                <a:schemeClr val="dk1"/>
              </a:solidFill>
              <a:latin typeface="Calibri"/>
              <a:ea typeface="Calibri"/>
              <a:cs typeface="Calibri"/>
              <a:sym typeface="Calibri"/>
            </a:endParaRPr>
          </a:p>
        </p:txBody>
      </p:sp>
      <p:sp>
        <p:nvSpPr>
          <p:cNvPr id="44" name="Google Shape;44;p3"/>
          <p:cNvSpPr/>
          <p:nvPr/>
        </p:nvSpPr>
        <p:spPr>
          <a:xfrm>
            <a:off x="457200" y="548647"/>
            <a:ext cx="8229600" cy="1127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5600"/>
              <a:buFont typeface="Bebas Neue"/>
              <a:buNone/>
            </a:pPr>
            <a:r>
              <a:rPr b="0" i="0" lang="en-US" sz="5600" u="none" cap="none" strike="noStrike">
                <a:solidFill>
                  <a:srgbClr val="FFFFFF"/>
                </a:solidFill>
                <a:latin typeface="Bebas Neue"/>
                <a:ea typeface="Bebas Neue"/>
                <a:cs typeface="Bebas Neue"/>
                <a:sym typeface="Bebas Neue"/>
              </a:rPr>
              <a:t>We trained in th</a:t>
            </a:r>
            <a:r>
              <a:rPr lang="en-US" sz="5600">
                <a:solidFill>
                  <a:srgbClr val="FFFFFF"/>
                </a:solidFill>
                <a:latin typeface="Bebas Neue"/>
                <a:ea typeface="Bebas Neue"/>
                <a:cs typeface="Bebas Neue"/>
                <a:sym typeface="Bebas Neue"/>
              </a:rPr>
              <a:t>is broken</a:t>
            </a:r>
            <a:r>
              <a:rPr b="0" i="0" lang="en-US" sz="5600" u="none" cap="none" strike="noStrike">
                <a:solidFill>
                  <a:srgbClr val="FFFFFF"/>
                </a:solidFill>
                <a:latin typeface="Bebas Neue"/>
                <a:ea typeface="Bebas Neue"/>
                <a:cs typeface="Bebas Neue"/>
                <a:sym typeface="Bebas Neue"/>
              </a:rPr>
              <a:t> system.</a:t>
            </a:r>
            <a:endParaRPr b="0" i="0" sz="5600" u="none" cap="none" strike="noStrike">
              <a:solidFill>
                <a:schemeClr val="dk1"/>
              </a:solidFill>
              <a:latin typeface="Calibri"/>
              <a:ea typeface="Calibri"/>
              <a:cs typeface="Calibri"/>
              <a:sym typeface="Calibri"/>
            </a:endParaRPr>
          </a:p>
        </p:txBody>
      </p:sp>
      <p:sp>
        <p:nvSpPr>
          <p:cNvPr id="45" name="Google Shape;45;p3"/>
          <p:cNvSpPr/>
          <p:nvPr/>
        </p:nvSpPr>
        <p:spPr>
          <a:xfrm>
            <a:off x="457125" y="1676050"/>
            <a:ext cx="1920300" cy="336960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 name="Google Shape;46;p3"/>
          <p:cNvSpPr/>
          <p:nvPr/>
        </p:nvSpPr>
        <p:spPr>
          <a:xfrm>
            <a:off x="457125" y="1676040"/>
            <a:ext cx="1920300" cy="54900"/>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457200" y="3959071"/>
            <a:ext cx="2011500" cy="1127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Columbia Rowing</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Women's Varsity</a:t>
            </a:r>
            <a:endParaRPr b="0" i="0" sz="1100" u="none" cap="none" strike="noStrike">
              <a:solidFill>
                <a:srgbClr val="7A8A7E"/>
              </a:solidFill>
              <a:latin typeface="Arial"/>
              <a:ea typeface="Arial"/>
              <a:cs typeface="Arial"/>
              <a:sym typeface="Arial"/>
            </a:endParaRPr>
          </a:p>
          <a:p>
            <a:pPr indent="0" lvl="0" marL="0" marR="0" rtl="0" algn="ctr">
              <a:spcBef>
                <a:spcPts val="0"/>
              </a:spcBef>
              <a:spcAft>
                <a:spcPts val="0"/>
              </a:spcAft>
              <a:buClr>
                <a:srgbClr val="7A8A7E"/>
              </a:buClr>
              <a:buSzPts val="1100"/>
              <a:buFont typeface="Arial"/>
              <a:buNone/>
            </a:pPr>
            <a:r>
              <a:rPr lang="en-US" sz="1100">
                <a:solidFill>
                  <a:srgbClr val="7A8A7E"/>
                </a:solidFill>
              </a:rPr>
              <a:t>Math, Physics, Computer Science</a:t>
            </a:r>
            <a:endParaRPr sz="1100">
              <a:solidFill>
                <a:srgbClr val="7A8A7E"/>
              </a:solidFill>
            </a:endParaRPr>
          </a:p>
          <a:p>
            <a:pPr indent="0" lvl="0" marL="0" marR="0" rtl="0" algn="ctr">
              <a:spcBef>
                <a:spcPts val="0"/>
              </a:spcBef>
              <a:spcAft>
                <a:spcPts val="0"/>
              </a:spcAft>
              <a:buClr>
                <a:srgbClr val="7A8A7E"/>
              </a:buClr>
              <a:buSzPts val="1100"/>
              <a:buFont typeface="Arial"/>
              <a:buNone/>
            </a:pPr>
            <a:r>
              <a:rPr lang="en-US" sz="1100">
                <a:solidFill>
                  <a:srgbClr val="7A8A7E"/>
                </a:solidFill>
              </a:rPr>
              <a:t>Eastern Sprints Silver Medalist</a:t>
            </a:r>
            <a:endParaRPr sz="1100">
              <a:solidFill>
                <a:srgbClr val="7A8A7E"/>
              </a:solidFill>
            </a:endParaRPr>
          </a:p>
        </p:txBody>
      </p:sp>
      <p:sp>
        <p:nvSpPr>
          <p:cNvPr id="48" name="Google Shape;48;p3"/>
          <p:cNvSpPr/>
          <p:nvPr/>
        </p:nvSpPr>
        <p:spPr>
          <a:xfrm>
            <a:off x="548565" y="1813200"/>
            <a:ext cx="1737300" cy="594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Andrea Vergara</a:t>
            </a:r>
            <a:endParaRPr b="0" i="0" sz="1300" u="none" cap="none" strike="noStrike">
              <a:solidFill>
                <a:schemeClr val="dk1"/>
              </a:solidFill>
              <a:latin typeface="Calibri"/>
              <a:ea typeface="Calibri"/>
              <a:cs typeface="Calibri"/>
              <a:sym typeface="Calibri"/>
            </a:endParaRPr>
          </a:p>
        </p:txBody>
      </p:sp>
      <p:sp>
        <p:nvSpPr>
          <p:cNvPr id="49" name="Google Shape;49;p3"/>
          <p:cNvSpPr/>
          <p:nvPr/>
        </p:nvSpPr>
        <p:spPr>
          <a:xfrm>
            <a:off x="2560325" y="1676050"/>
            <a:ext cx="1920300" cy="336960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 name="Google Shape;50;p3"/>
          <p:cNvSpPr/>
          <p:nvPr/>
        </p:nvSpPr>
        <p:spPr>
          <a:xfrm>
            <a:off x="2560245" y="1676040"/>
            <a:ext cx="1920300" cy="54900"/>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2651760" y="1767500"/>
            <a:ext cx="1737300" cy="594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Nitin Rao</a:t>
            </a:r>
            <a:endParaRPr b="0" i="0" sz="1300" u="none" cap="none" strike="noStrike">
              <a:solidFill>
                <a:schemeClr val="dk1"/>
              </a:solidFill>
              <a:latin typeface="Calibri"/>
              <a:ea typeface="Calibri"/>
              <a:cs typeface="Calibri"/>
              <a:sym typeface="Calibri"/>
            </a:endParaRPr>
          </a:p>
        </p:txBody>
      </p:sp>
      <p:sp>
        <p:nvSpPr>
          <p:cNvPr id="52" name="Google Shape;52;p3"/>
          <p:cNvSpPr/>
          <p:nvPr/>
        </p:nvSpPr>
        <p:spPr>
          <a:xfrm>
            <a:off x="2651788" y="4016101"/>
            <a:ext cx="1737300" cy="1127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Columbia </a:t>
            </a:r>
            <a:r>
              <a:rPr lang="en-US" sz="1100">
                <a:solidFill>
                  <a:srgbClr val="7A8A7E"/>
                </a:solidFill>
              </a:rPr>
              <a:t>Lightweight Rowing</a:t>
            </a:r>
            <a:endParaRPr b="0" i="0" sz="1100" u="none" cap="none" strike="noStrike">
              <a:solidFill>
                <a:srgbClr val="7A8A7E"/>
              </a:solidFill>
              <a:latin typeface="Arial"/>
              <a:ea typeface="Arial"/>
              <a:cs typeface="Arial"/>
              <a:sym typeface="Arial"/>
            </a:endParaRPr>
          </a:p>
          <a:p>
            <a:pPr indent="0" lvl="0" marL="0" marR="0" rtl="0" algn="ctr">
              <a:spcBef>
                <a:spcPts val="0"/>
              </a:spcBef>
              <a:spcAft>
                <a:spcPts val="0"/>
              </a:spcAft>
              <a:buClr>
                <a:srgbClr val="7A8A7E"/>
              </a:buClr>
              <a:buSzPts val="1100"/>
              <a:buFont typeface="Arial"/>
              <a:buNone/>
            </a:pPr>
            <a:r>
              <a:rPr lang="en-US" sz="1100">
                <a:solidFill>
                  <a:srgbClr val="7A8A7E"/>
                </a:solidFill>
              </a:rPr>
              <a:t>Computer Science, Economics</a:t>
            </a:r>
            <a:endParaRPr sz="1100">
              <a:solidFill>
                <a:srgbClr val="7A8A7E"/>
              </a:solidFill>
            </a:endParaRPr>
          </a:p>
          <a:p>
            <a:pPr indent="0" lvl="0" marL="0" marR="0" rtl="0" algn="ctr">
              <a:spcBef>
                <a:spcPts val="0"/>
              </a:spcBef>
              <a:spcAft>
                <a:spcPts val="0"/>
              </a:spcAft>
              <a:buClr>
                <a:srgbClr val="7A8A7E"/>
              </a:buClr>
              <a:buSzPts val="1100"/>
              <a:buFont typeface="Arial"/>
              <a:buNone/>
            </a:pPr>
            <a:r>
              <a:rPr lang="en-US" sz="1100">
                <a:solidFill>
                  <a:srgbClr val="7A8A7E"/>
                </a:solidFill>
              </a:rPr>
              <a:t>IRA 3rd Place Champion</a:t>
            </a:r>
            <a:endParaRPr sz="1100">
              <a:solidFill>
                <a:srgbClr val="7A8A7E"/>
              </a:solidFill>
            </a:endParaRPr>
          </a:p>
        </p:txBody>
      </p:sp>
      <p:sp>
        <p:nvSpPr>
          <p:cNvPr id="53" name="Google Shape;53;p3"/>
          <p:cNvSpPr/>
          <p:nvPr/>
        </p:nvSpPr>
        <p:spPr>
          <a:xfrm>
            <a:off x="4663450" y="1676050"/>
            <a:ext cx="1920300" cy="336960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 name="Google Shape;54;p3"/>
          <p:cNvSpPr/>
          <p:nvPr/>
        </p:nvSpPr>
        <p:spPr>
          <a:xfrm>
            <a:off x="4663515" y="1676503"/>
            <a:ext cx="1920300" cy="54900"/>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4709230" y="1767500"/>
            <a:ext cx="1737300" cy="594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Arin Jaff</a:t>
            </a:r>
            <a:endParaRPr b="0" i="0" sz="1300" u="none" cap="none" strike="noStrike">
              <a:solidFill>
                <a:schemeClr val="dk1"/>
              </a:solidFill>
              <a:latin typeface="Calibri"/>
              <a:ea typeface="Calibri"/>
              <a:cs typeface="Calibri"/>
              <a:sym typeface="Calibri"/>
            </a:endParaRPr>
          </a:p>
        </p:txBody>
      </p:sp>
      <p:sp>
        <p:nvSpPr>
          <p:cNvPr id="56" name="Google Shape;56;p3"/>
          <p:cNvSpPr/>
          <p:nvPr/>
        </p:nvSpPr>
        <p:spPr>
          <a:xfrm>
            <a:off x="6766725" y="1676500"/>
            <a:ext cx="1920300" cy="336960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3"/>
          <p:cNvSpPr/>
          <p:nvPr/>
        </p:nvSpPr>
        <p:spPr>
          <a:xfrm>
            <a:off x="6766735" y="1676490"/>
            <a:ext cx="1920300" cy="54900"/>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6858175" y="1813650"/>
            <a:ext cx="1737300" cy="594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Jaclyn Zatsiorsky</a:t>
            </a:r>
            <a:endParaRPr b="0" i="0" sz="1300" u="none" cap="none" strike="noStrike">
              <a:solidFill>
                <a:schemeClr val="dk1"/>
              </a:solidFill>
              <a:latin typeface="Calibri"/>
              <a:ea typeface="Calibri"/>
              <a:cs typeface="Calibri"/>
              <a:sym typeface="Calibri"/>
            </a:endParaRPr>
          </a:p>
        </p:txBody>
      </p:sp>
      <p:sp>
        <p:nvSpPr>
          <p:cNvPr id="59" name="Google Shape;59;p3"/>
          <p:cNvSpPr/>
          <p:nvPr/>
        </p:nvSpPr>
        <p:spPr>
          <a:xfrm>
            <a:off x="6812475" y="3966750"/>
            <a:ext cx="1828800" cy="1127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Columbia Rowing</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Women's Varsity, Captain</a:t>
            </a:r>
            <a:endParaRPr b="0" i="0" sz="1100" u="none" cap="none" strike="noStrike">
              <a:solidFill>
                <a:srgbClr val="7A8A7E"/>
              </a:solidFill>
              <a:latin typeface="Arial"/>
              <a:ea typeface="Arial"/>
              <a:cs typeface="Arial"/>
              <a:sym typeface="Arial"/>
            </a:endParaRPr>
          </a:p>
          <a:p>
            <a:pPr indent="0" lvl="0" marL="0" marR="0" rtl="0" algn="ctr">
              <a:spcBef>
                <a:spcPts val="0"/>
              </a:spcBef>
              <a:spcAft>
                <a:spcPts val="0"/>
              </a:spcAft>
              <a:buClr>
                <a:srgbClr val="7A8A7E"/>
              </a:buClr>
              <a:buSzPts val="1100"/>
              <a:buFont typeface="Arial"/>
              <a:buNone/>
            </a:pPr>
            <a:r>
              <a:rPr lang="en-US" sz="1100">
                <a:solidFill>
                  <a:srgbClr val="7A8A7E"/>
                </a:solidFill>
              </a:rPr>
              <a:t>Computational Biology</a:t>
            </a:r>
            <a:endParaRPr sz="1100">
              <a:solidFill>
                <a:srgbClr val="7A8A7E"/>
              </a:solidFill>
            </a:endParaRPr>
          </a:p>
          <a:p>
            <a:pPr indent="0" lvl="0" marL="0" marR="0" rtl="0" algn="ctr">
              <a:spcBef>
                <a:spcPts val="0"/>
              </a:spcBef>
              <a:spcAft>
                <a:spcPts val="0"/>
              </a:spcAft>
              <a:buClr>
                <a:srgbClr val="7A8A7E"/>
              </a:buClr>
              <a:buSzPts val="1100"/>
              <a:buFont typeface="Arial"/>
              <a:buNone/>
            </a:pPr>
            <a:r>
              <a:rPr lang="en-US" sz="1100">
                <a:solidFill>
                  <a:srgbClr val="7A8A7E"/>
                </a:solidFill>
              </a:rPr>
              <a:t>Eastern Sprints Silver Medalist</a:t>
            </a:r>
            <a:endParaRPr sz="1100">
              <a:solidFill>
                <a:srgbClr val="7A8A7E"/>
              </a:solidFill>
            </a:endParaRPr>
          </a:p>
        </p:txBody>
      </p:sp>
      <p:pic>
        <p:nvPicPr>
          <p:cNvPr id="60" name="Google Shape;60;p3"/>
          <p:cNvPicPr preferRelativeResize="0"/>
          <p:nvPr/>
        </p:nvPicPr>
        <p:blipFill>
          <a:blip r:embed="rId3">
            <a:alphaModFix/>
          </a:blip>
          <a:stretch>
            <a:fillRect/>
          </a:stretch>
        </p:blipFill>
        <p:spPr>
          <a:xfrm>
            <a:off x="2903812" y="2116900"/>
            <a:ext cx="1233250" cy="1849888"/>
          </a:xfrm>
          <a:prstGeom prst="rect">
            <a:avLst/>
          </a:prstGeom>
          <a:noFill/>
          <a:ln>
            <a:noFill/>
          </a:ln>
        </p:spPr>
      </p:pic>
      <p:pic>
        <p:nvPicPr>
          <p:cNvPr id="61" name="Google Shape;61;p3"/>
          <p:cNvPicPr preferRelativeResize="0"/>
          <p:nvPr/>
        </p:nvPicPr>
        <p:blipFill>
          <a:blip r:embed="rId4">
            <a:alphaModFix/>
          </a:blip>
          <a:stretch>
            <a:fillRect/>
          </a:stretch>
        </p:blipFill>
        <p:spPr>
          <a:xfrm>
            <a:off x="5007052" y="2116915"/>
            <a:ext cx="1233238" cy="1849835"/>
          </a:xfrm>
          <a:prstGeom prst="rect">
            <a:avLst/>
          </a:prstGeom>
          <a:noFill/>
          <a:ln>
            <a:noFill/>
          </a:ln>
        </p:spPr>
      </p:pic>
      <p:pic>
        <p:nvPicPr>
          <p:cNvPr id="62" name="Google Shape;62;p3"/>
          <p:cNvPicPr preferRelativeResize="0"/>
          <p:nvPr/>
        </p:nvPicPr>
        <p:blipFill>
          <a:blip r:embed="rId5">
            <a:alphaModFix/>
          </a:blip>
          <a:stretch>
            <a:fillRect/>
          </a:stretch>
        </p:blipFill>
        <p:spPr>
          <a:xfrm>
            <a:off x="7057225" y="2116900"/>
            <a:ext cx="1233250" cy="1849888"/>
          </a:xfrm>
          <a:prstGeom prst="rect">
            <a:avLst/>
          </a:prstGeom>
          <a:noFill/>
          <a:ln>
            <a:noFill/>
          </a:ln>
        </p:spPr>
      </p:pic>
      <p:pic>
        <p:nvPicPr>
          <p:cNvPr id="63" name="Google Shape;63;p3"/>
          <p:cNvPicPr preferRelativeResize="0"/>
          <p:nvPr/>
        </p:nvPicPr>
        <p:blipFill>
          <a:blip r:embed="rId6">
            <a:alphaModFix/>
          </a:blip>
          <a:stretch>
            <a:fillRect/>
          </a:stretch>
        </p:blipFill>
        <p:spPr>
          <a:xfrm>
            <a:off x="800650" y="2116899"/>
            <a:ext cx="1233250" cy="1849888"/>
          </a:xfrm>
          <a:prstGeom prst="rect">
            <a:avLst/>
          </a:prstGeom>
          <a:noFill/>
          <a:ln>
            <a:noFill/>
          </a:ln>
        </p:spPr>
      </p:pic>
      <p:sp>
        <p:nvSpPr>
          <p:cNvPr id="64" name="Google Shape;64;p3"/>
          <p:cNvSpPr/>
          <p:nvPr/>
        </p:nvSpPr>
        <p:spPr>
          <a:xfrm>
            <a:off x="4755025" y="3966751"/>
            <a:ext cx="1737300" cy="1127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7A8A7E"/>
              </a:buClr>
              <a:buSzPts val="1100"/>
              <a:buFont typeface="Arial"/>
              <a:buNone/>
            </a:pPr>
            <a:r>
              <a:rPr b="0" i="0" lang="en-US" sz="1100" u="none" cap="none" strike="noStrike">
                <a:solidFill>
                  <a:srgbClr val="7A8A7E"/>
                </a:solidFill>
                <a:latin typeface="Arial"/>
                <a:ea typeface="Arial"/>
                <a:cs typeface="Arial"/>
                <a:sym typeface="Arial"/>
              </a:rPr>
              <a:t>Columbia </a:t>
            </a:r>
            <a:r>
              <a:rPr lang="en-US" sz="1100">
                <a:solidFill>
                  <a:srgbClr val="7A8A7E"/>
                </a:solidFill>
              </a:rPr>
              <a:t>Lightweight Rowing</a:t>
            </a:r>
            <a:endParaRPr b="0" i="0" sz="1100" u="none" cap="none" strike="noStrike">
              <a:solidFill>
                <a:srgbClr val="7A8A7E"/>
              </a:solidFill>
              <a:latin typeface="Arial"/>
              <a:ea typeface="Arial"/>
              <a:cs typeface="Arial"/>
              <a:sym typeface="Arial"/>
            </a:endParaRPr>
          </a:p>
          <a:p>
            <a:pPr indent="0" lvl="0" marL="0" marR="0" rtl="0" algn="ctr">
              <a:spcBef>
                <a:spcPts val="0"/>
              </a:spcBef>
              <a:spcAft>
                <a:spcPts val="0"/>
              </a:spcAft>
              <a:buClr>
                <a:srgbClr val="7A8A7E"/>
              </a:buClr>
              <a:buSzPts val="1100"/>
              <a:buFont typeface="Arial"/>
              <a:buNone/>
            </a:pPr>
            <a:r>
              <a:rPr lang="en-US" sz="1100">
                <a:solidFill>
                  <a:srgbClr val="7A8A7E"/>
                </a:solidFill>
              </a:rPr>
              <a:t>Computer Science</a:t>
            </a:r>
            <a:endParaRPr sz="1100">
              <a:solidFill>
                <a:srgbClr val="7A8A7E"/>
              </a:solidFill>
            </a:endParaRPr>
          </a:p>
          <a:p>
            <a:pPr indent="0" lvl="0" marL="0" marR="0" rtl="0" algn="ctr">
              <a:spcBef>
                <a:spcPts val="0"/>
              </a:spcBef>
              <a:spcAft>
                <a:spcPts val="0"/>
              </a:spcAft>
              <a:buClr>
                <a:srgbClr val="7A8A7E"/>
              </a:buClr>
              <a:buSzPts val="1100"/>
              <a:buFont typeface="Arial"/>
              <a:buNone/>
            </a:pPr>
            <a:r>
              <a:rPr lang="en-US" sz="1100">
                <a:solidFill>
                  <a:srgbClr val="7A8A7E"/>
                </a:solidFill>
              </a:rPr>
              <a:t>IRA 3rd Place Champion</a:t>
            </a:r>
            <a:endParaRPr sz="1100">
              <a:solidFill>
                <a:srgbClr val="7A8A7E"/>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69" name="Shape 69"/>
        <p:cNvGrpSpPr/>
        <p:nvPr/>
      </p:nvGrpSpPr>
      <p:grpSpPr>
        <a:xfrm>
          <a:off x="0" y="0"/>
          <a:ext cx="0" cy="0"/>
          <a:chOff x="0" y="0"/>
          <a:chExt cx="0" cy="0"/>
        </a:xfrm>
      </p:grpSpPr>
      <p:sp>
        <p:nvSpPr>
          <p:cNvPr id="70" name="Google Shape;70;p4"/>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PROBLEM</a:t>
            </a:r>
            <a:endParaRPr b="0" i="0" sz="900" u="none" cap="none" strike="noStrike">
              <a:solidFill>
                <a:schemeClr val="dk1"/>
              </a:solidFill>
              <a:latin typeface="Calibri"/>
              <a:ea typeface="Calibri"/>
              <a:cs typeface="Calibri"/>
              <a:sym typeface="Calibri"/>
            </a:endParaRPr>
          </a:p>
        </p:txBody>
      </p:sp>
      <p:sp>
        <p:nvSpPr>
          <p:cNvPr id="71" name="Google Shape;71;p4"/>
          <p:cNvSpPr/>
          <p:nvPr/>
        </p:nvSpPr>
        <p:spPr>
          <a:xfrm>
            <a:off x="457200" y="548640"/>
            <a:ext cx="8229600" cy="1188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5200"/>
              <a:buFont typeface="Bebas Neue"/>
              <a:buNone/>
            </a:pPr>
            <a:r>
              <a:rPr b="0" i="0" lang="en-US" sz="4000" u="none" cap="none" strike="noStrike">
                <a:solidFill>
                  <a:srgbClr val="FFFFFF"/>
                </a:solidFill>
                <a:latin typeface="Bebas Neue"/>
                <a:ea typeface="Bebas Neue"/>
                <a:cs typeface="Bebas Neue"/>
                <a:sym typeface="Bebas Neue"/>
              </a:rPr>
              <a:t>Everyone loses when the system breaks down.</a:t>
            </a:r>
            <a:endParaRPr b="0" i="0" sz="4000" u="none" cap="none" strike="noStrike">
              <a:solidFill>
                <a:schemeClr val="dk1"/>
              </a:solidFill>
              <a:latin typeface="Calibri"/>
              <a:ea typeface="Calibri"/>
              <a:cs typeface="Calibri"/>
              <a:sym typeface="Calibri"/>
            </a:endParaRPr>
          </a:p>
        </p:txBody>
      </p:sp>
      <p:sp>
        <p:nvSpPr>
          <p:cNvPr id="72" name="Google Shape;72;p4"/>
          <p:cNvSpPr/>
          <p:nvPr/>
        </p:nvSpPr>
        <p:spPr>
          <a:xfrm>
            <a:off x="457200" y="1920240"/>
            <a:ext cx="3931920" cy="288036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457200" y="1920240"/>
            <a:ext cx="64008" cy="2880360"/>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658368" y="2011680"/>
            <a:ext cx="35661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COACHES</a:t>
            </a:r>
            <a:endParaRPr b="0" i="0" sz="900" u="none" cap="none" strike="noStrike">
              <a:solidFill>
                <a:schemeClr val="dk1"/>
              </a:solidFill>
              <a:latin typeface="Calibri"/>
              <a:ea typeface="Calibri"/>
              <a:cs typeface="Calibri"/>
              <a:sym typeface="Calibri"/>
            </a:endParaRPr>
          </a:p>
        </p:txBody>
      </p:sp>
      <p:sp>
        <p:nvSpPr>
          <p:cNvPr id="75" name="Google Shape;75;p4"/>
          <p:cNvSpPr/>
          <p:nvPr/>
        </p:nvSpPr>
        <p:spPr>
          <a:xfrm>
            <a:off x="658368" y="2377440"/>
            <a:ext cx="3566160" cy="2103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EEA"/>
              </a:buClr>
              <a:buSzPts val="1400"/>
              <a:buFont typeface="Arial"/>
              <a:buNone/>
            </a:pPr>
            <a:r>
              <a:rPr i="0" lang="en-US" sz="1900" u="none" cap="none" strike="noStrike">
                <a:solidFill>
                  <a:srgbClr val="E8EEEA"/>
                </a:solidFill>
                <a:latin typeface="Bebas Neue"/>
                <a:ea typeface="Bebas Neue"/>
                <a:cs typeface="Bebas Neue"/>
                <a:sym typeface="Bebas Neue"/>
              </a:rPr>
              <a:t>Hours lost to admin. </a:t>
            </a:r>
            <a:endParaRPr i="0" sz="1900" u="none" cap="none" strike="noStrike">
              <a:solidFill>
                <a:srgbClr val="E8EEEA"/>
              </a:solidFill>
              <a:latin typeface="Bebas Neue"/>
              <a:ea typeface="Bebas Neue"/>
              <a:cs typeface="Bebas Neue"/>
              <a:sym typeface="Bebas Neue"/>
            </a:endParaRPr>
          </a:p>
          <a:p>
            <a:pPr indent="0" lvl="0" marL="0" marR="0" rtl="0" algn="l">
              <a:spcBef>
                <a:spcPts val="0"/>
              </a:spcBef>
              <a:spcAft>
                <a:spcPts val="0"/>
              </a:spcAft>
              <a:buClr>
                <a:srgbClr val="E8EEEA"/>
              </a:buClr>
              <a:buSzPts val="1400"/>
              <a:buFont typeface="Arial"/>
              <a:buNone/>
            </a:pPr>
            <a:r>
              <a:t/>
            </a:r>
            <a:endParaRPr sz="1900">
              <a:solidFill>
                <a:srgbClr val="E8EEEA"/>
              </a:solidFill>
              <a:latin typeface="Bebas Neue"/>
              <a:ea typeface="Bebas Neue"/>
              <a:cs typeface="Bebas Neue"/>
              <a:sym typeface="Bebas Neue"/>
            </a:endParaRPr>
          </a:p>
          <a:p>
            <a:pPr indent="0" lvl="0" marL="0" marR="0" rtl="0" algn="l">
              <a:spcBef>
                <a:spcPts val="0"/>
              </a:spcBef>
              <a:spcAft>
                <a:spcPts val="0"/>
              </a:spcAft>
              <a:buClr>
                <a:srgbClr val="E8EEEA"/>
              </a:buClr>
              <a:buSzPts val="1400"/>
              <a:buFont typeface="Arial"/>
              <a:buNone/>
            </a:pPr>
            <a:r>
              <a:rPr i="0" lang="en-US" sz="1900" u="none" cap="none" strike="noStrike">
                <a:solidFill>
                  <a:srgbClr val="E8EEEA"/>
                </a:solidFill>
                <a:latin typeface="Bebas Neue"/>
                <a:ea typeface="Bebas Neue"/>
                <a:cs typeface="Bebas Neue"/>
                <a:sym typeface="Bebas Neue"/>
              </a:rPr>
              <a:t>Building spreadsheets, texting programs, chasing completion. </a:t>
            </a:r>
            <a:endParaRPr i="0" sz="1900" u="none" cap="none" strike="noStrike">
              <a:solidFill>
                <a:srgbClr val="E8EEEA"/>
              </a:solidFill>
              <a:latin typeface="Bebas Neue"/>
              <a:ea typeface="Bebas Neue"/>
              <a:cs typeface="Bebas Neue"/>
              <a:sym typeface="Bebas Neue"/>
            </a:endParaRPr>
          </a:p>
          <a:p>
            <a:pPr indent="0" lvl="0" marL="0" marR="0" rtl="0" algn="l">
              <a:spcBef>
                <a:spcPts val="0"/>
              </a:spcBef>
              <a:spcAft>
                <a:spcPts val="0"/>
              </a:spcAft>
              <a:buClr>
                <a:srgbClr val="E8EEEA"/>
              </a:buClr>
              <a:buSzPts val="1400"/>
              <a:buFont typeface="Arial"/>
              <a:buNone/>
            </a:pPr>
            <a:r>
              <a:t/>
            </a:r>
            <a:endParaRPr sz="1900">
              <a:solidFill>
                <a:srgbClr val="E8EEEA"/>
              </a:solidFill>
              <a:latin typeface="Bebas Neue"/>
              <a:ea typeface="Bebas Neue"/>
              <a:cs typeface="Bebas Neue"/>
              <a:sym typeface="Bebas Neue"/>
            </a:endParaRPr>
          </a:p>
          <a:p>
            <a:pPr indent="0" lvl="0" marL="0" marR="0" rtl="0" algn="l">
              <a:spcBef>
                <a:spcPts val="0"/>
              </a:spcBef>
              <a:spcAft>
                <a:spcPts val="0"/>
              </a:spcAft>
              <a:buClr>
                <a:srgbClr val="E8EEEA"/>
              </a:buClr>
              <a:buSzPts val="1400"/>
              <a:buFont typeface="Arial"/>
              <a:buNone/>
            </a:pPr>
            <a:r>
              <a:rPr i="0" lang="en-US" sz="1900" u="none" cap="none" strike="noStrike">
                <a:solidFill>
                  <a:srgbClr val="E8EEEA"/>
                </a:solidFill>
                <a:latin typeface="Bebas Neue"/>
                <a:ea typeface="Bebas Neue"/>
                <a:cs typeface="Bebas Neue"/>
                <a:sym typeface="Bebas Neue"/>
              </a:rPr>
              <a:t>Zero visibility into what is actually happening in the weight room.</a:t>
            </a:r>
            <a:endParaRPr i="0" sz="1900" u="none" cap="none" strike="noStrike">
              <a:solidFill>
                <a:schemeClr val="dk1"/>
              </a:solidFill>
              <a:latin typeface="Bebas Neue"/>
              <a:ea typeface="Bebas Neue"/>
              <a:cs typeface="Bebas Neue"/>
              <a:sym typeface="Bebas Neue"/>
            </a:endParaRPr>
          </a:p>
        </p:txBody>
      </p:sp>
      <p:sp>
        <p:nvSpPr>
          <p:cNvPr id="76" name="Google Shape;76;p4"/>
          <p:cNvSpPr/>
          <p:nvPr/>
        </p:nvSpPr>
        <p:spPr>
          <a:xfrm>
            <a:off x="4754880" y="1920240"/>
            <a:ext cx="3931920" cy="288036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4754880" y="1920240"/>
            <a:ext cx="64008" cy="2880360"/>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4956048" y="2011680"/>
            <a:ext cx="356616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ATHLETES</a:t>
            </a:r>
            <a:endParaRPr b="0" i="0" sz="900" u="none" cap="none" strike="noStrike">
              <a:solidFill>
                <a:schemeClr val="dk1"/>
              </a:solidFill>
              <a:latin typeface="Calibri"/>
              <a:ea typeface="Calibri"/>
              <a:cs typeface="Calibri"/>
              <a:sym typeface="Calibri"/>
            </a:endParaRPr>
          </a:p>
        </p:txBody>
      </p:sp>
      <p:sp>
        <p:nvSpPr>
          <p:cNvPr id="79" name="Google Shape;79;p4"/>
          <p:cNvSpPr/>
          <p:nvPr/>
        </p:nvSpPr>
        <p:spPr>
          <a:xfrm>
            <a:off x="4956048" y="2377440"/>
            <a:ext cx="3566160" cy="2103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EEA"/>
              </a:buClr>
              <a:buSzPts val="1400"/>
              <a:buFont typeface="Arial"/>
              <a:buNone/>
            </a:pPr>
            <a:r>
              <a:rPr i="0" lang="en-US" sz="2000" u="none" cap="none" strike="noStrike">
                <a:solidFill>
                  <a:srgbClr val="E8EEEA"/>
                </a:solidFill>
                <a:latin typeface="Bebas Neue"/>
                <a:ea typeface="Bebas Neue"/>
                <a:cs typeface="Bebas Neue"/>
                <a:sym typeface="Bebas Neue"/>
              </a:rPr>
              <a:t>Mental math mid-squat. </a:t>
            </a:r>
            <a:endParaRPr i="0" sz="2000" u="none" cap="none" strike="noStrike">
              <a:solidFill>
                <a:srgbClr val="E8EEEA"/>
              </a:solidFill>
              <a:latin typeface="Bebas Neue"/>
              <a:ea typeface="Bebas Neue"/>
              <a:cs typeface="Bebas Neue"/>
              <a:sym typeface="Bebas Neue"/>
            </a:endParaRPr>
          </a:p>
          <a:p>
            <a:pPr indent="0" lvl="0" marL="0" marR="0" rtl="0" algn="l">
              <a:spcBef>
                <a:spcPts val="0"/>
              </a:spcBef>
              <a:spcAft>
                <a:spcPts val="0"/>
              </a:spcAft>
              <a:buClr>
                <a:srgbClr val="E8EEEA"/>
              </a:buClr>
              <a:buSzPts val="1400"/>
              <a:buFont typeface="Arial"/>
              <a:buNone/>
            </a:pPr>
            <a:r>
              <a:t/>
            </a:r>
            <a:endParaRPr sz="2000">
              <a:solidFill>
                <a:srgbClr val="E8EEEA"/>
              </a:solidFill>
              <a:latin typeface="Bebas Neue"/>
              <a:ea typeface="Bebas Neue"/>
              <a:cs typeface="Bebas Neue"/>
              <a:sym typeface="Bebas Neue"/>
            </a:endParaRPr>
          </a:p>
          <a:p>
            <a:pPr indent="0" lvl="0" marL="0" marR="0" rtl="0" algn="l">
              <a:spcBef>
                <a:spcPts val="0"/>
              </a:spcBef>
              <a:spcAft>
                <a:spcPts val="0"/>
              </a:spcAft>
              <a:buClr>
                <a:srgbClr val="E8EEEA"/>
              </a:buClr>
              <a:buSzPts val="1400"/>
              <a:buFont typeface="Arial"/>
              <a:buNone/>
            </a:pPr>
            <a:r>
              <a:rPr i="0" lang="en-US" sz="2000" u="none" cap="none" strike="noStrike">
                <a:solidFill>
                  <a:srgbClr val="E8EEEA"/>
                </a:solidFill>
                <a:latin typeface="Bebas Neue"/>
                <a:ea typeface="Bebas Neue"/>
                <a:cs typeface="Bebas Neue"/>
                <a:sym typeface="Bebas Neue"/>
              </a:rPr>
              <a:t>Programs that do not adapt. </a:t>
            </a:r>
            <a:endParaRPr i="0" sz="2000" u="none" cap="none" strike="noStrike">
              <a:solidFill>
                <a:srgbClr val="E8EEEA"/>
              </a:solidFill>
              <a:latin typeface="Bebas Neue"/>
              <a:ea typeface="Bebas Neue"/>
              <a:cs typeface="Bebas Neue"/>
              <a:sym typeface="Bebas Neue"/>
            </a:endParaRPr>
          </a:p>
          <a:p>
            <a:pPr indent="0" lvl="0" marL="0" marR="0" rtl="0" algn="l">
              <a:spcBef>
                <a:spcPts val="0"/>
              </a:spcBef>
              <a:spcAft>
                <a:spcPts val="0"/>
              </a:spcAft>
              <a:buClr>
                <a:srgbClr val="E8EEEA"/>
              </a:buClr>
              <a:buSzPts val="1400"/>
              <a:buFont typeface="Arial"/>
              <a:buNone/>
            </a:pPr>
            <a:r>
              <a:t/>
            </a:r>
            <a:endParaRPr sz="2000">
              <a:solidFill>
                <a:srgbClr val="E8EEEA"/>
              </a:solidFill>
              <a:latin typeface="Bebas Neue"/>
              <a:ea typeface="Bebas Neue"/>
              <a:cs typeface="Bebas Neue"/>
              <a:sym typeface="Bebas Neue"/>
            </a:endParaRPr>
          </a:p>
          <a:p>
            <a:pPr indent="0" lvl="0" marL="0" marR="0" rtl="0" algn="l">
              <a:spcBef>
                <a:spcPts val="0"/>
              </a:spcBef>
              <a:spcAft>
                <a:spcPts val="0"/>
              </a:spcAft>
              <a:buClr>
                <a:srgbClr val="E8EEEA"/>
              </a:buClr>
              <a:buSzPts val="1400"/>
              <a:buFont typeface="Arial"/>
              <a:buNone/>
            </a:pPr>
            <a:r>
              <a:rPr i="0" lang="en-US" sz="2000" u="none" cap="none" strike="noStrike">
                <a:solidFill>
                  <a:srgbClr val="E8EEEA"/>
                </a:solidFill>
                <a:latin typeface="Bebas Neue"/>
                <a:ea typeface="Bebas Neue"/>
                <a:cs typeface="Bebas Neue"/>
                <a:sym typeface="Bebas Neue"/>
              </a:rPr>
              <a:t>Injuries communicated through text threads that coaches never see.</a:t>
            </a:r>
            <a:endParaRPr i="0" sz="2000" u="none" cap="none" strike="noStrike">
              <a:solidFill>
                <a:schemeClr val="dk1"/>
              </a:solidFill>
              <a:latin typeface="Bebas Neue"/>
              <a:ea typeface="Bebas Neue"/>
              <a:cs typeface="Bebas Neue"/>
              <a:sym typeface="Bebas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84" name="Shape 84"/>
        <p:cNvGrpSpPr/>
        <p:nvPr/>
      </p:nvGrpSpPr>
      <p:grpSpPr>
        <a:xfrm>
          <a:off x="0" y="0"/>
          <a:ext cx="0" cy="0"/>
          <a:chOff x="0" y="0"/>
          <a:chExt cx="0" cy="0"/>
        </a:xfrm>
      </p:grpSpPr>
      <p:sp>
        <p:nvSpPr>
          <p:cNvPr id="85" name="Google Shape;85;p5"/>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WHY NOW</a:t>
            </a:r>
            <a:endParaRPr b="0" i="0" sz="900" u="none" cap="none" strike="noStrike">
              <a:solidFill>
                <a:schemeClr val="dk1"/>
              </a:solidFill>
              <a:latin typeface="Calibri"/>
              <a:ea typeface="Calibri"/>
              <a:cs typeface="Calibri"/>
              <a:sym typeface="Calibri"/>
            </a:endParaRPr>
          </a:p>
        </p:txBody>
      </p:sp>
      <p:sp>
        <p:nvSpPr>
          <p:cNvPr id="86" name="Google Shape;86;p5"/>
          <p:cNvSpPr/>
          <p:nvPr/>
        </p:nvSpPr>
        <p:spPr>
          <a:xfrm>
            <a:off x="457200" y="548640"/>
            <a:ext cx="8229600" cy="1188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400"/>
              <a:buFont typeface="Bebas Neue"/>
              <a:buNone/>
            </a:pPr>
            <a:r>
              <a:rPr b="0" i="0" lang="en-US" sz="4400" u="none" cap="none" strike="noStrike">
                <a:solidFill>
                  <a:srgbClr val="FFFFFF"/>
                </a:solidFill>
                <a:latin typeface="Bebas Neue"/>
                <a:ea typeface="Bebas Neue"/>
                <a:cs typeface="Bebas Neue"/>
                <a:sym typeface="Bebas Neue"/>
              </a:rPr>
              <a:t>340,000 coaches.</a:t>
            </a:r>
            <a:endParaRPr b="0" i="0" sz="4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4400"/>
              <a:buFont typeface="Bebas Neue"/>
              <a:buNone/>
            </a:pPr>
            <a:r>
              <a:rPr b="0" i="0" lang="en-US" sz="4400" u="none" cap="none" strike="noStrike">
                <a:solidFill>
                  <a:srgbClr val="FFFFFF"/>
                </a:solidFill>
                <a:latin typeface="Bebas Neue"/>
                <a:ea typeface="Bebas Neue"/>
                <a:cs typeface="Bebas Neue"/>
                <a:sym typeface="Bebas Neue"/>
              </a:rPr>
              <a:t>One spreadsheet each.</a:t>
            </a:r>
            <a:endParaRPr b="0" i="0" sz="4400" u="none" cap="none" strike="noStrike">
              <a:solidFill>
                <a:schemeClr val="dk1"/>
              </a:solidFill>
              <a:latin typeface="Calibri"/>
              <a:ea typeface="Calibri"/>
              <a:cs typeface="Calibri"/>
              <a:sym typeface="Calibri"/>
            </a:endParaRPr>
          </a:p>
        </p:txBody>
      </p:sp>
      <p:sp>
        <p:nvSpPr>
          <p:cNvPr id="87" name="Google Shape;87;p5"/>
          <p:cNvSpPr/>
          <p:nvPr/>
        </p:nvSpPr>
        <p:spPr>
          <a:xfrm>
            <a:off x="457200" y="1984248"/>
            <a:ext cx="64008" cy="62179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713232" y="1920240"/>
            <a:ext cx="79552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300"/>
              <a:buFont typeface="Arial"/>
              <a:buNone/>
            </a:pPr>
            <a:r>
              <a:rPr b="1" i="0" lang="en-US" sz="1300" u="none" cap="none" strike="noStrike">
                <a:solidFill>
                  <a:srgbClr val="C9F44E"/>
                </a:solidFill>
                <a:latin typeface="Arial"/>
                <a:ea typeface="Arial"/>
                <a:cs typeface="Arial"/>
                <a:sym typeface="Arial"/>
              </a:rPr>
              <a:t>The personal training market is booming.</a:t>
            </a:r>
            <a:endParaRPr b="0" i="0" sz="1300" u="none" cap="none" strike="noStrike">
              <a:solidFill>
                <a:schemeClr val="dk1"/>
              </a:solidFill>
              <a:latin typeface="Calibri"/>
              <a:ea typeface="Calibri"/>
              <a:cs typeface="Calibri"/>
              <a:sym typeface="Calibri"/>
            </a:endParaRPr>
          </a:p>
        </p:txBody>
      </p:sp>
      <p:sp>
        <p:nvSpPr>
          <p:cNvPr id="89" name="Google Shape;89;p5"/>
          <p:cNvSpPr/>
          <p:nvPr/>
        </p:nvSpPr>
        <p:spPr>
          <a:xfrm>
            <a:off x="713232" y="2304288"/>
            <a:ext cx="795528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340,000 certified personal trainers in the US alone -- up 21.5% since 2012 -- with 10% more job growth projected in the next decade.</a:t>
            </a:r>
            <a:endParaRPr b="0" i="0" sz="1200" u="none" cap="none" strike="noStrike">
              <a:solidFill>
                <a:schemeClr val="dk1"/>
              </a:solidFill>
              <a:latin typeface="Calibri"/>
              <a:ea typeface="Calibri"/>
              <a:cs typeface="Calibri"/>
              <a:sym typeface="Calibri"/>
            </a:endParaRPr>
          </a:p>
        </p:txBody>
      </p:sp>
      <p:sp>
        <p:nvSpPr>
          <p:cNvPr id="90" name="Google Shape;90;p5"/>
          <p:cNvSpPr/>
          <p:nvPr/>
        </p:nvSpPr>
        <p:spPr>
          <a:xfrm>
            <a:off x="457200" y="2944368"/>
            <a:ext cx="64008" cy="62179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713232" y="2880360"/>
            <a:ext cx="79552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300"/>
              <a:buFont typeface="Arial"/>
              <a:buNone/>
            </a:pPr>
            <a:r>
              <a:rPr b="1" i="0" lang="en-US" sz="1300" u="none" cap="none" strike="noStrike">
                <a:solidFill>
                  <a:srgbClr val="C9F44E"/>
                </a:solidFill>
                <a:latin typeface="Arial"/>
                <a:ea typeface="Arial"/>
                <a:cs typeface="Arial"/>
                <a:sym typeface="Arial"/>
              </a:rPr>
              <a:t>College athletics is professionalizing fast.</a:t>
            </a:r>
            <a:endParaRPr b="0" i="0" sz="1300" u="none" cap="none" strike="noStrike">
              <a:solidFill>
                <a:schemeClr val="dk1"/>
              </a:solidFill>
              <a:latin typeface="Calibri"/>
              <a:ea typeface="Calibri"/>
              <a:cs typeface="Calibri"/>
              <a:sym typeface="Calibri"/>
            </a:endParaRPr>
          </a:p>
        </p:txBody>
      </p:sp>
      <p:sp>
        <p:nvSpPr>
          <p:cNvPr id="92" name="Google Shape;92;p5"/>
          <p:cNvSpPr/>
          <p:nvPr/>
        </p:nvSpPr>
        <p:spPr>
          <a:xfrm>
            <a:off x="713232" y="3264408"/>
            <a:ext cx="795528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NIL, rising recruiting competition, and expanding S&amp;C staffs mean coaches manage more athletes than ever -- with no modern tools.</a:t>
            </a:r>
            <a:endParaRPr b="0" i="0" sz="1200" u="none" cap="none" strike="noStrike">
              <a:solidFill>
                <a:schemeClr val="dk1"/>
              </a:solidFill>
              <a:latin typeface="Calibri"/>
              <a:ea typeface="Calibri"/>
              <a:cs typeface="Calibri"/>
              <a:sym typeface="Calibri"/>
            </a:endParaRPr>
          </a:p>
        </p:txBody>
      </p:sp>
      <p:sp>
        <p:nvSpPr>
          <p:cNvPr id="93" name="Google Shape;93;p5"/>
          <p:cNvSpPr/>
          <p:nvPr/>
        </p:nvSpPr>
        <p:spPr>
          <a:xfrm>
            <a:off x="457200" y="3904488"/>
            <a:ext cx="64008" cy="621792"/>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713232" y="3840480"/>
            <a:ext cx="795528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300"/>
              <a:buFont typeface="Arial"/>
              <a:buNone/>
            </a:pPr>
            <a:r>
              <a:rPr b="1" i="0" lang="en-US" sz="1300" u="none" cap="none" strike="noStrike">
                <a:solidFill>
                  <a:srgbClr val="C9F44E"/>
                </a:solidFill>
                <a:latin typeface="Arial"/>
                <a:ea typeface="Arial"/>
                <a:cs typeface="Arial"/>
                <a:sym typeface="Arial"/>
              </a:rPr>
              <a:t>Athletes expect more.</a:t>
            </a:r>
            <a:endParaRPr b="0" i="0" sz="1300" u="none" cap="none" strike="noStrike">
              <a:solidFill>
                <a:schemeClr val="dk1"/>
              </a:solidFill>
              <a:latin typeface="Calibri"/>
              <a:ea typeface="Calibri"/>
              <a:cs typeface="Calibri"/>
              <a:sym typeface="Calibri"/>
            </a:endParaRPr>
          </a:p>
        </p:txBody>
      </p:sp>
      <p:sp>
        <p:nvSpPr>
          <p:cNvPr id="95" name="Google Shape;95;p5"/>
          <p:cNvSpPr/>
          <p:nvPr/>
        </p:nvSpPr>
        <p:spPr>
          <a:xfrm>
            <a:off x="713232" y="4224528"/>
            <a:ext cx="7955280" cy="47548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The tech gap between what athletes use everywhere else and what they use in the weight room has never been wider.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100" name="Shape 100"/>
        <p:cNvGrpSpPr/>
        <p:nvPr/>
      </p:nvGrpSpPr>
      <p:grpSpPr>
        <a:xfrm>
          <a:off x="0" y="0"/>
          <a:ext cx="0" cy="0"/>
          <a:chOff x="0" y="0"/>
          <a:chExt cx="0" cy="0"/>
        </a:xfrm>
      </p:grpSpPr>
      <p:sp>
        <p:nvSpPr>
          <p:cNvPr id="101" name="Google Shape;101;p6"/>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SOLUTION</a:t>
            </a:r>
            <a:endParaRPr b="0" i="0" sz="900" u="none" cap="none" strike="noStrike">
              <a:solidFill>
                <a:schemeClr val="dk1"/>
              </a:solidFill>
              <a:latin typeface="Calibri"/>
              <a:ea typeface="Calibri"/>
              <a:cs typeface="Calibri"/>
              <a:sym typeface="Calibri"/>
            </a:endParaRPr>
          </a:p>
        </p:txBody>
      </p:sp>
      <p:sp>
        <p:nvSpPr>
          <p:cNvPr id="102" name="Google Shape;102;p6"/>
          <p:cNvSpPr/>
          <p:nvPr/>
        </p:nvSpPr>
        <p:spPr>
          <a:xfrm>
            <a:off x="457200" y="548640"/>
            <a:ext cx="8229600" cy="12801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600"/>
              <a:buFont typeface="Bebas Neue"/>
              <a:buNone/>
            </a:pPr>
            <a:r>
              <a:rPr b="0" i="0" lang="en-US" sz="4600" u="none" cap="none" strike="noStrike">
                <a:solidFill>
                  <a:srgbClr val="FFFFFF"/>
                </a:solidFill>
                <a:latin typeface="Bebas Neue"/>
                <a:ea typeface="Bebas Neue"/>
                <a:cs typeface="Bebas Neue"/>
                <a:sym typeface="Bebas Neue"/>
              </a:rPr>
              <a:t>One platform. Coach programs. Athletes execute. Everyone sees it.</a:t>
            </a:r>
            <a:endParaRPr b="0" i="0" sz="4600" u="none" cap="none" strike="noStrike">
              <a:solidFill>
                <a:schemeClr val="dk1"/>
              </a:solidFill>
              <a:latin typeface="Calibri"/>
              <a:ea typeface="Calibri"/>
              <a:cs typeface="Calibri"/>
              <a:sym typeface="Calibri"/>
            </a:endParaRPr>
          </a:p>
        </p:txBody>
      </p:sp>
      <p:sp>
        <p:nvSpPr>
          <p:cNvPr id="103" name="Google Shape;103;p6"/>
          <p:cNvSpPr/>
          <p:nvPr/>
        </p:nvSpPr>
        <p:spPr>
          <a:xfrm>
            <a:off x="457200" y="2057400"/>
            <a:ext cx="2651760" cy="269748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457200" y="2057400"/>
            <a:ext cx="2651760" cy="54864"/>
          </a:xfrm>
          <a:prstGeom prst="rect">
            <a:avLst/>
          </a:prstGeom>
          <a:solidFill>
            <a:srgbClr val="C9F44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594360" y="2176272"/>
            <a:ext cx="731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3200"/>
              <a:buFont typeface="Bebas Neue"/>
              <a:buNone/>
            </a:pPr>
            <a:r>
              <a:rPr b="0" i="0" lang="en-US" sz="3200" u="none" cap="none" strike="noStrike">
                <a:solidFill>
                  <a:srgbClr val="C9F44E"/>
                </a:solidFill>
                <a:latin typeface="Bebas Neue"/>
                <a:ea typeface="Bebas Neue"/>
                <a:cs typeface="Bebas Neue"/>
                <a:sym typeface="Bebas Neue"/>
              </a:rPr>
              <a:t>01</a:t>
            </a:r>
            <a:endParaRPr b="0" i="0" sz="3200" u="none" cap="none" strike="noStrike">
              <a:solidFill>
                <a:schemeClr val="dk1"/>
              </a:solidFill>
              <a:latin typeface="Calibri"/>
              <a:ea typeface="Calibri"/>
              <a:cs typeface="Calibri"/>
              <a:sym typeface="Calibri"/>
            </a:endParaRPr>
          </a:p>
        </p:txBody>
      </p:sp>
      <p:sp>
        <p:nvSpPr>
          <p:cNvPr id="106" name="Google Shape;106;p6"/>
          <p:cNvSpPr/>
          <p:nvPr/>
        </p:nvSpPr>
        <p:spPr>
          <a:xfrm>
            <a:off x="594310" y="3017482"/>
            <a:ext cx="23775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200"/>
              <a:buFont typeface="Bebas Neue"/>
              <a:buNone/>
            </a:pPr>
            <a:r>
              <a:rPr b="0" i="0" lang="en-US" sz="2200" u="none" cap="none" strike="noStrike">
                <a:solidFill>
                  <a:srgbClr val="FFFFFF"/>
                </a:solidFill>
                <a:latin typeface="Bebas Neue"/>
                <a:ea typeface="Bebas Neue"/>
                <a:cs typeface="Bebas Neue"/>
                <a:sym typeface="Bebas Neue"/>
              </a:rPr>
              <a:t>Coach </a:t>
            </a:r>
            <a:r>
              <a:rPr lang="en-US" sz="2200">
                <a:solidFill>
                  <a:srgbClr val="FFFFFF"/>
                </a:solidFill>
                <a:latin typeface="Bebas Neue"/>
                <a:ea typeface="Bebas Neue"/>
                <a:cs typeface="Bebas Neue"/>
                <a:sym typeface="Bebas Neue"/>
              </a:rPr>
              <a:t>make the programs</a:t>
            </a:r>
            <a:endParaRPr b="0" i="0" sz="2200" u="none" cap="none" strike="noStrike">
              <a:solidFill>
                <a:schemeClr val="dk1"/>
              </a:solidFill>
              <a:latin typeface="Calibri"/>
              <a:ea typeface="Calibri"/>
              <a:cs typeface="Calibri"/>
              <a:sym typeface="Calibri"/>
            </a:endParaRPr>
          </a:p>
        </p:txBody>
      </p:sp>
      <p:sp>
        <p:nvSpPr>
          <p:cNvPr id="107" name="Google Shape;107;p6"/>
          <p:cNvSpPr/>
          <p:nvPr/>
        </p:nvSpPr>
        <p:spPr>
          <a:xfrm>
            <a:off x="3108960" y="3200400"/>
            <a:ext cx="228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2000"/>
              <a:buFont typeface="Bebas Neue"/>
              <a:buNone/>
            </a:pPr>
            <a:r>
              <a:rPr b="0" i="0" lang="en-US" sz="2000" u="none" cap="none" strike="noStrike">
                <a:solidFill>
                  <a:srgbClr val="C9F44E"/>
                </a:solidFill>
                <a:latin typeface="Bebas Neue"/>
                <a:ea typeface="Bebas Neue"/>
                <a:cs typeface="Bebas Neue"/>
                <a:sym typeface="Bebas Neue"/>
              </a:rPr>
              <a:t>&gt;</a:t>
            </a:r>
            <a:endParaRPr b="0" i="0" sz="2000" u="none" cap="none" strike="noStrike">
              <a:solidFill>
                <a:schemeClr val="dk1"/>
              </a:solidFill>
              <a:latin typeface="Calibri"/>
              <a:ea typeface="Calibri"/>
              <a:cs typeface="Calibri"/>
              <a:sym typeface="Calibri"/>
            </a:endParaRPr>
          </a:p>
        </p:txBody>
      </p:sp>
      <p:sp>
        <p:nvSpPr>
          <p:cNvPr id="108" name="Google Shape;108;p6"/>
          <p:cNvSpPr/>
          <p:nvPr/>
        </p:nvSpPr>
        <p:spPr>
          <a:xfrm>
            <a:off x="3337560" y="2057400"/>
            <a:ext cx="2651760" cy="269748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3337560" y="2057400"/>
            <a:ext cx="2651760" cy="54864"/>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6"/>
          <p:cNvSpPr/>
          <p:nvPr/>
        </p:nvSpPr>
        <p:spPr>
          <a:xfrm>
            <a:off x="3474720" y="2176272"/>
            <a:ext cx="731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3200"/>
              <a:buFont typeface="Bebas Neue"/>
              <a:buNone/>
            </a:pPr>
            <a:r>
              <a:rPr b="0" i="0" lang="en-US" sz="3200" u="none" cap="none" strike="noStrike">
                <a:solidFill>
                  <a:srgbClr val="C9F44E"/>
                </a:solidFill>
                <a:latin typeface="Bebas Neue"/>
                <a:ea typeface="Bebas Neue"/>
                <a:cs typeface="Bebas Neue"/>
                <a:sym typeface="Bebas Neue"/>
              </a:rPr>
              <a:t>02</a:t>
            </a:r>
            <a:endParaRPr b="0" i="0" sz="3200" u="none" cap="none" strike="noStrike">
              <a:solidFill>
                <a:schemeClr val="dk1"/>
              </a:solidFill>
              <a:latin typeface="Calibri"/>
              <a:ea typeface="Calibri"/>
              <a:cs typeface="Calibri"/>
              <a:sym typeface="Calibri"/>
            </a:endParaRPr>
          </a:p>
        </p:txBody>
      </p:sp>
      <p:sp>
        <p:nvSpPr>
          <p:cNvPr id="111" name="Google Shape;111;p6"/>
          <p:cNvSpPr/>
          <p:nvPr/>
        </p:nvSpPr>
        <p:spPr>
          <a:xfrm>
            <a:off x="3474699" y="3072375"/>
            <a:ext cx="16689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200"/>
              <a:buFont typeface="Bebas Neue"/>
              <a:buNone/>
            </a:pPr>
            <a:r>
              <a:rPr lang="en-US" sz="2200">
                <a:solidFill>
                  <a:srgbClr val="FFFFFF"/>
                </a:solidFill>
                <a:latin typeface="Bebas Neue"/>
                <a:ea typeface="Bebas Neue"/>
                <a:cs typeface="Bebas Neue"/>
                <a:sym typeface="Bebas Neue"/>
              </a:rPr>
              <a:t>Athletes log in one tap</a:t>
            </a:r>
            <a:endParaRPr b="0" i="0" sz="2200" u="none" cap="none" strike="noStrike">
              <a:solidFill>
                <a:schemeClr val="dk1"/>
              </a:solidFill>
              <a:latin typeface="Calibri"/>
              <a:ea typeface="Calibri"/>
              <a:cs typeface="Calibri"/>
              <a:sym typeface="Calibri"/>
            </a:endParaRPr>
          </a:p>
        </p:txBody>
      </p:sp>
      <p:sp>
        <p:nvSpPr>
          <p:cNvPr id="112" name="Google Shape;112;p6"/>
          <p:cNvSpPr/>
          <p:nvPr/>
        </p:nvSpPr>
        <p:spPr>
          <a:xfrm>
            <a:off x="5989320" y="3200400"/>
            <a:ext cx="228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2000"/>
              <a:buFont typeface="Bebas Neue"/>
              <a:buNone/>
            </a:pPr>
            <a:r>
              <a:rPr b="0" i="0" lang="en-US" sz="2000" u="none" cap="none" strike="noStrike">
                <a:solidFill>
                  <a:srgbClr val="C9F44E"/>
                </a:solidFill>
                <a:latin typeface="Bebas Neue"/>
                <a:ea typeface="Bebas Neue"/>
                <a:cs typeface="Bebas Neue"/>
                <a:sym typeface="Bebas Neue"/>
              </a:rPr>
              <a:t>&gt;</a:t>
            </a:r>
            <a:endParaRPr b="0" i="0" sz="2000" u="none" cap="none" strike="noStrike">
              <a:solidFill>
                <a:schemeClr val="dk1"/>
              </a:solidFill>
              <a:latin typeface="Calibri"/>
              <a:ea typeface="Calibri"/>
              <a:cs typeface="Calibri"/>
              <a:sym typeface="Calibri"/>
            </a:endParaRPr>
          </a:p>
        </p:txBody>
      </p:sp>
      <p:sp>
        <p:nvSpPr>
          <p:cNvPr id="113" name="Google Shape;113;p6"/>
          <p:cNvSpPr/>
          <p:nvPr/>
        </p:nvSpPr>
        <p:spPr>
          <a:xfrm>
            <a:off x="6217920" y="2057400"/>
            <a:ext cx="2651760" cy="269748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
          <p:cNvSpPr/>
          <p:nvPr/>
        </p:nvSpPr>
        <p:spPr>
          <a:xfrm>
            <a:off x="6217920" y="2057400"/>
            <a:ext cx="2651760" cy="54864"/>
          </a:xfrm>
          <a:prstGeom prst="rect">
            <a:avLst/>
          </a:prstGeom>
          <a:solidFill>
            <a:srgbClr val="C9F44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6355080" y="2176272"/>
            <a:ext cx="73152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3200"/>
              <a:buFont typeface="Bebas Neue"/>
              <a:buNone/>
            </a:pPr>
            <a:r>
              <a:rPr b="0" i="0" lang="en-US" sz="3200" u="none" cap="none" strike="noStrike">
                <a:solidFill>
                  <a:srgbClr val="C9F44E"/>
                </a:solidFill>
                <a:latin typeface="Bebas Neue"/>
                <a:ea typeface="Bebas Neue"/>
                <a:cs typeface="Bebas Neue"/>
                <a:sym typeface="Bebas Neue"/>
              </a:rPr>
              <a:t>03</a:t>
            </a:r>
            <a:endParaRPr b="0" i="0" sz="3200" u="none" cap="none" strike="noStrike">
              <a:solidFill>
                <a:schemeClr val="dk1"/>
              </a:solidFill>
              <a:latin typeface="Calibri"/>
              <a:ea typeface="Calibri"/>
              <a:cs typeface="Calibri"/>
              <a:sym typeface="Calibri"/>
            </a:endParaRPr>
          </a:p>
        </p:txBody>
      </p:sp>
      <p:sp>
        <p:nvSpPr>
          <p:cNvPr id="116" name="Google Shape;116;p6"/>
          <p:cNvSpPr/>
          <p:nvPr/>
        </p:nvSpPr>
        <p:spPr>
          <a:xfrm>
            <a:off x="6355075" y="3072373"/>
            <a:ext cx="2377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2200"/>
              <a:buFont typeface="Bebas Neue"/>
              <a:buNone/>
            </a:pPr>
            <a:r>
              <a:rPr lang="en-US" sz="2200">
                <a:solidFill>
                  <a:srgbClr val="FFFFFF"/>
                </a:solidFill>
                <a:latin typeface="Bebas Neue"/>
                <a:ea typeface="Bebas Neue"/>
                <a:cs typeface="Bebas Neue"/>
                <a:sym typeface="Bebas Neue"/>
              </a:rPr>
              <a:t>the team gets better</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121" name="Shape 121"/>
        <p:cNvGrpSpPr/>
        <p:nvPr/>
      </p:nvGrpSpPr>
      <p:grpSpPr>
        <a:xfrm>
          <a:off x="0" y="0"/>
          <a:ext cx="0" cy="0"/>
          <a:chOff x="0" y="0"/>
          <a:chExt cx="0" cy="0"/>
        </a:xfrm>
      </p:grpSpPr>
      <p:sp>
        <p:nvSpPr>
          <p:cNvPr id="122" name="Google Shape;122;p7"/>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PRODUCT</a:t>
            </a:r>
            <a:endParaRPr b="0" i="0" sz="900" u="none" cap="none" strike="noStrike">
              <a:solidFill>
                <a:schemeClr val="dk1"/>
              </a:solidFill>
              <a:latin typeface="Calibri"/>
              <a:ea typeface="Calibri"/>
              <a:cs typeface="Calibri"/>
              <a:sym typeface="Calibri"/>
            </a:endParaRPr>
          </a:p>
        </p:txBody>
      </p:sp>
      <p:sp>
        <p:nvSpPr>
          <p:cNvPr id="123" name="Google Shape;123;p7"/>
          <p:cNvSpPr/>
          <p:nvPr/>
        </p:nvSpPr>
        <p:spPr>
          <a:xfrm>
            <a:off x="457200" y="548640"/>
            <a:ext cx="82296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200"/>
              <a:buFont typeface="Bebas Neue"/>
              <a:buNone/>
            </a:pPr>
            <a:r>
              <a:rPr lang="en-US" sz="5200">
                <a:solidFill>
                  <a:srgbClr val="FFFFFF"/>
                </a:solidFill>
                <a:latin typeface="Bebas Neue"/>
                <a:ea typeface="Bebas Neue"/>
                <a:cs typeface="Bebas Neue"/>
                <a:sym typeface="Bebas Neue"/>
              </a:rPr>
              <a:t>Watch it work</a:t>
            </a:r>
            <a:endParaRPr b="0" i="0" sz="5200" u="none" cap="none" strike="noStrike">
              <a:solidFill>
                <a:schemeClr val="dk1"/>
              </a:solidFill>
              <a:latin typeface="Calibri"/>
              <a:ea typeface="Calibri"/>
              <a:cs typeface="Calibri"/>
              <a:sym typeface="Calibri"/>
            </a:endParaRPr>
          </a:p>
        </p:txBody>
      </p:sp>
      <p:sp>
        <p:nvSpPr>
          <p:cNvPr id="124" name="Google Shape;124;p7"/>
          <p:cNvSpPr/>
          <p:nvPr/>
        </p:nvSpPr>
        <p:spPr>
          <a:xfrm>
            <a:off x="457200" y="1508760"/>
            <a:ext cx="8229600" cy="3154680"/>
          </a:xfrm>
          <a:prstGeom prst="rect">
            <a:avLst/>
          </a:prstGeom>
          <a:solidFill>
            <a:srgbClr val="22282E"/>
          </a:solidFill>
          <a:ln cap="flat" cmpd="sng" w="254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457200" y="1508760"/>
            <a:ext cx="8229600" cy="3154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8A7E"/>
              </a:buClr>
              <a:buSzPts val="3600"/>
              <a:buFont typeface="Bebas Neue"/>
              <a:buNone/>
            </a:pPr>
            <a:r>
              <a:t/>
            </a:r>
            <a:endParaRPr b="0" i="0" sz="36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130" name="Shape 130"/>
        <p:cNvGrpSpPr/>
        <p:nvPr/>
      </p:nvGrpSpPr>
      <p:grpSpPr>
        <a:xfrm>
          <a:off x="0" y="0"/>
          <a:ext cx="0" cy="0"/>
          <a:chOff x="0" y="0"/>
          <a:chExt cx="0" cy="0"/>
        </a:xfrm>
      </p:grpSpPr>
      <p:sp>
        <p:nvSpPr>
          <p:cNvPr id="131" name="Google Shape;131;p8"/>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COMPETITION</a:t>
            </a:r>
            <a:endParaRPr b="0" i="0" sz="900" u="none" cap="none" strike="noStrike">
              <a:solidFill>
                <a:schemeClr val="dk1"/>
              </a:solidFill>
              <a:latin typeface="Calibri"/>
              <a:ea typeface="Calibri"/>
              <a:cs typeface="Calibri"/>
              <a:sym typeface="Calibri"/>
            </a:endParaRPr>
          </a:p>
        </p:txBody>
      </p:sp>
      <p:sp>
        <p:nvSpPr>
          <p:cNvPr id="132" name="Google Shape;132;p8"/>
          <p:cNvSpPr/>
          <p:nvPr/>
        </p:nvSpPr>
        <p:spPr>
          <a:xfrm>
            <a:off x="457200" y="54864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5200"/>
              <a:buFont typeface="Bebas Neue"/>
              <a:buNone/>
            </a:pPr>
            <a:r>
              <a:rPr b="0" i="0" lang="en-US" sz="5200" u="none" cap="none" strike="noStrike">
                <a:solidFill>
                  <a:srgbClr val="FFFFFF"/>
                </a:solidFill>
                <a:latin typeface="Bebas Neue"/>
                <a:ea typeface="Bebas Neue"/>
                <a:cs typeface="Bebas Neue"/>
                <a:sym typeface="Bebas Neue"/>
              </a:rPr>
              <a:t>The status quo is the competition.</a:t>
            </a:r>
            <a:endParaRPr b="0" i="0" sz="5200" u="none" cap="none" strike="noStrike">
              <a:solidFill>
                <a:schemeClr val="dk1"/>
              </a:solidFill>
              <a:latin typeface="Calibri"/>
              <a:ea typeface="Calibri"/>
              <a:cs typeface="Calibri"/>
              <a:sym typeface="Calibri"/>
            </a:endParaRPr>
          </a:p>
        </p:txBody>
      </p:sp>
      <p:graphicFrame>
        <p:nvGraphicFramePr>
          <p:cNvPr id="133" name="Google Shape;133;p8"/>
          <p:cNvGraphicFramePr/>
          <p:nvPr/>
        </p:nvGraphicFramePr>
        <p:xfrm>
          <a:off x="457200" y="1783080"/>
          <a:ext cx="3000000" cy="3000000"/>
        </p:xfrm>
        <a:graphic>
          <a:graphicData uri="http://schemas.openxmlformats.org/drawingml/2006/table">
            <a:tbl>
              <a:tblPr>
                <a:noFill/>
                <a:tableStyleId>{F42066BC-D35E-4937-9645-C9367CAF8F60}</a:tableStyleId>
              </a:tblPr>
              <a:tblGrid>
                <a:gridCol w="2560325"/>
                <a:gridCol w="1892800"/>
                <a:gridCol w="1892800"/>
                <a:gridCol w="1883675"/>
              </a:tblGrid>
              <a:tr h="585225">
                <a:tc>
                  <a:txBody>
                    <a:bodyPr/>
                    <a:lstStyle/>
                    <a:p>
                      <a:pPr indent="0" lvl="0" marL="0" marR="0" rtl="0" algn="l">
                        <a:spcBef>
                          <a:spcPts val="0"/>
                        </a:spcBef>
                        <a:spcAft>
                          <a:spcPts val="0"/>
                        </a:spcAft>
                        <a:buClr>
                          <a:schemeClr val="dk1"/>
                        </a:buClr>
                        <a:buSzPts val="1100"/>
                        <a:buFont typeface="Calibri"/>
                        <a:buNone/>
                      </a:pPr>
                      <a:r>
                        <a:t/>
                      </a:r>
                      <a:endParaRPr sz="11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1A1E22"/>
                        </a:buClr>
                        <a:buSzPts val="1200"/>
                        <a:buFont typeface="Arial"/>
                        <a:buNone/>
                      </a:pPr>
                      <a:r>
                        <a:rPr b="1" lang="en-US" sz="1200" u="none" cap="none" strike="noStrike">
                          <a:solidFill>
                            <a:srgbClr val="E8EEEA"/>
                          </a:solidFill>
                          <a:latin typeface="Arial"/>
                          <a:ea typeface="Arial"/>
                          <a:cs typeface="Arial"/>
                          <a:sym typeface="Arial"/>
                        </a:rPr>
                        <a:t>Team Structure</a:t>
                      </a:r>
                      <a:endParaRPr sz="1200" u="none" cap="none" strike="noStrike">
                        <a:solidFill>
                          <a:srgbClr val="E8EEEA"/>
                        </a:solidFill>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c>
                  <a:txBody>
                    <a:bodyPr/>
                    <a:lstStyle/>
                    <a:p>
                      <a:pPr indent="0" lvl="0" marL="0" marR="0" rtl="0" algn="ctr">
                        <a:spcBef>
                          <a:spcPts val="0"/>
                        </a:spcBef>
                        <a:spcAft>
                          <a:spcPts val="0"/>
                        </a:spcAft>
                        <a:buClr>
                          <a:srgbClr val="1A1E22"/>
                        </a:buClr>
                        <a:buSzPts val="1200"/>
                        <a:buFont typeface="Arial"/>
                        <a:buNone/>
                      </a:pPr>
                      <a:r>
                        <a:rPr b="1" lang="en-US" sz="1200" u="none" cap="none" strike="noStrike">
                          <a:solidFill>
                            <a:srgbClr val="E8EEEA"/>
                          </a:solidFill>
                          <a:latin typeface="Arial"/>
                          <a:ea typeface="Arial"/>
                          <a:cs typeface="Arial"/>
                          <a:sym typeface="Arial"/>
                        </a:rPr>
                        <a:t>Auto-Calculation</a:t>
                      </a:r>
                      <a:endParaRPr sz="1200" u="none" cap="none" strike="noStrike">
                        <a:solidFill>
                          <a:srgbClr val="E8EEEA"/>
                        </a:solidFill>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c>
                  <a:txBody>
                    <a:bodyPr/>
                    <a:lstStyle/>
                    <a:p>
                      <a:pPr indent="0" lvl="0" marL="0" marR="0" rtl="0" algn="ctr">
                        <a:spcBef>
                          <a:spcPts val="0"/>
                        </a:spcBef>
                        <a:spcAft>
                          <a:spcPts val="0"/>
                        </a:spcAft>
                        <a:buClr>
                          <a:srgbClr val="1A1E22"/>
                        </a:buClr>
                        <a:buSzPts val="1200"/>
                        <a:buFont typeface="Arial"/>
                        <a:buNone/>
                      </a:pPr>
                      <a:r>
                        <a:rPr b="1" lang="en-US" sz="1200" u="none" cap="none" strike="noStrike">
                          <a:solidFill>
                            <a:srgbClr val="E8EEEA"/>
                          </a:solidFill>
                          <a:latin typeface="Arial"/>
                          <a:ea typeface="Arial"/>
                          <a:cs typeface="Arial"/>
                          <a:sym typeface="Arial"/>
                        </a:rPr>
                        <a:t>Athlete-Facing App</a:t>
                      </a:r>
                      <a:endParaRPr sz="1200" u="none" cap="none" strike="noStrike">
                        <a:solidFill>
                          <a:srgbClr val="E8EEEA"/>
                        </a:solidFill>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r>
              <a:tr h="585225">
                <a:tc>
                  <a:txBody>
                    <a:bodyPr/>
                    <a:lstStyle/>
                    <a:p>
                      <a:pPr indent="0" lvl="0" marL="0" marR="0" rtl="0" algn="l">
                        <a:spcBef>
                          <a:spcPts val="0"/>
                        </a:spcBef>
                        <a:spcAft>
                          <a:spcPts val="0"/>
                        </a:spcAft>
                        <a:buClr>
                          <a:srgbClr val="1A1E22"/>
                        </a:buClr>
                        <a:buSzPts val="1300"/>
                        <a:buFont typeface="Arial"/>
                        <a:buNone/>
                      </a:pPr>
                      <a:r>
                        <a:rPr b="1" lang="en-US" sz="1300" u="none" cap="none" strike="noStrike">
                          <a:solidFill>
                            <a:srgbClr val="1A1E22"/>
                          </a:solidFill>
                          <a:latin typeface="Arial"/>
                          <a:ea typeface="Arial"/>
                          <a:cs typeface="Arial"/>
                          <a:sym typeface="Arial"/>
                        </a:rPr>
                        <a:t>Freeweight</a:t>
                      </a:r>
                      <a:endParaRPr sz="13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C9F44E"/>
                    </a:solidFill>
                  </a:tcPr>
                </a:tc>
                <a:tc>
                  <a:txBody>
                    <a:bodyPr/>
                    <a:lstStyle/>
                    <a:p>
                      <a:pPr indent="0" lvl="0" marL="0" marR="0" rtl="0" algn="ctr">
                        <a:spcBef>
                          <a:spcPts val="0"/>
                        </a:spcBef>
                        <a:spcAft>
                          <a:spcPts val="0"/>
                        </a:spcAft>
                        <a:buClr>
                          <a:srgbClr val="1A1E22"/>
                        </a:buClr>
                        <a:buSzPts val="1300"/>
                        <a:buFont typeface="Arial"/>
                        <a:buNone/>
                      </a:pPr>
                      <a:r>
                        <a:rPr b="1" lang="en-US" sz="1300" u="none" cap="none" strike="noStrike">
                          <a:solidFill>
                            <a:srgbClr val="1A1E22"/>
                          </a:solidFill>
                          <a:latin typeface="Arial"/>
                          <a:ea typeface="Arial"/>
                          <a:cs typeface="Arial"/>
                          <a:sym typeface="Arial"/>
                        </a:rPr>
                        <a:t>YES</a:t>
                      </a:r>
                      <a:endParaRPr sz="13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C9F44E"/>
                    </a:solidFill>
                  </a:tcPr>
                </a:tc>
                <a:tc>
                  <a:txBody>
                    <a:bodyPr/>
                    <a:lstStyle/>
                    <a:p>
                      <a:pPr indent="0" lvl="0" marL="0" marR="0" rtl="0" algn="ctr">
                        <a:spcBef>
                          <a:spcPts val="0"/>
                        </a:spcBef>
                        <a:spcAft>
                          <a:spcPts val="0"/>
                        </a:spcAft>
                        <a:buClr>
                          <a:srgbClr val="1A1E22"/>
                        </a:buClr>
                        <a:buSzPts val="1300"/>
                        <a:buFont typeface="Arial"/>
                        <a:buNone/>
                      </a:pPr>
                      <a:r>
                        <a:rPr b="1" lang="en-US" sz="1300" u="none" cap="none" strike="noStrike">
                          <a:solidFill>
                            <a:srgbClr val="1A1E22"/>
                          </a:solidFill>
                          <a:latin typeface="Arial"/>
                          <a:ea typeface="Arial"/>
                          <a:cs typeface="Arial"/>
                          <a:sym typeface="Arial"/>
                        </a:rPr>
                        <a:t>YES</a:t>
                      </a:r>
                      <a:endParaRPr sz="13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C9F44E"/>
                    </a:solidFill>
                  </a:tcPr>
                </a:tc>
                <a:tc>
                  <a:txBody>
                    <a:bodyPr/>
                    <a:lstStyle/>
                    <a:p>
                      <a:pPr indent="0" lvl="0" marL="0" marR="0" rtl="0" algn="ctr">
                        <a:spcBef>
                          <a:spcPts val="0"/>
                        </a:spcBef>
                        <a:spcAft>
                          <a:spcPts val="0"/>
                        </a:spcAft>
                        <a:buClr>
                          <a:srgbClr val="1A1E22"/>
                        </a:buClr>
                        <a:buSzPts val="1300"/>
                        <a:buFont typeface="Arial"/>
                        <a:buNone/>
                      </a:pPr>
                      <a:r>
                        <a:rPr b="1" lang="en-US" sz="1300" u="none" cap="none" strike="noStrike">
                          <a:solidFill>
                            <a:srgbClr val="1A1E22"/>
                          </a:solidFill>
                          <a:latin typeface="Arial"/>
                          <a:ea typeface="Arial"/>
                          <a:cs typeface="Arial"/>
                          <a:sym typeface="Arial"/>
                        </a:rPr>
                        <a:t>YES</a:t>
                      </a:r>
                      <a:endParaRPr sz="13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C9F44E"/>
                    </a:solidFill>
                  </a:tcPr>
                </a:tc>
              </a:tr>
              <a:tr h="585225">
                <a:tc>
                  <a:txBody>
                    <a:bodyPr/>
                    <a:lstStyle/>
                    <a:p>
                      <a:pPr indent="0" lvl="0" marL="0" marR="0" rtl="0" algn="l">
                        <a:spcBef>
                          <a:spcPts val="0"/>
                        </a:spcBef>
                        <a:spcAft>
                          <a:spcPts val="0"/>
                        </a:spcAft>
                        <a:buClr>
                          <a:srgbClr val="E8EEEA"/>
                        </a:buClr>
                        <a:buSzPts val="1200"/>
                        <a:buFont typeface="Arial"/>
                        <a:buNone/>
                      </a:pPr>
                      <a:r>
                        <a:rPr lang="en-US" sz="1200" u="none" cap="none" strike="noStrike">
                          <a:solidFill>
                            <a:srgbClr val="E8EEEA"/>
                          </a:solidFill>
                          <a:latin typeface="Arial"/>
                          <a:ea typeface="Arial"/>
                          <a:cs typeface="Arial"/>
                          <a:sym typeface="Arial"/>
                        </a:rPr>
                        <a:t>TrainHeroic / TeamBuildr</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E8EEEA"/>
                        </a:buClr>
                        <a:buSzPts val="1200"/>
                        <a:buFont typeface="Arial"/>
                        <a:buNone/>
                      </a:pPr>
                      <a:r>
                        <a:rPr lang="en-US" sz="1200" u="none" cap="none" strike="noStrike">
                          <a:solidFill>
                            <a:srgbClr val="E8EEEA"/>
                          </a:solidFill>
                          <a:latin typeface="Arial"/>
                          <a:ea typeface="Arial"/>
                          <a:cs typeface="Arial"/>
                          <a:sym typeface="Arial"/>
                        </a:rPr>
                        <a:t>YES</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7A8A7E"/>
                        </a:buClr>
                        <a:buSzPts val="1200"/>
                        <a:buFont typeface="Arial"/>
                        <a:buNone/>
                      </a:pPr>
                      <a:r>
                        <a:rPr lang="en-US" sz="1200" u="none" cap="none" strike="noStrike">
                          <a:solidFill>
                            <a:srgbClr val="7A8A7E"/>
                          </a:solidFill>
                          <a:latin typeface="Arial"/>
                          <a:ea typeface="Arial"/>
                          <a:cs typeface="Arial"/>
                          <a:sym typeface="Arial"/>
                        </a:rPr>
                        <a:t>NO</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7A8A7E"/>
                        </a:buClr>
                        <a:buSzPts val="1200"/>
                        <a:buFont typeface="Arial"/>
                        <a:buNone/>
                      </a:pPr>
                      <a:r>
                        <a:rPr lang="en-US" sz="1200" u="none" cap="none" strike="noStrike">
                          <a:solidFill>
                            <a:srgbClr val="7A8A7E"/>
                          </a:solidFill>
                          <a:latin typeface="Arial"/>
                          <a:ea typeface="Arial"/>
                          <a:cs typeface="Arial"/>
                          <a:sym typeface="Arial"/>
                        </a:rPr>
                        <a:t>NO</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r>
              <a:tr h="585225">
                <a:tc>
                  <a:txBody>
                    <a:bodyPr/>
                    <a:lstStyle/>
                    <a:p>
                      <a:pPr indent="0" lvl="0" marL="0" marR="0" rtl="0" algn="l">
                        <a:spcBef>
                          <a:spcPts val="0"/>
                        </a:spcBef>
                        <a:spcAft>
                          <a:spcPts val="0"/>
                        </a:spcAft>
                        <a:buClr>
                          <a:srgbClr val="E8EEEA"/>
                        </a:buClr>
                        <a:buSzPts val="1200"/>
                        <a:buFont typeface="Arial"/>
                        <a:buNone/>
                      </a:pPr>
                      <a:r>
                        <a:rPr lang="en-US" sz="1200" u="none" cap="none" strike="noStrike">
                          <a:solidFill>
                            <a:srgbClr val="E8EEEA"/>
                          </a:solidFill>
                          <a:latin typeface="Arial"/>
                          <a:ea typeface="Arial"/>
                          <a:cs typeface="Arial"/>
                          <a:sym typeface="Arial"/>
                        </a:rPr>
                        <a:t>Consumer fitness apps (Strava, Apple Fitness</a:t>
                      </a:r>
                      <a:r>
                        <a:rPr lang="en-US" sz="1200">
                          <a:solidFill>
                            <a:srgbClr val="E8EEEA"/>
                          </a:solidFill>
                        </a:rPr>
                        <a:t>)</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c>
                  <a:txBody>
                    <a:bodyPr/>
                    <a:lstStyle/>
                    <a:p>
                      <a:pPr indent="0" lvl="0" marL="0" marR="0" rtl="0" algn="ctr">
                        <a:spcBef>
                          <a:spcPts val="0"/>
                        </a:spcBef>
                        <a:spcAft>
                          <a:spcPts val="0"/>
                        </a:spcAft>
                        <a:buClr>
                          <a:srgbClr val="7A8A7E"/>
                        </a:buClr>
                        <a:buSzPts val="1200"/>
                        <a:buFont typeface="Arial"/>
                        <a:buNone/>
                      </a:pPr>
                      <a:r>
                        <a:rPr lang="en-US" sz="1200" u="none" cap="none" strike="noStrike">
                          <a:solidFill>
                            <a:srgbClr val="7A8A7E"/>
                          </a:solidFill>
                          <a:latin typeface="Arial"/>
                          <a:ea typeface="Arial"/>
                          <a:cs typeface="Arial"/>
                          <a:sym typeface="Arial"/>
                        </a:rPr>
                        <a:t>NO</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c>
                  <a:txBody>
                    <a:bodyPr/>
                    <a:lstStyle/>
                    <a:p>
                      <a:pPr indent="0" lvl="0" marL="0" marR="0" rtl="0" algn="ctr">
                        <a:spcBef>
                          <a:spcPts val="0"/>
                        </a:spcBef>
                        <a:spcAft>
                          <a:spcPts val="0"/>
                        </a:spcAft>
                        <a:buClr>
                          <a:srgbClr val="7A8A7E"/>
                        </a:buClr>
                        <a:buSzPts val="1200"/>
                        <a:buFont typeface="Arial"/>
                        <a:buNone/>
                      </a:pPr>
                      <a:r>
                        <a:rPr lang="en-US" sz="1200" u="none" cap="none" strike="noStrike">
                          <a:solidFill>
                            <a:srgbClr val="7A8A7E"/>
                          </a:solidFill>
                          <a:latin typeface="Arial"/>
                          <a:ea typeface="Arial"/>
                          <a:cs typeface="Arial"/>
                          <a:sym typeface="Arial"/>
                        </a:rPr>
                        <a:t>NO</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c>
                  <a:txBody>
                    <a:bodyPr/>
                    <a:lstStyle/>
                    <a:p>
                      <a:pPr indent="0" lvl="0" marL="0" marR="0" rtl="0" algn="ctr">
                        <a:spcBef>
                          <a:spcPts val="0"/>
                        </a:spcBef>
                        <a:spcAft>
                          <a:spcPts val="0"/>
                        </a:spcAft>
                        <a:buClr>
                          <a:srgbClr val="E8EEEA"/>
                        </a:buClr>
                        <a:buSzPts val="1200"/>
                        <a:buFont typeface="Arial"/>
                        <a:buNone/>
                      </a:pPr>
                      <a:r>
                        <a:rPr lang="en-US" sz="1200" u="none" cap="none" strike="noStrike">
                          <a:solidFill>
                            <a:srgbClr val="E8EEEA"/>
                          </a:solidFill>
                          <a:latin typeface="Arial"/>
                          <a:ea typeface="Arial"/>
                          <a:cs typeface="Arial"/>
                          <a:sym typeface="Arial"/>
                        </a:rPr>
                        <a:t>YES</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1E2428"/>
                    </a:solidFill>
                  </a:tcPr>
                </a:tc>
              </a:tr>
              <a:tr h="585225">
                <a:tc>
                  <a:txBody>
                    <a:bodyPr/>
                    <a:lstStyle/>
                    <a:p>
                      <a:pPr indent="0" lvl="0" marL="0" marR="0" rtl="0" algn="l">
                        <a:spcBef>
                          <a:spcPts val="0"/>
                        </a:spcBef>
                        <a:spcAft>
                          <a:spcPts val="0"/>
                        </a:spcAft>
                        <a:buClr>
                          <a:srgbClr val="E8EEEA"/>
                        </a:buClr>
                        <a:buSzPts val="1200"/>
                        <a:buFont typeface="Arial"/>
                        <a:buNone/>
                      </a:pPr>
                      <a:r>
                        <a:rPr lang="en-US" sz="1200" u="none" cap="none" strike="noStrike">
                          <a:solidFill>
                            <a:srgbClr val="E8EEEA"/>
                          </a:solidFill>
                          <a:latin typeface="Arial"/>
                          <a:ea typeface="Arial"/>
                          <a:cs typeface="Arial"/>
                          <a:sym typeface="Arial"/>
                        </a:rPr>
                        <a:t>Google Sheets + group texts</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7A8A7E"/>
                        </a:buClr>
                        <a:buSzPts val="1200"/>
                        <a:buFont typeface="Arial"/>
                        <a:buNone/>
                      </a:pPr>
                      <a:r>
                        <a:rPr lang="en-US" sz="1200" u="none" cap="none" strike="noStrike">
                          <a:solidFill>
                            <a:srgbClr val="7A8A7E"/>
                          </a:solidFill>
                          <a:latin typeface="Arial"/>
                          <a:ea typeface="Arial"/>
                          <a:cs typeface="Arial"/>
                          <a:sym typeface="Arial"/>
                        </a:rPr>
                        <a:t>NO</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7A8A7E"/>
                        </a:buClr>
                        <a:buSzPts val="1200"/>
                        <a:buFont typeface="Arial"/>
                        <a:buNone/>
                      </a:pPr>
                      <a:r>
                        <a:rPr lang="en-US" sz="1200" u="none" cap="none" strike="noStrike">
                          <a:solidFill>
                            <a:srgbClr val="7A8A7E"/>
                          </a:solidFill>
                          <a:latin typeface="Arial"/>
                          <a:ea typeface="Arial"/>
                          <a:cs typeface="Arial"/>
                          <a:sym typeface="Arial"/>
                        </a:rPr>
                        <a:t>NO</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c>
                  <a:txBody>
                    <a:bodyPr/>
                    <a:lstStyle/>
                    <a:p>
                      <a:pPr indent="0" lvl="0" marL="0" marR="0" rtl="0" algn="ctr">
                        <a:spcBef>
                          <a:spcPts val="0"/>
                        </a:spcBef>
                        <a:spcAft>
                          <a:spcPts val="0"/>
                        </a:spcAft>
                        <a:buClr>
                          <a:srgbClr val="7A8A7E"/>
                        </a:buClr>
                        <a:buSzPts val="1200"/>
                        <a:buFont typeface="Arial"/>
                        <a:buNone/>
                      </a:pPr>
                      <a:r>
                        <a:rPr lang="en-US" sz="1200" u="none" cap="none" strike="noStrike">
                          <a:solidFill>
                            <a:srgbClr val="7A8A7E"/>
                          </a:solidFill>
                          <a:latin typeface="Arial"/>
                          <a:ea typeface="Arial"/>
                          <a:cs typeface="Arial"/>
                          <a:sym typeface="Arial"/>
                        </a:rPr>
                        <a:t>NO</a:t>
                      </a:r>
                      <a:endParaRPr sz="1200" u="none" cap="none" strike="noStrike">
                        <a:latin typeface="Arial"/>
                        <a:ea typeface="Arial"/>
                        <a:cs typeface="Arial"/>
                        <a:sym typeface="Arial"/>
                      </a:endParaRPr>
                    </a:p>
                  </a:txBody>
                  <a:tcPr marT="45725" marB="45725" marR="91450" marL="91450">
                    <a:lnL cap="flat" cmpd="sng" w="12700">
                      <a:solidFill>
                        <a:srgbClr val="2E363E"/>
                      </a:solidFill>
                      <a:prstDash val="solid"/>
                      <a:round/>
                      <a:headEnd len="sm" w="sm" type="none"/>
                      <a:tailEnd len="sm" w="sm" type="none"/>
                    </a:lnL>
                    <a:lnR cap="flat" cmpd="sng" w="12700">
                      <a:solidFill>
                        <a:srgbClr val="2E363E"/>
                      </a:solidFill>
                      <a:prstDash val="solid"/>
                      <a:round/>
                      <a:headEnd len="sm" w="sm" type="none"/>
                      <a:tailEnd len="sm" w="sm" type="none"/>
                    </a:lnR>
                    <a:lnT cap="flat" cmpd="sng" w="12700">
                      <a:solidFill>
                        <a:srgbClr val="2E363E"/>
                      </a:solidFill>
                      <a:prstDash val="solid"/>
                      <a:round/>
                      <a:headEnd len="sm" w="sm" type="none"/>
                      <a:tailEnd len="sm" w="sm" type="none"/>
                    </a:lnT>
                    <a:lnB cap="flat" cmpd="sng" w="12700">
                      <a:solidFill>
                        <a:srgbClr val="2E363E"/>
                      </a:solidFill>
                      <a:prstDash val="solid"/>
                      <a:round/>
                      <a:headEnd len="sm" w="sm" type="none"/>
                      <a:tailEnd len="sm" w="sm" type="none"/>
                    </a:lnB>
                    <a:solidFill>
                      <a:srgbClr val="22282E"/>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138" name="Shape 138"/>
        <p:cNvGrpSpPr/>
        <p:nvPr/>
      </p:nvGrpSpPr>
      <p:grpSpPr>
        <a:xfrm>
          <a:off x="0" y="0"/>
          <a:ext cx="0" cy="0"/>
          <a:chOff x="0" y="0"/>
          <a:chExt cx="0" cy="0"/>
        </a:xfrm>
      </p:grpSpPr>
      <p:sp>
        <p:nvSpPr>
          <p:cNvPr id="139" name="Google Shape;139;p9"/>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TRACTION</a:t>
            </a:r>
            <a:endParaRPr b="0" i="0" sz="900" u="none" cap="none" strike="noStrike">
              <a:solidFill>
                <a:schemeClr val="dk1"/>
              </a:solidFill>
              <a:latin typeface="Calibri"/>
              <a:ea typeface="Calibri"/>
              <a:cs typeface="Calibri"/>
              <a:sym typeface="Calibri"/>
            </a:endParaRPr>
          </a:p>
        </p:txBody>
      </p:sp>
      <p:sp>
        <p:nvSpPr>
          <p:cNvPr id="140" name="Google Shape;140;p9"/>
          <p:cNvSpPr/>
          <p:nvPr/>
        </p:nvSpPr>
        <p:spPr>
          <a:xfrm>
            <a:off x="457200" y="548640"/>
            <a:ext cx="8229600" cy="8686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5600"/>
              <a:buFont typeface="Bebas Neue"/>
              <a:buNone/>
            </a:pPr>
            <a:r>
              <a:rPr b="0" i="0" lang="en-US" sz="5600" u="none" cap="none" strike="noStrike">
                <a:solidFill>
                  <a:srgbClr val="FFFFFF"/>
                </a:solidFill>
                <a:latin typeface="Bebas Neue"/>
                <a:ea typeface="Bebas Neue"/>
                <a:cs typeface="Bebas Neue"/>
                <a:sym typeface="Bebas Neue"/>
              </a:rPr>
              <a:t>Live across Columbia Athletics.</a:t>
            </a:r>
            <a:endParaRPr b="0" i="0" sz="5600" u="none" cap="none" strike="noStrike">
              <a:solidFill>
                <a:schemeClr val="dk1"/>
              </a:solidFill>
              <a:latin typeface="Calibri"/>
              <a:ea typeface="Calibri"/>
              <a:cs typeface="Calibri"/>
              <a:sym typeface="Calibri"/>
            </a:endParaRPr>
          </a:p>
        </p:txBody>
      </p:sp>
      <p:sp>
        <p:nvSpPr>
          <p:cNvPr id="141" name="Google Shape;141;p9"/>
          <p:cNvSpPr/>
          <p:nvPr/>
        </p:nvSpPr>
        <p:spPr>
          <a:xfrm>
            <a:off x="457200" y="1627632"/>
            <a:ext cx="2651760" cy="192024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
          <p:cNvSpPr/>
          <p:nvPr/>
        </p:nvSpPr>
        <p:spPr>
          <a:xfrm>
            <a:off x="457200" y="1773865"/>
            <a:ext cx="2651700" cy="1051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7200"/>
              <a:buFont typeface="Bebas Neue"/>
              <a:buNone/>
            </a:pPr>
            <a:r>
              <a:rPr lang="en-US" sz="6900">
                <a:solidFill>
                  <a:srgbClr val="C9F44E"/>
                </a:solidFill>
                <a:latin typeface="Bebas Neue"/>
                <a:ea typeface="Bebas Neue"/>
                <a:cs typeface="Bebas Neue"/>
                <a:sym typeface="Bebas Neue"/>
              </a:rPr>
              <a:t>3 Teams</a:t>
            </a:r>
            <a:endParaRPr b="0" i="0" sz="6900" u="none" cap="none" strike="noStrike">
              <a:solidFill>
                <a:schemeClr val="dk1"/>
              </a:solidFill>
              <a:latin typeface="Calibri"/>
              <a:ea typeface="Calibri"/>
              <a:cs typeface="Calibri"/>
              <a:sym typeface="Calibri"/>
            </a:endParaRPr>
          </a:p>
        </p:txBody>
      </p:sp>
      <p:sp>
        <p:nvSpPr>
          <p:cNvPr id="143" name="Google Shape;143;p9"/>
          <p:cNvSpPr/>
          <p:nvPr/>
        </p:nvSpPr>
        <p:spPr>
          <a:xfrm>
            <a:off x="457200" y="2871195"/>
            <a:ext cx="2651700" cy="530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8A7E"/>
              </a:buClr>
              <a:buSzPts val="1300"/>
              <a:buFont typeface="Arial"/>
              <a:buNone/>
            </a:pPr>
            <a:r>
              <a:rPr lang="en-US" sz="1700">
                <a:solidFill>
                  <a:srgbClr val="E8EEEA"/>
                </a:solidFill>
              </a:rPr>
              <a:t>Actively using </a:t>
            </a:r>
            <a:r>
              <a:rPr lang="en-US" sz="1700">
                <a:solidFill>
                  <a:srgbClr val="E8EEEA"/>
                </a:solidFill>
              </a:rPr>
              <a:t>Freeweight</a:t>
            </a:r>
            <a:endParaRPr sz="1300">
              <a:solidFill>
                <a:srgbClr val="7A8A7E"/>
              </a:solidFill>
            </a:endParaRPr>
          </a:p>
        </p:txBody>
      </p:sp>
      <p:sp>
        <p:nvSpPr>
          <p:cNvPr id="144" name="Google Shape;144;p9"/>
          <p:cNvSpPr/>
          <p:nvPr/>
        </p:nvSpPr>
        <p:spPr>
          <a:xfrm>
            <a:off x="3337560" y="1627632"/>
            <a:ext cx="2651760" cy="192024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9"/>
          <p:cNvSpPr/>
          <p:nvPr/>
        </p:nvSpPr>
        <p:spPr>
          <a:xfrm>
            <a:off x="3337560" y="2788920"/>
            <a:ext cx="2651760" cy="5303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8A7E"/>
              </a:buClr>
              <a:buSzPts val="1300"/>
              <a:buFont typeface="Arial"/>
              <a:buNone/>
            </a:pPr>
            <a:r>
              <a:t/>
            </a:r>
            <a:endParaRPr b="0" i="0" sz="1300" u="none" cap="none" strike="noStrike">
              <a:solidFill>
                <a:schemeClr val="dk1"/>
              </a:solidFill>
              <a:latin typeface="Calibri"/>
              <a:ea typeface="Calibri"/>
              <a:cs typeface="Calibri"/>
              <a:sym typeface="Calibri"/>
            </a:endParaRPr>
          </a:p>
        </p:txBody>
      </p:sp>
      <p:sp>
        <p:nvSpPr>
          <p:cNvPr id="146" name="Google Shape;146;p9"/>
          <p:cNvSpPr/>
          <p:nvPr/>
        </p:nvSpPr>
        <p:spPr>
          <a:xfrm>
            <a:off x="6217920" y="1627632"/>
            <a:ext cx="2651760" cy="192024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9"/>
          <p:cNvSpPr/>
          <p:nvPr/>
        </p:nvSpPr>
        <p:spPr>
          <a:xfrm>
            <a:off x="6217920" y="1773865"/>
            <a:ext cx="2651700" cy="1051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7200"/>
              <a:buFont typeface="Bebas Neue"/>
              <a:buNone/>
            </a:pPr>
            <a:r>
              <a:rPr lang="en-US" sz="7200">
                <a:solidFill>
                  <a:srgbClr val="C9F44E"/>
                </a:solidFill>
                <a:latin typeface="Bebas Neue"/>
                <a:ea typeface="Bebas Neue"/>
                <a:cs typeface="Bebas Neue"/>
                <a:sym typeface="Bebas Neue"/>
              </a:rPr>
              <a:t>100+</a:t>
            </a:r>
            <a:endParaRPr b="0" i="0" sz="7200" u="none" cap="none" strike="noStrike">
              <a:solidFill>
                <a:schemeClr val="dk1"/>
              </a:solidFill>
              <a:latin typeface="Calibri"/>
              <a:ea typeface="Calibri"/>
              <a:cs typeface="Calibri"/>
              <a:sym typeface="Calibri"/>
            </a:endParaRPr>
          </a:p>
        </p:txBody>
      </p:sp>
      <p:sp>
        <p:nvSpPr>
          <p:cNvPr id="148" name="Google Shape;148;p9"/>
          <p:cNvSpPr/>
          <p:nvPr/>
        </p:nvSpPr>
        <p:spPr>
          <a:xfrm>
            <a:off x="6217920" y="2788920"/>
            <a:ext cx="2651760" cy="530352"/>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8A7E"/>
              </a:buClr>
              <a:buSzPts val="1300"/>
              <a:buFont typeface="Arial"/>
              <a:buNone/>
            </a:pPr>
            <a:r>
              <a:t/>
            </a:r>
            <a:endParaRPr sz="1300">
              <a:solidFill>
                <a:srgbClr val="7A8A7E"/>
              </a:solidFill>
            </a:endParaRPr>
          </a:p>
        </p:txBody>
      </p:sp>
      <p:sp>
        <p:nvSpPr>
          <p:cNvPr id="149" name="Google Shape;149;p9"/>
          <p:cNvSpPr/>
          <p:nvPr/>
        </p:nvSpPr>
        <p:spPr>
          <a:xfrm>
            <a:off x="457200" y="3730752"/>
            <a:ext cx="8229600"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E8EEEA"/>
              </a:buClr>
              <a:buSzPts val="1200"/>
              <a:buFont typeface="Arial"/>
              <a:buNone/>
            </a:pPr>
            <a:r>
              <a:rPr b="0" i="0" lang="en-US" sz="1200" u="none" cap="none" strike="noStrike">
                <a:solidFill>
                  <a:srgbClr val="E8EEEA"/>
                </a:solidFill>
                <a:latin typeface="Arial"/>
                <a:ea typeface="Arial"/>
                <a:cs typeface="Arial"/>
                <a:sym typeface="Arial"/>
              </a:rPr>
              <a:t>Women's Rowing   |   Men's Rowing   |   Lightweight Rowing   |   Lacrosse   |   Soccer</a:t>
            </a:r>
            <a:r>
              <a:rPr lang="en-US" sz="1200">
                <a:solidFill>
                  <a:srgbClr val="E8EEEA"/>
                </a:solidFill>
              </a:rPr>
              <a:t>  |   Individual   |   More  </a:t>
            </a:r>
            <a:endParaRPr b="0" i="0" sz="1200" u="none" cap="none" strike="noStrike">
              <a:solidFill>
                <a:schemeClr val="dk1"/>
              </a:solidFill>
              <a:latin typeface="Calibri"/>
              <a:ea typeface="Calibri"/>
              <a:cs typeface="Calibri"/>
              <a:sym typeface="Calibri"/>
            </a:endParaRPr>
          </a:p>
        </p:txBody>
      </p:sp>
      <p:sp>
        <p:nvSpPr>
          <p:cNvPr id="150" name="Google Shape;150;p9"/>
          <p:cNvSpPr/>
          <p:nvPr/>
        </p:nvSpPr>
        <p:spPr>
          <a:xfrm>
            <a:off x="457200" y="4297680"/>
            <a:ext cx="822960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1300"/>
              <a:buFont typeface="Arial"/>
              <a:buNone/>
            </a:pPr>
            <a:r>
              <a:rPr b="0" i="1" lang="en-US" sz="1300" u="none" cap="none" strike="noStrike">
                <a:solidFill>
                  <a:srgbClr val="C9F44E"/>
                </a:solidFill>
                <a:latin typeface="Arial"/>
                <a:ea typeface="Arial"/>
                <a:cs typeface="Arial"/>
                <a:sym typeface="Arial"/>
              </a:rPr>
              <a:t>Built at Columbia, by Columbia rowers, for the exact program we trained in.</a:t>
            </a:r>
            <a:endParaRPr b="0" i="0" sz="1300" u="none" cap="none" strike="noStrike">
              <a:solidFill>
                <a:schemeClr val="dk1"/>
              </a:solidFill>
              <a:latin typeface="Calibri"/>
              <a:ea typeface="Calibri"/>
              <a:cs typeface="Calibri"/>
              <a:sym typeface="Calibri"/>
            </a:endParaRPr>
          </a:p>
        </p:txBody>
      </p:sp>
      <p:sp>
        <p:nvSpPr>
          <p:cNvPr id="151" name="Google Shape;151;p9"/>
          <p:cNvSpPr/>
          <p:nvPr/>
        </p:nvSpPr>
        <p:spPr>
          <a:xfrm>
            <a:off x="3337588" y="1773903"/>
            <a:ext cx="2651700" cy="1051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9F44E"/>
              </a:buClr>
              <a:buSzPts val="7200"/>
              <a:buFont typeface="Bebas Neue"/>
              <a:buNone/>
            </a:pPr>
            <a:r>
              <a:rPr lang="en-US" sz="7200">
                <a:solidFill>
                  <a:srgbClr val="C9F44E"/>
                </a:solidFill>
                <a:latin typeface="Bebas Neue"/>
                <a:ea typeface="Bebas Neue"/>
                <a:cs typeface="Bebas Neue"/>
                <a:sym typeface="Bebas Neue"/>
              </a:rPr>
              <a:t>2 Teams</a:t>
            </a:r>
            <a:endParaRPr b="0" i="0" sz="7200" u="none" cap="none" strike="noStrike">
              <a:solidFill>
                <a:schemeClr val="dk1"/>
              </a:solidFill>
              <a:latin typeface="Calibri"/>
              <a:ea typeface="Calibri"/>
              <a:cs typeface="Calibri"/>
              <a:sym typeface="Calibri"/>
            </a:endParaRPr>
          </a:p>
        </p:txBody>
      </p:sp>
      <p:sp>
        <p:nvSpPr>
          <p:cNvPr id="152" name="Google Shape;152;p9"/>
          <p:cNvSpPr/>
          <p:nvPr/>
        </p:nvSpPr>
        <p:spPr>
          <a:xfrm>
            <a:off x="3337588" y="2871183"/>
            <a:ext cx="2651700" cy="530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8A7E"/>
              </a:buClr>
              <a:buSzPts val="1300"/>
              <a:buFont typeface="Arial"/>
              <a:buNone/>
            </a:pPr>
            <a:r>
              <a:rPr lang="en-US" sz="1700">
                <a:solidFill>
                  <a:srgbClr val="E8EEEA"/>
                </a:solidFill>
              </a:rPr>
              <a:t>Onboarding + Piloting</a:t>
            </a:r>
            <a:endParaRPr b="0" i="0" sz="1700" u="none" cap="none" strike="noStrike">
              <a:solidFill>
                <a:srgbClr val="E8EEEA"/>
              </a:solidFill>
              <a:latin typeface="Calibri"/>
              <a:ea typeface="Calibri"/>
              <a:cs typeface="Calibri"/>
              <a:sym typeface="Calibri"/>
            </a:endParaRPr>
          </a:p>
        </p:txBody>
      </p:sp>
      <p:sp>
        <p:nvSpPr>
          <p:cNvPr id="153" name="Google Shape;153;p9"/>
          <p:cNvSpPr/>
          <p:nvPr/>
        </p:nvSpPr>
        <p:spPr>
          <a:xfrm>
            <a:off x="6151663" y="2871183"/>
            <a:ext cx="2651700" cy="530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8A7E"/>
              </a:buClr>
              <a:buSzPts val="1300"/>
              <a:buFont typeface="Arial"/>
              <a:buNone/>
            </a:pPr>
            <a:r>
              <a:rPr lang="en-US" sz="1700">
                <a:solidFill>
                  <a:srgbClr val="E8EEEA"/>
                </a:solidFill>
              </a:rPr>
              <a:t>Athletes on Platform</a:t>
            </a:r>
            <a:endParaRPr b="0" i="0" sz="1700" u="none" cap="none" strike="noStrike">
              <a:solidFill>
                <a:srgbClr val="E8EEEA"/>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158" name="Shape 158"/>
        <p:cNvGrpSpPr/>
        <p:nvPr/>
      </p:nvGrpSpPr>
      <p:grpSpPr>
        <a:xfrm>
          <a:off x="0" y="0"/>
          <a:ext cx="0" cy="0"/>
          <a:chOff x="0" y="0"/>
          <a:chExt cx="0" cy="0"/>
        </a:xfrm>
      </p:grpSpPr>
      <p:sp>
        <p:nvSpPr>
          <p:cNvPr id="159" name="Google Shape;159;p10"/>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BUSINESS MODEL</a:t>
            </a:r>
            <a:endParaRPr b="0" i="0" sz="900" u="none" cap="none" strike="noStrike">
              <a:solidFill>
                <a:schemeClr val="dk1"/>
              </a:solidFill>
              <a:latin typeface="Calibri"/>
              <a:ea typeface="Calibri"/>
              <a:cs typeface="Calibri"/>
              <a:sym typeface="Calibri"/>
            </a:endParaRPr>
          </a:p>
        </p:txBody>
      </p:sp>
      <p:sp>
        <p:nvSpPr>
          <p:cNvPr id="160" name="Google Shape;160;p10"/>
          <p:cNvSpPr/>
          <p:nvPr/>
        </p:nvSpPr>
        <p:spPr>
          <a:xfrm>
            <a:off x="457200" y="548640"/>
            <a:ext cx="8229600" cy="1005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6000"/>
              <a:buFont typeface="Bebas Neue"/>
              <a:buNone/>
            </a:pPr>
            <a:r>
              <a:rPr b="0" i="0" lang="en-US" sz="6000" u="none" cap="none" strike="noStrike">
                <a:solidFill>
                  <a:srgbClr val="FFFFFF"/>
                </a:solidFill>
                <a:latin typeface="Bebas Neue"/>
                <a:ea typeface="Bebas Neue"/>
                <a:cs typeface="Bebas Neue"/>
                <a:sym typeface="Bebas Neue"/>
              </a:rPr>
              <a:t>Coaches pay. Athletes are free.</a:t>
            </a:r>
            <a:endParaRPr b="0" i="0" sz="6000" u="none" cap="none" strike="noStrike">
              <a:solidFill>
                <a:schemeClr val="dk1"/>
              </a:solidFill>
              <a:latin typeface="Calibri"/>
              <a:ea typeface="Calibri"/>
              <a:cs typeface="Calibri"/>
              <a:sym typeface="Calibri"/>
            </a:endParaRPr>
          </a:p>
        </p:txBody>
      </p:sp>
      <p:sp>
        <p:nvSpPr>
          <p:cNvPr id="161" name="Google Shape;161;p10"/>
          <p:cNvSpPr/>
          <p:nvPr/>
        </p:nvSpPr>
        <p:spPr>
          <a:xfrm>
            <a:off x="4667823" y="1737352"/>
            <a:ext cx="3931800" cy="2368800"/>
          </a:xfrm>
          <a:prstGeom prst="rect">
            <a:avLst/>
          </a:prstGeom>
          <a:solidFill>
            <a:srgbClr val="22282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0"/>
          <p:cNvSpPr/>
          <p:nvPr/>
        </p:nvSpPr>
        <p:spPr>
          <a:xfrm>
            <a:off x="4667763" y="1746380"/>
            <a:ext cx="3931800" cy="54900"/>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
          <p:cNvSpPr/>
          <p:nvPr/>
        </p:nvSpPr>
        <p:spPr>
          <a:xfrm>
            <a:off x="4777553" y="1874528"/>
            <a:ext cx="36576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COACHES  (paid)</a:t>
            </a:r>
            <a:endParaRPr b="0" i="0" sz="900" u="none" cap="none" strike="noStrike">
              <a:solidFill>
                <a:schemeClr val="dk1"/>
              </a:solidFill>
              <a:latin typeface="Calibri"/>
              <a:ea typeface="Calibri"/>
              <a:cs typeface="Calibri"/>
              <a:sym typeface="Calibri"/>
            </a:endParaRPr>
          </a:p>
        </p:txBody>
      </p:sp>
      <p:sp>
        <p:nvSpPr>
          <p:cNvPr id="164" name="Google Shape;164;p10"/>
          <p:cNvSpPr/>
          <p:nvPr/>
        </p:nvSpPr>
        <p:spPr>
          <a:xfrm>
            <a:off x="4777553" y="2240288"/>
            <a:ext cx="3657600" cy="210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EEA"/>
              </a:buClr>
              <a:buSzPts val="1300"/>
              <a:buFont typeface="Arial"/>
              <a:buNone/>
            </a:pPr>
            <a:r>
              <a:rPr i="0" lang="en-US" sz="2100" u="none" cap="none" strike="noStrike">
                <a:solidFill>
                  <a:srgbClr val="E8EEEA"/>
                </a:solidFill>
                <a:latin typeface="Bebas Neue"/>
                <a:ea typeface="Bebas Neue"/>
                <a:cs typeface="Bebas Neue"/>
                <a:sym typeface="Bebas Neue"/>
              </a:rPr>
              <a:t>SaaS subscription per coaching staff. </a:t>
            </a:r>
            <a:endParaRPr i="0" sz="2100" u="none" cap="none" strike="noStrike">
              <a:solidFill>
                <a:srgbClr val="E8EEEA"/>
              </a:solidFill>
              <a:latin typeface="Bebas Neue"/>
              <a:ea typeface="Bebas Neue"/>
              <a:cs typeface="Bebas Neue"/>
              <a:sym typeface="Bebas Neue"/>
            </a:endParaRPr>
          </a:p>
          <a:p>
            <a:pPr indent="0" lvl="0" marL="0" marR="0" rtl="0" algn="l">
              <a:spcBef>
                <a:spcPts val="0"/>
              </a:spcBef>
              <a:spcAft>
                <a:spcPts val="0"/>
              </a:spcAft>
              <a:buClr>
                <a:srgbClr val="E8EEEA"/>
              </a:buClr>
              <a:buSzPts val="1300"/>
              <a:buFont typeface="Arial"/>
              <a:buNone/>
            </a:pPr>
            <a:r>
              <a:t/>
            </a:r>
            <a:endParaRPr sz="2100">
              <a:solidFill>
                <a:srgbClr val="E8EEEA"/>
              </a:solidFill>
              <a:latin typeface="Bebas Neue"/>
              <a:ea typeface="Bebas Neue"/>
              <a:cs typeface="Bebas Neue"/>
              <a:sym typeface="Bebas Neue"/>
            </a:endParaRPr>
          </a:p>
          <a:p>
            <a:pPr indent="0" lvl="0" marL="0" marR="0" rtl="0" algn="l">
              <a:spcBef>
                <a:spcPts val="0"/>
              </a:spcBef>
              <a:spcAft>
                <a:spcPts val="0"/>
              </a:spcAft>
              <a:buClr>
                <a:srgbClr val="E8EEEA"/>
              </a:buClr>
              <a:buSzPts val="1300"/>
              <a:buFont typeface="Arial"/>
              <a:buNone/>
            </a:pPr>
            <a:r>
              <a:rPr i="0" lang="en-US" sz="2100" u="none" cap="none" strike="noStrike">
                <a:solidFill>
                  <a:srgbClr val="E8EEEA"/>
                </a:solidFill>
                <a:latin typeface="Bebas Neue"/>
                <a:ea typeface="Bebas Neue"/>
                <a:cs typeface="Bebas Neue"/>
                <a:sym typeface="Bebas Neue"/>
              </a:rPr>
              <a:t>Scales with roster size. </a:t>
            </a:r>
            <a:endParaRPr i="0" sz="2100" u="none" cap="none" strike="noStrike">
              <a:solidFill>
                <a:srgbClr val="E8EEEA"/>
              </a:solidFill>
              <a:latin typeface="Bebas Neue"/>
              <a:ea typeface="Bebas Neue"/>
              <a:cs typeface="Bebas Neue"/>
              <a:sym typeface="Bebas Neue"/>
            </a:endParaRPr>
          </a:p>
          <a:p>
            <a:pPr indent="0" lvl="0" marL="0" marR="0" rtl="0" algn="l">
              <a:spcBef>
                <a:spcPts val="0"/>
              </a:spcBef>
              <a:spcAft>
                <a:spcPts val="0"/>
              </a:spcAft>
              <a:buClr>
                <a:srgbClr val="E8EEEA"/>
              </a:buClr>
              <a:buSzPts val="1300"/>
              <a:buFont typeface="Arial"/>
              <a:buNone/>
            </a:pPr>
            <a:r>
              <a:t/>
            </a:r>
            <a:endParaRPr sz="2100">
              <a:solidFill>
                <a:srgbClr val="E8EEEA"/>
              </a:solidFill>
              <a:latin typeface="Bebas Neue"/>
              <a:ea typeface="Bebas Neue"/>
              <a:cs typeface="Bebas Neue"/>
              <a:sym typeface="Bebas Neue"/>
            </a:endParaRPr>
          </a:p>
          <a:p>
            <a:pPr indent="0" lvl="0" marL="0" marR="0" rtl="0" algn="l">
              <a:spcBef>
                <a:spcPts val="0"/>
              </a:spcBef>
              <a:spcAft>
                <a:spcPts val="0"/>
              </a:spcAft>
              <a:buClr>
                <a:srgbClr val="E8EEEA"/>
              </a:buClr>
              <a:buSzPts val="1300"/>
              <a:buFont typeface="Arial"/>
              <a:buNone/>
            </a:pPr>
            <a:r>
              <a:rPr i="0" lang="en-US" sz="2100" u="none" cap="none" strike="noStrike">
                <a:solidFill>
                  <a:srgbClr val="E8EEEA"/>
                </a:solidFill>
                <a:latin typeface="Bebas Neue"/>
                <a:ea typeface="Bebas Neue"/>
                <a:cs typeface="Bebas Neue"/>
                <a:sym typeface="Bebas Neue"/>
              </a:rPr>
              <a:t>This is where </a:t>
            </a:r>
            <a:r>
              <a:rPr lang="en-US" sz="2100">
                <a:solidFill>
                  <a:srgbClr val="E8EEEA"/>
                </a:solidFill>
                <a:latin typeface="Bebas Neue"/>
                <a:ea typeface="Bebas Neue"/>
                <a:cs typeface="Bebas Neue"/>
                <a:sym typeface="Bebas Neue"/>
              </a:rPr>
              <a:t>our </a:t>
            </a:r>
            <a:r>
              <a:rPr i="0" lang="en-US" sz="2100" u="none" cap="none" strike="noStrike">
                <a:solidFill>
                  <a:srgbClr val="E8EEEA"/>
                </a:solidFill>
                <a:latin typeface="Bebas Neue"/>
                <a:ea typeface="Bebas Neue"/>
                <a:cs typeface="Bebas Neue"/>
                <a:sym typeface="Bebas Neue"/>
              </a:rPr>
              <a:t>revenue lives.</a:t>
            </a:r>
            <a:endParaRPr i="0" sz="2100" u="none" cap="none" strike="noStrike">
              <a:solidFill>
                <a:schemeClr val="dk1"/>
              </a:solidFill>
              <a:latin typeface="Bebas Neue"/>
              <a:ea typeface="Bebas Neue"/>
              <a:cs typeface="Bebas Neue"/>
              <a:sym typeface="Bebas Neue"/>
            </a:endParaRPr>
          </a:p>
        </p:txBody>
      </p:sp>
      <p:sp>
        <p:nvSpPr>
          <p:cNvPr id="165" name="Google Shape;165;p10"/>
          <p:cNvSpPr/>
          <p:nvPr/>
        </p:nvSpPr>
        <p:spPr>
          <a:xfrm>
            <a:off x="401400" y="1737301"/>
            <a:ext cx="3931800" cy="2368800"/>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0"/>
          <p:cNvSpPr/>
          <p:nvPr/>
        </p:nvSpPr>
        <p:spPr>
          <a:xfrm>
            <a:off x="511133" y="1874465"/>
            <a:ext cx="36576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900"/>
              <a:buFont typeface="Arial"/>
              <a:buNone/>
            </a:pPr>
            <a:r>
              <a:rPr b="1" i="0" lang="en-US" sz="900" u="none" cap="none" strike="noStrike">
                <a:solidFill>
                  <a:srgbClr val="7A8A7E"/>
                </a:solidFill>
                <a:latin typeface="Arial"/>
                <a:ea typeface="Arial"/>
                <a:cs typeface="Arial"/>
                <a:sym typeface="Arial"/>
              </a:rPr>
              <a:t>ATHLETES  (free)</a:t>
            </a:r>
            <a:endParaRPr b="0" i="0" sz="900" u="none" cap="none" strike="noStrike">
              <a:solidFill>
                <a:schemeClr val="dk1"/>
              </a:solidFill>
              <a:latin typeface="Calibri"/>
              <a:ea typeface="Calibri"/>
              <a:cs typeface="Calibri"/>
              <a:sym typeface="Calibri"/>
            </a:endParaRPr>
          </a:p>
        </p:txBody>
      </p:sp>
      <p:sp>
        <p:nvSpPr>
          <p:cNvPr id="167" name="Google Shape;167;p10"/>
          <p:cNvSpPr/>
          <p:nvPr/>
        </p:nvSpPr>
        <p:spPr>
          <a:xfrm>
            <a:off x="511133" y="2240225"/>
            <a:ext cx="3657600" cy="2103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8EEEA"/>
              </a:buClr>
              <a:buSzPts val="1300"/>
              <a:buFont typeface="Arial"/>
              <a:buNone/>
            </a:pPr>
            <a:r>
              <a:rPr lang="en-US" sz="2100">
                <a:solidFill>
                  <a:srgbClr val="E8EEEA"/>
                </a:solidFill>
                <a:latin typeface="Bebas Neue"/>
                <a:ea typeface="Bebas Neue"/>
                <a:cs typeface="Bebas Neue"/>
                <a:sym typeface="Bebas Neue"/>
              </a:rPr>
              <a:t>Zero cost to join. Removing friction is the point. If athletes do not use it, coaches do not pay for it.</a:t>
            </a:r>
            <a:endParaRPr sz="2100">
              <a:solidFill>
                <a:srgbClr val="E8EEEA"/>
              </a:solidFill>
              <a:latin typeface="Bebas Neue"/>
              <a:ea typeface="Bebas Neue"/>
              <a:cs typeface="Bebas Neue"/>
              <a:sym typeface="Bebas Neue"/>
            </a:endParaRPr>
          </a:p>
        </p:txBody>
      </p:sp>
      <p:sp>
        <p:nvSpPr>
          <p:cNvPr id="168" name="Google Shape;168;p10"/>
          <p:cNvSpPr/>
          <p:nvPr/>
        </p:nvSpPr>
        <p:spPr>
          <a:xfrm>
            <a:off x="457200" y="4416585"/>
            <a:ext cx="8229600" cy="255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E8EEEA"/>
              </a:buClr>
              <a:buSzPts val="1300"/>
              <a:buFont typeface="Arial"/>
              <a:buNone/>
            </a:pPr>
            <a:r>
              <a:rPr lang="en-US" sz="2100">
                <a:solidFill>
                  <a:srgbClr val="E8EEEA"/>
                </a:solidFill>
                <a:latin typeface="Bebas Neue"/>
                <a:ea typeface="Bebas Neue"/>
                <a:cs typeface="Bebas Neue"/>
                <a:sym typeface="Bebas Neue"/>
              </a:rPr>
              <a:t>Columbia &gt; D1 &gt; Personal Trainers &gt; High School + Professional Sports + Private Coaching</a:t>
            </a:r>
            <a:endParaRPr sz="2100">
              <a:solidFill>
                <a:srgbClr val="E8EEEA"/>
              </a:solidFill>
              <a:latin typeface="Bebas Neue"/>
              <a:ea typeface="Bebas Neue"/>
              <a:cs typeface="Bebas Neue"/>
              <a:sym typeface="Bebas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173" name="Shape 173"/>
        <p:cNvGrpSpPr/>
        <p:nvPr/>
      </p:nvGrpSpPr>
      <p:grpSpPr>
        <a:xfrm>
          <a:off x="0" y="0"/>
          <a:ext cx="0" cy="0"/>
          <a:chOff x="0" y="0"/>
          <a:chExt cx="0" cy="0"/>
        </a:xfrm>
      </p:grpSpPr>
      <p:sp>
        <p:nvSpPr>
          <p:cNvPr id="174" name="Google Shape;174;p11"/>
          <p:cNvSpPr/>
          <p:nvPr/>
        </p:nvSpPr>
        <p:spPr>
          <a:xfrm>
            <a:off x="457200" y="201168"/>
            <a:ext cx="8229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900"/>
              <a:buFont typeface="Arial"/>
              <a:buNone/>
            </a:pPr>
            <a:r>
              <a:rPr b="1" i="0" lang="en-US" sz="900" u="none" cap="none" strike="noStrike">
                <a:solidFill>
                  <a:srgbClr val="C9F44E"/>
                </a:solidFill>
                <a:latin typeface="Arial"/>
                <a:ea typeface="Arial"/>
                <a:cs typeface="Arial"/>
                <a:sym typeface="Arial"/>
              </a:rPr>
              <a:t>MARKET SIZE</a:t>
            </a:r>
            <a:endParaRPr b="0" i="0" sz="900" u="none" cap="none" strike="noStrike">
              <a:solidFill>
                <a:schemeClr val="dk1"/>
              </a:solidFill>
              <a:latin typeface="Calibri"/>
              <a:ea typeface="Calibri"/>
              <a:cs typeface="Calibri"/>
              <a:sym typeface="Calibri"/>
            </a:endParaRPr>
          </a:p>
        </p:txBody>
      </p:sp>
      <p:sp>
        <p:nvSpPr>
          <p:cNvPr id="175" name="Google Shape;175;p11"/>
          <p:cNvSpPr/>
          <p:nvPr/>
        </p:nvSpPr>
        <p:spPr>
          <a:xfrm>
            <a:off x="457200" y="502920"/>
            <a:ext cx="8229600" cy="1188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4000"/>
              <a:buFont typeface="Bebas Neue"/>
              <a:buNone/>
            </a:pPr>
            <a:r>
              <a:rPr b="0" i="0" lang="en-US" sz="4000" u="none" cap="none" strike="noStrike">
                <a:solidFill>
                  <a:srgbClr val="FFFFFF"/>
                </a:solidFill>
                <a:latin typeface="Bebas Neue"/>
                <a:ea typeface="Bebas Neue"/>
                <a:cs typeface="Bebas Neue"/>
                <a:sym typeface="Bebas Neue"/>
              </a:rPr>
              <a:t>The market is anyone who coaches multiple athletes.</a:t>
            </a:r>
            <a:endParaRPr b="0" i="0" sz="4000" u="none" cap="none" strike="noStrike">
              <a:solidFill>
                <a:schemeClr val="dk1"/>
              </a:solidFill>
              <a:latin typeface="Calibri"/>
              <a:ea typeface="Calibri"/>
              <a:cs typeface="Calibri"/>
              <a:sym typeface="Calibri"/>
            </a:endParaRPr>
          </a:p>
        </p:txBody>
      </p:sp>
      <p:sp>
        <p:nvSpPr>
          <p:cNvPr id="176" name="Google Shape;176;p11"/>
          <p:cNvSpPr/>
          <p:nvPr/>
        </p:nvSpPr>
        <p:spPr>
          <a:xfrm>
            <a:off x="457200" y="1828800"/>
            <a:ext cx="8229600" cy="749808"/>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a:off x="594360" y="1920240"/>
            <a:ext cx="219456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Bebas Neue"/>
              <a:buNone/>
            </a:pPr>
            <a:r>
              <a:rPr b="0" i="0" lang="en-US" sz="1800" u="none" cap="none" strike="noStrike">
                <a:solidFill>
                  <a:srgbClr val="FFFFFF"/>
                </a:solidFill>
                <a:latin typeface="Bebas Neue"/>
                <a:ea typeface="Bebas Neue"/>
                <a:cs typeface="Bebas Neue"/>
                <a:sym typeface="Bebas Neue"/>
              </a:rPr>
              <a:t>NCAA D1 S&amp;C</a:t>
            </a:r>
            <a:endParaRPr b="0" i="0" sz="1800" u="none" cap="none" strike="noStrike">
              <a:solidFill>
                <a:schemeClr val="dk1"/>
              </a:solidFill>
              <a:latin typeface="Calibri"/>
              <a:ea typeface="Calibri"/>
              <a:cs typeface="Calibri"/>
              <a:sym typeface="Calibri"/>
            </a:endParaRPr>
          </a:p>
        </p:txBody>
      </p:sp>
      <p:sp>
        <p:nvSpPr>
          <p:cNvPr id="178" name="Google Shape;178;p11"/>
          <p:cNvSpPr/>
          <p:nvPr/>
        </p:nvSpPr>
        <p:spPr>
          <a:xfrm>
            <a:off x="2926080" y="1920240"/>
            <a:ext cx="402336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200"/>
              <a:buFont typeface="Arial"/>
              <a:buNone/>
            </a:pPr>
            <a:r>
              <a:rPr b="0" i="0" lang="en-US" sz="1200" u="none" cap="none" strike="noStrike">
                <a:solidFill>
                  <a:srgbClr val="7A8A7E"/>
                </a:solidFill>
                <a:latin typeface="Arial"/>
                <a:ea typeface="Arial"/>
                <a:cs typeface="Arial"/>
                <a:sym typeface="Arial"/>
              </a:rPr>
              <a:t>1,100 programs x 2 coaches x $200/mo</a:t>
            </a:r>
            <a:endParaRPr b="0" i="0" sz="1200" u="none" cap="none" strike="noStrike">
              <a:solidFill>
                <a:schemeClr val="dk1"/>
              </a:solidFill>
              <a:latin typeface="Calibri"/>
              <a:ea typeface="Calibri"/>
              <a:cs typeface="Calibri"/>
              <a:sym typeface="Calibri"/>
            </a:endParaRPr>
          </a:p>
        </p:txBody>
      </p:sp>
      <p:sp>
        <p:nvSpPr>
          <p:cNvPr id="179" name="Google Shape;179;p11"/>
          <p:cNvSpPr/>
          <p:nvPr/>
        </p:nvSpPr>
        <p:spPr>
          <a:xfrm>
            <a:off x="6949440" y="1920240"/>
            <a:ext cx="1554480" cy="53035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EEEA"/>
              </a:buClr>
              <a:buSzPts val="1800"/>
              <a:buFont typeface="Bebas Neue"/>
              <a:buNone/>
            </a:pPr>
            <a:r>
              <a:rPr b="0" i="0" lang="en-US" sz="1800" u="none" cap="none" strike="noStrike">
                <a:solidFill>
                  <a:srgbClr val="E8EEEA"/>
                </a:solidFill>
                <a:latin typeface="Bebas Neue"/>
                <a:ea typeface="Bebas Neue"/>
                <a:cs typeface="Bebas Neue"/>
                <a:sym typeface="Bebas Neue"/>
              </a:rPr>
              <a:t>$5.3M ARR</a:t>
            </a:r>
            <a:endParaRPr b="0" i="0" sz="1800" u="none" cap="none" strike="noStrike">
              <a:solidFill>
                <a:schemeClr val="dk1"/>
              </a:solidFill>
              <a:latin typeface="Calibri"/>
              <a:ea typeface="Calibri"/>
              <a:cs typeface="Calibri"/>
              <a:sym typeface="Calibri"/>
            </a:endParaRPr>
          </a:p>
        </p:txBody>
      </p:sp>
      <p:sp>
        <p:nvSpPr>
          <p:cNvPr id="180" name="Google Shape;180;p11"/>
          <p:cNvSpPr/>
          <p:nvPr/>
        </p:nvSpPr>
        <p:spPr>
          <a:xfrm>
            <a:off x="457200" y="2724912"/>
            <a:ext cx="8229600" cy="749808"/>
          </a:xfrm>
          <a:prstGeom prst="rect">
            <a:avLst/>
          </a:prstGeom>
          <a:solidFill>
            <a:srgbClr val="22282E"/>
          </a:solidFill>
          <a:ln cap="flat" cmpd="sng" w="12700">
            <a:solidFill>
              <a:srgbClr val="333A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a:off x="594360" y="2816352"/>
            <a:ext cx="219456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800"/>
              <a:buFont typeface="Bebas Neue"/>
              <a:buNone/>
            </a:pPr>
            <a:r>
              <a:rPr b="0" i="0" lang="en-US" sz="1800" u="none" cap="none" strike="noStrike">
                <a:solidFill>
                  <a:srgbClr val="FFFFFF"/>
                </a:solidFill>
                <a:latin typeface="Bebas Neue"/>
                <a:ea typeface="Bebas Neue"/>
                <a:cs typeface="Bebas Neue"/>
                <a:sym typeface="Bebas Neue"/>
              </a:rPr>
              <a:t>NCAA D2/D3 + High School</a:t>
            </a:r>
            <a:endParaRPr b="0" i="0" sz="1800" u="none" cap="none" strike="noStrike">
              <a:solidFill>
                <a:schemeClr val="dk1"/>
              </a:solidFill>
              <a:latin typeface="Calibri"/>
              <a:ea typeface="Calibri"/>
              <a:cs typeface="Calibri"/>
              <a:sym typeface="Calibri"/>
            </a:endParaRPr>
          </a:p>
        </p:txBody>
      </p:sp>
      <p:sp>
        <p:nvSpPr>
          <p:cNvPr id="182" name="Google Shape;182;p11"/>
          <p:cNvSpPr/>
          <p:nvPr/>
        </p:nvSpPr>
        <p:spPr>
          <a:xfrm>
            <a:off x="2926080" y="2816352"/>
            <a:ext cx="402336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200"/>
              <a:buFont typeface="Arial"/>
              <a:buNone/>
            </a:pPr>
            <a:r>
              <a:rPr b="0" i="0" lang="en-US" sz="1200" u="none" cap="none" strike="noStrike">
                <a:solidFill>
                  <a:srgbClr val="7A8A7E"/>
                </a:solidFill>
                <a:latin typeface="Arial"/>
                <a:ea typeface="Arial"/>
                <a:cs typeface="Arial"/>
                <a:sym typeface="Arial"/>
              </a:rPr>
              <a:t>+5,000 programs at lower price points</a:t>
            </a:r>
            <a:endParaRPr b="0" i="0" sz="1200" u="none" cap="none" strike="noStrike">
              <a:solidFill>
                <a:schemeClr val="dk1"/>
              </a:solidFill>
              <a:latin typeface="Calibri"/>
              <a:ea typeface="Calibri"/>
              <a:cs typeface="Calibri"/>
              <a:sym typeface="Calibri"/>
            </a:endParaRPr>
          </a:p>
        </p:txBody>
      </p:sp>
      <p:sp>
        <p:nvSpPr>
          <p:cNvPr id="183" name="Google Shape;183;p11"/>
          <p:cNvSpPr/>
          <p:nvPr/>
        </p:nvSpPr>
        <p:spPr>
          <a:xfrm>
            <a:off x="6949440" y="2816352"/>
            <a:ext cx="1554480" cy="53035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E8EEEA"/>
              </a:buClr>
              <a:buSzPts val="1800"/>
              <a:buFont typeface="Bebas Neue"/>
              <a:buNone/>
            </a:pPr>
            <a:r>
              <a:rPr b="0" i="0" lang="en-US" sz="1800" u="none" cap="none" strike="noStrike">
                <a:solidFill>
                  <a:srgbClr val="E8EEEA"/>
                </a:solidFill>
                <a:latin typeface="Bebas Neue"/>
                <a:ea typeface="Bebas Neue"/>
                <a:cs typeface="Bebas Neue"/>
                <a:sym typeface="Bebas Neue"/>
              </a:rPr>
              <a:t>$8M+ ARR</a:t>
            </a:r>
            <a:endParaRPr b="0" i="0" sz="1800" u="none" cap="none" strike="noStrike">
              <a:solidFill>
                <a:schemeClr val="dk1"/>
              </a:solidFill>
              <a:latin typeface="Calibri"/>
              <a:ea typeface="Calibri"/>
              <a:cs typeface="Calibri"/>
              <a:sym typeface="Calibri"/>
            </a:endParaRPr>
          </a:p>
        </p:txBody>
      </p:sp>
      <p:sp>
        <p:nvSpPr>
          <p:cNvPr id="184" name="Google Shape;184;p11"/>
          <p:cNvSpPr/>
          <p:nvPr/>
        </p:nvSpPr>
        <p:spPr>
          <a:xfrm>
            <a:off x="457200" y="3621024"/>
            <a:ext cx="8229600" cy="749808"/>
          </a:xfrm>
          <a:prstGeom prst="rect">
            <a:avLst/>
          </a:prstGeom>
          <a:solidFill>
            <a:srgbClr val="1E2D20"/>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1"/>
          <p:cNvSpPr/>
          <p:nvPr/>
        </p:nvSpPr>
        <p:spPr>
          <a:xfrm>
            <a:off x="594360" y="3712464"/>
            <a:ext cx="219456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9F44E"/>
              </a:buClr>
              <a:buSzPts val="1800"/>
              <a:buFont typeface="Bebas Neue"/>
              <a:buNone/>
            </a:pPr>
            <a:r>
              <a:rPr b="0" i="0" lang="en-US" sz="1800" u="none" cap="none" strike="noStrike">
                <a:solidFill>
                  <a:srgbClr val="C9F44E"/>
                </a:solidFill>
                <a:latin typeface="Bebas Neue"/>
                <a:ea typeface="Bebas Neue"/>
                <a:cs typeface="Bebas Neue"/>
                <a:sym typeface="Bebas Neue"/>
              </a:rPr>
              <a:t>Personal Trainers</a:t>
            </a:r>
            <a:endParaRPr b="0" i="0" sz="1800" u="none" cap="none" strike="noStrike">
              <a:solidFill>
                <a:schemeClr val="dk1"/>
              </a:solidFill>
              <a:latin typeface="Calibri"/>
              <a:ea typeface="Calibri"/>
              <a:cs typeface="Calibri"/>
              <a:sym typeface="Calibri"/>
            </a:endParaRPr>
          </a:p>
        </p:txBody>
      </p:sp>
      <p:sp>
        <p:nvSpPr>
          <p:cNvPr id="186" name="Google Shape;186;p11"/>
          <p:cNvSpPr/>
          <p:nvPr/>
        </p:nvSpPr>
        <p:spPr>
          <a:xfrm>
            <a:off x="2926080" y="3712464"/>
            <a:ext cx="4023360" cy="53035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200"/>
              <a:buFont typeface="Arial"/>
              <a:buNone/>
            </a:pPr>
            <a:r>
              <a:rPr b="0" i="0" lang="en-US" sz="1200" u="none" cap="none" strike="noStrike">
                <a:solidFill>
                  <a:srgbClr val="7A8A7E"/>
                </a:solidFill>
                <a:latin typeface="Arial"/>
                <a:ea typeface="Arial"/>
                <a:cs typeface="Arial"/>
                <a:sym typeface="Arial"/>
              </a:rPr>
              <a:t>340,000 certified PTs in the US (up 21.5% since 2012)</a:t>
            </a:r>
            <a:endParaRPr b="0" i="0" sz="1200" u="none" cap="none" strike="noStrike">
              <a:solidFill>
                <a:schemeClr val="dk1"/>
              </a:solidFill>
              <a:latin typeface="Calibri"/>
              <a:ea typeface="Calibri"/>
              <a:cs typeface="Calibri"/>
              <a:sym typeface="Calibri"/>
            </a:endParaRPr>
          </a:p>
        </p:txBody>
      </p:sp>
      <p:sp>
        <p:nvSpPr>
          <p:cNvPr id="187" name="Google Shape;187;p11"/>
          <p:cNvSpPr/>
          <p:nvPr/>
        </p:nvSpPr>
        <p:spPr>
          <a:xfrm>
            <a:off x="6949440" y="3712464"/>
            <a:ext cx="1554480" cy="530352"/>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C9F44E"/>
              </a:buClr>
              <a:buSzPts val="1800"/>
              <a:buFont typeface="Bebas Neue"/>
              <a:buNone/>
            </a:pPr>
            <a:r>
              <a:rPr b="0" i="0" lang="en-US" sz="1800" u="none" cap="none" strike="noStrike">
                <a:solidFill>
                  <a:srgbClr val="C9F44E"/>
                </a:solidFill>
                <a:latin typeface="Bebas Neue"/>
                <a:ea typeface="Bebas Neue"/>
                <a:cs typeface="Bebas Neue"/>
                <a:sym typeface="Bebas Neue"/>
              </a:rPr>
              <a:t>Massive</a:t>
            </a:r>
            <a:endParaRPr b="0" i="0" sz="1800" u="none" cap="none" strike="noStrike">
              <a:solidFill>
                <a:schemeClr val="dk1"/>
              </a:solidFill>
              <a:latin typeface="Calibri"/>
              <a:ea typeface="Calibri"/>
              <a:cs typeface="Calibri"/>
              <a:sym typeface="Calibri"/>
            </a:endParaRPr>
          </a:p>
        </p:txBody>
      </p:sp>
      <p:sp>
        <p:nvSpPr>
          <p:cNvPr id="188" name="Google Shape;188;p11"/>
          <p:cNvSpPr/>
          <p:nvPr/>
        </p:nvSpPr>
        <p:spPr>
          <a:xfrm>
            <a:off x="457200" y="4663440"/>
            <a:ext cx="8229600" cy="384048"/>
          </a:xfrm>
          <a:prstGeom prst="rect">
            <a:avLst/>
          </a:prstGeom>
          <a:solidFill>
            <a:srgbClr val="111518"/>
          </a:solidFill>
          <a:ln cap="flat" cmpd="sng" w="12700">
            <a:solidFill>
              <a:srgbClr val="11151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1"/>
          <p:cNvSpPr/>
          <p:nvPr/>
        </p:nvSpPr>
        <p:spPr>
          <a:xfrm>
            <a:off x="548640" y="4690872"/>
            <a:ext cx="8046720" cy="3200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A8A7E"/>
              </a:buClr>
              <a:buSzPts val="1000"/>
              <a:buFont typeface="Arial"/>
              <a:buNone/>
            </a:pPr>
            <a:r>
              <a:rPr b="0" i="1" lang="en-US" sz="1000" u="none" cap="none" strike="noStrike">
                <a:solidFill>
                  <a:srgbClr val="7A8A7E"/>
                </a:solidFill>
                <a:latin typeface="Arial"/>
                <a:ea typeface="Arial"/>
                <a:cs typeface="Arial"/>
                <a:sym typeface="Arial"/>
              </a:rPr>
              <a:t>US fitness industry: $32B market value  |  340K certified PTs  |  10% job growth projected  |  Bottom-up from BLS + NCAA data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E22"/>
        </a:solidFill>
      </p:bgPr>
    </p:bg>
    <p:spTree>
      <p:nvGrpSpPr>
        <p:cNvPr id="194" name="Shape 194"/>
        <p:cNvGrpSpPr/>
        <p:nvPr/>
      </p:nvGrpSpPr>
      <p:grpSpPr>
        <a:xfrm>
          <a:off x="0" y="0"/>
          <a:ext cx="0" cy="0"/>
          <a:chOff x="0" y="0"/>
          <a:chExt cx="0" cy="0"/>
        </a:xfrm>
      </p:grpSpPr>
      <p:sp>
        <p:nvSpPr>
          <p:cNvPr id="195" name="Google Shape;195;p12"/>
          <p:cNvSpPr/>
          <p:nvPr/>
        </p:nvSpPr>
        <p:spPr>
          <a:xfrm>
            <a:off x="457200" y="594360"/>
            <a:ext cx="8229600" cy="21031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8000"/>
              <a:buFont typeface="Bebas Neue"/>
              <a:buNone/>
            </a:pPr>
            <a:r>
              <a:rPr b="0" i="0" lang="en-US" sz="6900" u="none" cap="none" strike="noStrike">
                <a:solidFill>
                  <a:srgbClr val="FFFFFF"/>
                </a:solidFill>
                <a:latin typeface="Bebas Neue"/>
                <a:ea typeface="Bebas Neue"/>
                <a:cs typeface="Bebas Neue"/>
                <a:sym typeface="Bebas Neue"/>
              </a:rPr>
              <a:t>We're </a:t>
            </a:r>
            <a:r>
              <a:rPr lang="en-US" sz="6900">
                <a:solidFill>
                  <a:srgbClr val="FFFFFF"/>
                </a:solidFill>
                <a:latin typeface="Bebas Neue"/>
                <a:ea typeface="Bebas Neue"/>
                <a:cs typeface="Bebas Neue"/>
                <a:sym typeface="Bebas Neue"/>
              </a:rPr>
              <a:t>NOW </a:t>
            </a:r>
            <a:r>
              <a:rPr b="0" i="0" lang="en-US" sz="6900" u="none" cap="none" strike="noStrike">
                <a:solidFill>
                  <a:srgbClr val="FFFFFF"/>
                </a:solidFill>
                <a:latin typeface="Bebas Neue"/>
                <a:ea typeface="Bebas Neue"/>
                <a:cs typeface="Bebas Neue"/>
                <a:sym typeface="Bebas Neue"/>
              </a:rPr>
              <a:t>looking for</a:t>
            </a:r>
            <a:endParaRPr b="0" i="0" sz="6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8000"/>
              <a:buFont typeface="Bebas Neue"/>
              <a:buNone/>
            </a:pPr>
            <a:r>
              <a:rPr b="0" i="0" lang="en-US" sz="6900" u="none" cap="none" strike="noStrike">
                <a:solidFill>
                  <a:srgbClr val="FFFFFF"/>
                </a:solidFill>
                <a:latin typeface="Bebas Neue"/>
                <a:ea typeface="Bebas Neue"/>
                <a:cs typeface="Bebas Neue"/>
                <a:sym typeface="Bebas Neue"/>
              </a:rPr>
              <a:t>pilot partners.</a:t>
            </a:r>
            <a:endParaRPr b="0" i="0" sz="6900" u="none" cap="none" strike="noStrike">
              <a:solidFill>
                <a:schemeClr val="dk1"/>
              </a:solidFill>
              <a:latin typeface="Calibri"/>
              <a:ea typeface="Calibri"/>
              <a:cs typeface="Calibri"/>
              <a:sym typeface="Calibri"/>
            </a:endParaRPr>
          </a:p>
        </p:txBody>
      </p:sp>
      <p:sp>
        <p:nvSpPr>
          <p:cNvPr id="196" name="Google Shape;196;p12"/>
          <p:cNvSpPr/>
          <p:nvPr/>
        </p:nvSpPr>
        <p:spPr>
          <a:xfrm>
            <a:off x="457200" y="2788920"/>
            <a:ext cx="8229600" cy="54864"/>
          </a:xfrm>
          <a:prstGeom prst="rect">
            <a:avLst/>
          </a:prstGeom>
          <a:solidFill>
            <a:srgbClr val="C9F44E"/>
          </a:solidFill>
          <a:ln cap="flat" cmpd="sng" w="12700">
            <a:solidFill>
              <a:srgbClr val="C9F4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2"/>
          <p:cNvSpPr/>
          <p:nvPr/>
        </p:nvSpPr>
        <p:spPr>
          <a:xfrm>
            <a:off x="457200" y="2944368"/>
            <a:ext cx="8229600" cy="173736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E8EEEA"/>
              </a:buClr>
              <a:buSzPts val="1500"/>
              <a:buFont typeface="Arial"/>
              <a:buNone/>
            </a:pPr>
            <a:r>
              <a:rPr b="0" i="0" lang="en-US" sz="1500" u="none" cap="none" strike="noStrike">
                <a:solidFill>
                  <a:srgbClr val="E8EEEA"/>
                </a:solidFill>
                <a:latin typeface="Arial"/>
                <a:ea typeface="Arial"/>
                <a:cs typeface="Arial"/>
                <a:sym typeface="Arial"/>
              </a:rPr>
              <a:t>We want to put Freeweight in the hands of 10 more coaches this semester -- </a:t>
            </a:r>
            <a:r>
              <a:rPr b="0" i="0" lang="en-US" sz="1500" u="none" cap="none" strike="noStrike">
                <a:solidFill>
                  <a:srgbClr val="E8EEEA"/>
                </a:solidFill>
                <a:latin typeface="Arial"/>
                <a:ea typeface="Arial"/>
                <a:cs typeface="Arial"/>
                <a:sym typeface="Arial"/>
              </a:rPr>
              <a:t>college</a:t>
            </a:r>
            <a:r>
              <a:rPr b="0" i="0" lang="en-US" sz="1500" u="none" cap="none" strike="noStrike">
                <a:solidFill>
                  <a:srgbClr val="E8EEEA"/>
                </a:solidFill>
                <a:latin typeface="Arial"/>
                <a:ea typeface="Arial"/>
                <a:cs typeface="Arial"/>
                <a:sym typeface="Arial"/>
              </a:rPr>
              <a:t> S&amp;C, personal trainers, anyone managing a real program.</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EEA"/>
              </a:buClr>
              <a:buSzPts val="1500"/>
              <a:buFont typeface="Arial"/>
              <a:buNone/>
            </a:pPr>
            <a:r>
              <a:rPr b="0" i="0" lang="en-US" sz="1500" u="none" cap="none" strike="noStrike">
                <a:solidFill>
                  <a:srgbClr val="E8EEEA"/>
                </a:solidFill>
                <a:latin typeface="Arial"/>
                <a:ea typeface="Arial"/>
                <a:cs typeface="Arial"/>
                <a:sym typeface="Arial"/>
              </a:rPr>
              <a:t>If you coach, know a coach, or can open a door -- that is the ask.</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EEA"/>
              </a:buClr>
              <a:buSzPts val="1500"/>
              <a:buFont typeface="Arial"/>
              <a:buNone/>
            </a:pPr>
            <a:r>
              <a:rPr b="0" i="0" lang="en-US" sz="1500" u="none" cap="none" strike="noStrike">
                <a:solidFill>
                  <a:srgbClr val="E8EEEA"/>
                </a:solidFill>
                <a:latin typeface="Arial"/>
                <a:ea typeface="Arial"/>
                <a:cs typeface="Arial"/>
                <a:sym typeface="Arial"/>
              </a:rPr>
              <a:t>The product is built. We just need the rooms.</a:t>
            </a:r>
            <a:endParaRPr b="0" i="0" sz="1500" u="none" cap="none" strike="noStrike">
              <a:solidFill>
                <a:schemeClr val="dk1"/>
              </a:solidFill>
              <a:latin typeface="Calibri"/>
              <a:ea typeface="Calibri"/>
              <a:cs typeface="Calibri"/>
              <a:sym typeface="Calibri"/>
            </a:endParaRPr>
          </a:p>
        </p:txBody>
      </p:sp>
      <p:sp>
        <p:nvSpPr>
          <p:cNvPr id="198" name="Google Shape;198;p12"/>
          <p:cNvSpPr/>
          <p:nvPr/>
        </p:nvSpPr>
        <p:spPr>
          <a:xfrm>
            <a:off x="457200" y="477316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8A7E"/>
              </a:buClr>
              <a:buSzPts val="1000"/>
              <a:buFont typeface="Arial"/>
              <a:buNone/>
            </a:pPr>
            <a:r>
              <a:rPr b="0" i="0" lang="en-US" sz="1000" u="none" cap="none" strike="noStrike">
                <a:solidFill>
                  <a:srgbClr val="7A8A7E"/>
                </a:solidFill>
                <a:latin typeface="Arial"/>
                <a:ea typeface="Arial"/>
                <a:cs typeface="Arial"/>
                <a:sym typeface="Arial"/>
              </a:rPr>
              <a:t>Andrea Vergara  |  Nitin Rao  |  Arin Jaff  |  Jaclyn Zatsiorsky</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2026-04-25T17:53:05Z</dcterms:created>
  <dc:creator>PptxGenJS</dc:creator>
</cp:coreProperties>
</file>